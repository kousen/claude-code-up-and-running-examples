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open. Terminal already open. Type orclaude z-ai/glm-5.2 and let Claude Code boot on a non-Anthropic model. 'This is Claude Code. The model answering me is not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honest reasons: cost, curiosity about strong open models, and not being locked to one vendor. The harness and the model are two separate things you can mix and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not going to tell you which model is best. No benchmarks for your code on your machine. The point is optionality, not a leaderboard.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Now the teachable core: how Claude Code can be pointed at another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reads three env vars: a base URL, an auth token, and a model. OpenRouter publishes an Anthropic-compatible endpoint. Point the base URL there, hand it an OpenRouter key, set the model. The harness has no idea anything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scripts/orclaude. Set the base URL to OpenRouter, the auth token to your OpenRouter key, then pass the slug straight through as --model. Why the flag? If you've ever picked a model with /model, settings.json pins it and the env vars alone get silently ignored - I got burned by this. The flag outranks the settings file; same mechanism ollama launch claude uses. The tier variables catch sub-agents. Prove it with scripts/orclaude-smoke: it checks which model the request was billed against. Don't ask the model its name - DeepSeek answered "Hello! I'm Claude Code." Note: slugs drift; check OpenRouter for current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you'd rather not keep a wrapper script on your PATH, Claude Code reads the same settings from a JSON file. Put an env block in .claude/settings.local.json with the same three variables. The .local file is git-ignored by default, so your OpenRouter key never lands in version control. Same effect as the script, just persistent and per-project instead of per-invocation. Use whichever fits your workflow; the book covers both, and a ready-to-copy template ships in the example repo as scripts/settings.local.json.example.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To keep it fair, every model gets the exact same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prompt I paste each time: implement parseDuration so 1h30m or 45s becomes total seconds, write a couple of tests, run them. Read file, write code, run tests, react to output. That's what separates chatting about code from operating an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Run the task through each model. Explicit models first to anchor the viewer, then the routers, with free as the finale.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running order. Explicit models GLM, DeepSeek, Kimi, then Claude full-circle, then routers auto and free. For each, watch three things only: did it finish, how clean was the tool use, rough speed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1, GLM. One I reach for a lot. Same task, here we go. Comment on completion and tool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2, DeepSeek flash. Built to be fast and cheap; the kind of model you'd leave running on routine edits. Comment on speed especially.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3, latest Kimi. Confirm exact slug on OpenRouter on record day. Kimi's models are tuned for coding work, so I'm curious how its tool use compares.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4, the full-circle. Route Claude itself back through the same script, through OpenRouter. The harness genuinely does not care who's behind the curtain. Keep it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video turns. Slow down. So far I've been naming the model every time. OpenRouter has routers, where it picks the model for you. Watch what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Router auto. Analyzes the prompt and chooses a model for me; I pick nothing. Run the task. Then the quirk: Claude Code won't tell you which model it picked.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quirk worth pausing on. I asked OpenRouter to pick the model but Claude Code won't tell me which one. The answer exists: the API response includes the model field. The terminal just doesn't show it. Look in the OpenRouter Activity dashboard. The harness hides it; the API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finale. The free router. Same idea as auto, restricted to free models, so the whole task runs for zero dollars. Same opacity; the dashboard tells you what actually ran. You trade speed or rate limits, but driving a real coding agent for nothing still gets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router flavor worth knowing, and it's the opposite of the mystery. The latest-model router uses a tilde prefix: tilde anthropic slash claude-opus-latest. You name the family; OpenRouter always resolves it to the newest concrete version in that family. So you never pin a stale version, and you never edit a slug when a new release drops. Unlike auto and free, this one isn't a mystery: the API response names the exact concrete model it resolved to. Claude Code's terminal still won't print it, but the activity dashboard will, and it's predictable by design. Good default for staying current without chasing version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The honest verdict: where it's seamless, where it gets weird.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every model spoke the protocol well enough to run inside Claude Code. The harness came from Claude Code, not the model. Where they differed was tool use: coding-tuned and bigger models drove the tools cleanly; cheaper and free ones wobbled. No ranking; the right answer depends on your code, budget, and patience.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ties into my book, Claude Code: Up and Running, from O'Reilly. The OpenRouter material lands in Chapter 11, coming to the early release a bit later. The orclaude script is in the book's example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Grab the script, point it at whatever model you're curious about, tell me in the comments which one surprised you. Companion video: running these same models from Spring AI 2.0 in Java, where you can get the router to tell you which model it picked. Subscribe.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4"/>
        </a:solidFill>
      </p:bgPr>
    </p:bg>
    <p:spTree>
      <p:nvGrpSpPr>
        <p:cNvPr id="1" name=""/>
        <p:cNvGrpSpPr/>
        <p:nvPr/>
      </p:nvGrpSpPr>
      <p:grpSpPr>
        <a:xfrm>
          <a:off x="0" y="0"/>
          <a:ext cx="0" cy="0"/>
          <a:chOff x="0" y="0"/>
          <a:chExt cx="0" cy="0"/>
        </a:xfrm>
      </p:grpSpPr>
      <p:sp>
        <p:nvSpPr>
          <p:cNvPr id="2" name="Shape 0"/>
          <p:cNvSpPr/>
          <p:nvPr/>
        </p:nvSpPr>
        <p:spPr>
          <a:xfrm>
            <a:off x="1047750" y="3075781"/>
            <a:ext cx="323825" cy="28525"/>
          </a:xfrm>
          <a:prstGeom prst="rect">
            <a:avLst/>
          </a:prstGeom>
          <a:solidFill>
            <a:srgbClr val="4FB0CE"/>
          </a:solidFill>
          <a:ln/>
        </p:spPr>
      </p:sp>
      <p:sp>
        <p:nvSpPr>
          <p:cNvPr id="3" name="Text 1"/>
          <p:cNvSpPr/>
          <p:nvPr/>
        </p:nvSpPr>
        <p:spPr>
          <a:xfrm>
            <a:off x="1504900" y="2927325"/>
            <a:ext cx="4761942" cy="363537"/>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6AAEC3"/>
                </a:solidFill>
                <a:latin typeface="Courier New" pitchFamily="34" charset="0"/>
                <a:ea typeface="Courier New" pitchFamily="34" charset="-122"/>
                <a:cs typeface="Courier New" pitchFamily="34" charset="-120"/>
              </a:rPr>
              <a:t>TALES FROM THE JAR SIDE</a:t>
            </a:r>
            <a:endParaRPr lang="en-US" sz="1950" dirty="0"/>
          </a:p>
        </p:txBody>
      </p:sp>
      <p:sp>
        <p:nvSpPr>
          <p:cNvPr id="4" name="Text 2"/>
          <p:cNvSpPr/>
          <p:nvPr/>
        </p:nvSpPr>
        <p:spPr>
          <a:xfrm>
            <a:off x="1047750" y="3576588"/>
            <a:ext cx="9418320" cy="2552551"/>
          </a:xfrm>
          <a:prstGeom prst="rect">
            <a:avLst/>
          </a:prstGeom>
          <a:noFill/>
          <a:ln/>
        </p:spPr>
        <p:txBody>
          <a:bodyPr wrap="square" lIns="25400" tIns="25400" rIns="25400" bIns="25400" rtlCol="0" anchor="t">
            <a:normAutofit/>
          </a:bodyPr>
          <a:lstStyle/>
          <a:p>
            <a:pPr algn="l" indent="0" marL="0">
              <a:lnSpc>
                <a:spcPct val="100000"/>
              </a:lnSpc>
              <a:buNone/>
            </a:pPr>
            <a:r>
              <a:rPr lang="en-US" sz="6600" b="1" spc="-231" kern="0" dirty="0">
                <a:solidFill>
                  <a:srgbClr val="FFFFFF"/>
                </a:solidFill>
                <a:latin typeface="Arial" pitchFamily="34" charset="0"/>
                <a:ea typeface="Arial" pitchFamily="34" charset="-122"/>
                <a:cs typeface="Arial" pitchFamily="34" charset="-120"/>
              </a:rPr>
              <a:t xml:space="preserve">One bash script runs </a:t>
            </a:r>
            <a:pPr algn="l" indent="0" marL="0">
              <a:lnSpc>
                <a:spcPct val="100000"/>
              </a:lnSpc>
              <a:buNone/>
            </a:pPr>
            <a:r>
              <a:rPr lang="en-US" sz="6600" b="1" spc="-231" kern="0" dirty="0">
                <a:solidFill>
                  <a:srgbClr val="4FB0CE"/>
                </a:solidFill>
                <a:latin typeface="Arial" pitchFamily="34" charset="0"/>
                <a:ea typeface="Arial" pitchFamily="34" charset="-122"/>
                <a:cs typeface="Arial" pitchFamily="34" charset="-120"/>
              </a:rPr>
              <a:t xml:space="preserve">Claude Code </a:t>
            </a:r>
            <a:pPr algn="l" indent="0" marL="0">
              <a:lnSpc>
                <a:spcPct val="100000"/>
              </a:lnSpc>
              <a:buNone/>
            </a:pPr>
            <a:r>
              <a:rPr lang="en-US" sz="6600" b="1" spc="-231" kern="0" dirty="0">
                <a:solidFill>
                  <a:srgbClr val="FFFFFF"/>
                </a:solidFill>
                <a:latin typeface="Arial" pitchFamily="34" charset="0"/>
                <a:ea typeface="Arial" pitchFamily="34" charset="-122"/>
                <a:cs typeface="Arial" pitchFamily="34" charset="-120"/>
              </a:rPr>
              <a:t>on any OpenRouter model</a:t>
            </a:r>
            <a:endParaRPr lang="en-US" sz="6600" dirty="0"/>
          </a:p>
        </p:txBody>
      </p:sp>
      <p:sp>
        <p:nvSpPr>
          <p:cNvPr id="5" name="Text 3"/>
          <p:cNvSpPr/>
          <p:nvPr/>
        </p:nvSpPr>
        <p:spPr>
          <a:xfrm>
            <a:off x="1047750" y="6452939"/>
            <a:ext cx="7456170" cy="944711"/>
          </a:xfrm>
          <a:prstGeom prst="rect">
            <a:avLst/>
          </a:prstGeom>
          <a:noFill/>
          <a:ln/>
        </p:spPr>
        <p:txBody>
          <a:bodyPr wrap="square" lIns="25400" tIns="25400" rIns="25400" bIns="25400" rtlCol="0" anchor="t">
            <a:normAutofit/>
          </a:bodyPr>
          <a:lstStyle/>
          <a:p>
            <a:pPr algn="l" indent="0" marL="0">
              <a:lnSpc>
                <a:spcPct val="140000"/>
              </a:lnSpc>
              <a:buNone/>
            </a:pPr>
            <a:r>
              <a:rPr lang="en-US" sz="2550" dirty="0">
                <a:solidFill>
                  <a:srgbClr val="AEB5BB"/>
                </a:solidFill>
                <a:latin typeface="Arial" pitchFamily="34" charset="0"/>
                <a:ea typeface="Arial" pitchFamily="34" charset="-122"/>
                <a:cs typeface="Arial" pitchFamily="34" charset="-120"/>
              </a:rPr>
              <a:t>Same harness. Same keybindings. Same agent loop — a completely different brain behind it.</a:t>
            </a:r>
            <a:endParaRPr lang="en-US" sz="2550" dirty="0"/>
          </a:p>
        </p:txBody>
      </p:sp>
      <p:sp>
        <p:nvSpPr>
          <p:cNvPr id="6" name="Shape 4"/>
          <p:cNvSpPr/>
          <p:nvPr/>
        </p:nvSpPr>
        <p:spPr>
          <a:xfrm>
            <a:off x="11049000" y="0"/>
            <a:ext cx="7239000" cy="10287000"/>
          </a:xfrm>
          <a:prstGeom prst="rect">
            <a:avLst/>
          </a:prstGeom>
          <a:solidFill>
            <a:srgbClr val="11161A"/>
          </a:solidFill>
          <a:ln/>
        </p:spPr>
      </p:sp>
      <p:sp>
        <p:nvSpPr>
          <p:cNvPr id="7" name="Shape 5"/>
          <p:cNvSpPr/>
          <p:nvPr/>
        </p:nvSpPr>
        <p:spPr>
          <a:xfrm>
            <a:off x="11049000" y="0"/>
            <a:ext cx="9525" cy="10287000"/>
          </a:xfrm>
          <a:prstGeom prst="rect">
            <a:avLst/>
          </a:prstGeom>
          <a:solidFill>
            <a:srgbClr val="242A30"/>
          </a:solidFill>
          <a:ln/>
        </p:spPr>
      </p:sp>
      <p:sp>
        <p:nvSpPr>
          <p:cNvPr id="8" name="Shape 6"/>
          <p:cNvSpPr/>
          <p:nvPr/>
        </p:nvSpPr>
        <p:spPr>
          <a:xfrm>
            <a:off x="11723687" y="2805658"/>
            <a:ext cx="5897562" cy="3754809"/>
          </a:xfrm>
          <a:prstGeom prst="roundRect">
            <a:avLst>
              <a:gd name="adj" fmla="val 3044"/>
            </a:avLst>
          </a:prstGeom>
          <a:solidFill>
            <a:srgbClr val="15191D"/>
          </a:solidFill>
          <a:ln w="7937">
            <a:solidFill>
              <a:srgbClr val="2A3036"/>
            </a:solidFill>
            <a:prstDash val="solid"/>
          </a:ln>
          <a:effectLst>
            <a:outerShdw sx="100000" sy="100000" kx="0" ky="0" algn="bl" rotWithShape="0" blurRad="666750" dist="285750" dir="5400000">
              <a:srgbClr val="000000">
                <a:alpha val="50000"/>
              </a:srgbClr>
            </a:outerShdw>
          </a:effectLst>
        </p:spPr>
      </p:sp>
      <p:sp>
        <p:nvSpPr>
          <p:cNvPr id="9" name="Shape 7"/>
          <p:cNvSpPr/>
          <p:nvPr/>
        </p:nvSpPr>
        <p:spPr>
          <a:xfrm>
            <a:off x="11731625" y="2813596"/>
            <a:ext cx="5881688" cy="545951"/>
          </a:xfrm>
          <a:prstGeom prst="rect">
            <a:avLst/>
          </a:prstGeom>
          <a:solidFill>
            <a:srgbClr val="1B2025"/>
          </a:solidFill>
          <a:ln/>
        </p:spPr>
      </p:sp>
      <p:sp>
        <p:nvSpPr>
          <p:cNvPr id="10" name="Shape 8"/>
          <p:cNvSpPr/>
          <p:nvPr/>
        </p:nvSpPr>
        <p:spPr>
          <a:xfrm>
            <a:off x="11731625" y="3351609"/>
            <a:ext cx="5881688" cy="9525"/>
          </a:xfrm>
          <a:prstGeom prst="rect">
            <a:avLst/>
          </a:prstGeom>
          <a:solidFill>
            <a:srgbClr val="2A3036"/>
          </a:solidFill>
          <a:ln/>
        </p:spPr>
      </p:sp>
      <p:sp>
        <p:nvSpPr>
          <p:cNvPr id="11" name="Shape 9"/>
          <p:cNvSpPr/>
          <p:nvPr/>
        </p:nvSpPr>
        <p:spPr>
          <a:xfrm>
            <a:off x="11941100" y="3015878"/>
            <a:ext cx="133325" cy="133325"/>
          </a:xfrm>
          <a:prstGeom prst="ellipse">
            <a:avLst/>
          </a:prstGeom>
          <a:solidFill>
            <a:srgbClr val="ED6A5E"/>
          </a:solidFill>
          <a:ln/>
        </p:spPr>
      </p:sp>
      <p:sp>
        <p:nvSpPr>
          <p:cNvPr id="12" name="Shape 10"/>
          <p:cNvSpPr/>
          <p:nvPr/>
        </p:nvSpPr>
        <p:spPr>
          <a:xfrm>
            <a:off x="12160125" y="3015878"/>
            <a:ext cx="133325" cy="133325"/>
          </a:xfrm>
          <a:prstGeom prst="ellipse">
            <a:avLst/>
          </a:prstGeom>
          <a:solidFill>
            <a:srgbClr val="F4BF4F"/>
          </a:solidFill>
          <a:ln/>
        </p:spPr>
      </p:sp>
      <p:sp>
        <p:nvSpPr>
          <p:cNvPr id="13" name="Shape 11"/>
          <p:cNvSpPr/>
          <p:nvPr/>
        </p:nvSpPr>
        <p:spPr>
          <a:xfrm>
            <a:off x="12379151" y="3015878"/>
            <a:ext cx="133325" cy="133325"/>
          </a:xfrm>
          <a:prstGeom prst="ellipse">
            <a:avLst/>
          </a:prstGeom>
          <a:solidFill>
            <a:srgbClr val="61C554"/>
          </a:solidFill>
          <a:ln/>
        </p:spPr>
      </p:sp>
      <p:sp>
        <p:nvSpPr>
          <p:cNvPr id="14" name="Text 12"/>
          <p:cNvSpPr/>
          <p:nvPr/>
        </p:nvSpPr>
        <p:spPr>
          <a:xfrm>
            <a:off x="12712402" y="2975446"/>
            <a:ext cx="1496318" cy="252413"/>
          </a:xfrm>
          <a:prstGeom prst="rect">
            <a:avLst/>
          </a:prstGeom>
          <a:noFill/>
          <a:ln/>
        </p:spPr>
        <p:txBody>
          <a:bodyPr wrap="square" lIns="25400" tIns="25400" rIns="25400" bIns="25400" rtlCol="0" anchor="t">
            <a:normAutofit/>
          </a:bodyPr>
          <a:lstStyle/>
          <a:p>
            <a:pPr algn="l" indent="0" marL="0">
              <a:buNone/>
            </a:pPr>
            <a:r>
              <a:rPr lang="en-US" sz="1275" dirty="0">
                <a:solidFill>
                  <a:srgbClr val="7E868C"/>
                </a:solidFill>
                <a:latin typeface="Courier New" pitchFamily="34" charset="0"/>
                <a:ea typeface="Courier New" pitchFamily="34" charset="-122"/>
                <a:cs typeface="Courier New" pitchFamily="34" charset="-120"/>
              </a:rPr>
              <a:t>zsh — orclaude</a:t>
            </a:r>
            <a:endParaRPr lang="en-US" sz="1275" dirty="0"/>
          </a:p>
        </p:txBody>
      </p:sp>
      <p:sp>
        <p:nvSpPr>
          <p:cNvPr id="15" name="Text 13"/>
          <p:cNvSpPr/>
          <p:nvPr/>
        </p:nvSpPr>
        <p:spPr>
          <a:xfrm>
            <a:off x="12055450" y="3664272"/>
            <a:ext cx="5391058" cy="478631"/>
          </a:xfrm>
          <a:prstGeom prst="rect">
            <a:avLst/>
          </a:prstGeom>
          <a:noFill/>
          <a:ln/>
        </p:spPr>
        <p:txBody>
          <a:bodyPr wrap="square" lIns="25400" tIns="25400" rIns="25400" bIns="25400" rtlCol="0" anchor="t">
            <a:normAutofit/>
          </a:bodyPr>
          <a:lstStyle/>
          <a:p>
            <a:pPr algn="l" indent="0" marL="0">
              <a:lnSpc>
                <a:spcPct val="185000"/>
              </a:lnSpc>
              <a:buNone/>
            </a:pPr>
            <a:r>
              <a:rPr lang="en-US" sz="1875" dirty="0">
                <a:solidFill>
                  <a:srgbClr val="4FB0CE"/>
                </a:solidFill>
                <a:latin typeface="Courier New" pitchFamily="34" charset="0"/>
                <a:ea typeface="Courier New" pitchFamily="34" charset="-122"/>
                <a:cs typeface="Courier New" pitchFamily="34" charset="-120"/>
              </a:rPr>
              <a:t xml:space="preserve">❯ </a:t>
            </a:r>
            <a:pPr algn="l" indent="0" marL="0">
              <a:lnSpc>
                <a:spcPct val="185000"/>
              </a:lnSpc>
              <a:buNone/>
            </a:pPr>
            <a:r>
              <a:rPr lang="en-US" sz="1875" dirty="0">
                <a:solidFill>
                  <a:srgbClr val="E8ECEF"/>
                </a:solidFill>
                <a:latin typeface="Courier New" pitchFamily="34" charset="0"/>
                <a:ea typeface="Courier New" pitchFamily="34" charset="-122"/>
                <a:cs typeface="Courier New" pitchFamily="34" charset="-120"/>
              </a:rPr>
              <a:t>orclaude z-ai/glm-5.2</a:t>
            </a:r>
            <a:endParaRPr lang="en-US" sz="1875" dirty="0"/>
          </a:p>
        </p:txBody>
      </p:sp>
      <p:sp>
        <p:nvSpPr>
          <p:cNvPr id="16" name="Text 14"/>
          <p:cNvSpPr/>
          <p:nvPr/>
        </p:nvSpPr>
        <p:spPr>
          <a:xfrm>
            <a:off x="12055450" y="4276204"/>
            <a:ext cx="5391058" cy="478631"/>
          </a:xfrm>
          <a:prstGeom prst="rect">
            <a:avLst/>
          </a:prstGeom>
          <a:noFill/>
          <a:ln/>
        </p:spPr>
        <p:txBody>
          <a:bodyPr wrap="square" lIns="25400" tIns="25400" rIns="25400" bIns="25400" rtlCol="0" anchor="t">
            <a:normAutofit/>
          </a:bodyPr>
          <a:lstStyle/>
          <a:p>
            <a:pPr algn="l" indent="0" marL="0">
              <a:lnSpc>
                <a:spcPct val="185000"/>
              </a:lnSpc>
              <a:buNone/>
            </a:pPr>
            <a:r>
              <a:rPr lang="en-US" sz="1875" dirty="0">
                <a:solidFill>
                  <a:srgbClr val="61C554"/>
                </a:solidFill>
                <a:latin typeface="Courier New" pitchFamily="34" charset="0"/>
                <a:ea typeface="Courier New" pitchFamily="34" charset="-122"/>
                <a:cs typeface="Courier New" pitchFamily="34" charset="-120"/>
              </a:rPr>
              <a:t>✓ Claude Code ready</a:t>
            </a:r>
            <a:endParaRPr lang="en-US" sz="1875" dirty="0"/>
          </a:p>
        </p:txBody>
      </p:sp>
      <p:sp>
        <p:nvSpPr>
          <p:cNvPr id="17" name="Text 15"/>
          <p:cNvSpPr/>
          <p:nvPr/>
        </p:nvSpPr>
        <p:spPr>
          <a:xfrm>
            <a:off x="12055450" y="4754810"/>
            <a:ext cx="5391058" cy="478631"/>
          </a:xfrm>
          <a:prstGeom prst="rect">
            <a:avLst/>
          </a:prstGeom>
          <a:noFill/>
          <a:ln/>
        </p:spPr>
        <p:txBody>
          <a:bodyPr wrap="square" lIns="25400" tIns="25400" rIns="25400" bIns="25400" rtlCol="0" anchor="t">
            <a:normAutofit/>
          </a:bodyPr>
          <a:lstStyle/>
          <a:p>
            <a:pPr algn="l" indent="0" marL="0">
              <a:lnSpc>
                <a:spcPct val="185000"/>
              </a:lnSpc>
              <a:buNone/>
            </a:pPr>
            <a:r>
              <a:rPr lang="en-US" sz="1875" dirty="0">
                <a:solidFill>
                  <a:srgbClr val="7E868C"/>
                </a:solidFill>
                <a:latin typeface="Courier New" pitchFamily="34" charset="0"/>
                <a:ea typeface="Courier New" pitchFamily="34" charset="-122"/>
                <a:cs typeface="Courier New" pitchFamily="34" charset="-120"/>
              </a:rPr>
              <a:t>model z-ai/glm-5.2</a:t>
            </a:r>
            <a:endParaRPr lang="en-US" sz="1875" dirty="0"/>
          </a:p>
        </p:txBody>
      </p:sp>
      <p:sp>
        <p:nvSpPr>
          <p:cNvPr id="18" name="Text 16"/>
          <p:cNvSpPr/>
          <p:nvPr/>
        </p:nvSpPr>
        <p:spPr>
          <a:xfrm>
            <a:off x="12055450" y="5195342"/>
            <a:ext cx="5391058" cy="478631"/>
          </a:xfrm>
          <a:prstGeom prst="rect">
            <a:avLst/>
          </a:prstGeom>
          <a:noFill/>
          <a:ln/>
        </p:spPr>
        <p:txBody>
          <a:bodyPr wrap="square" lIns="25400" tIns="25400" rIns="25400" bIns="25400" rtlCol="0" anchor="t">
            <a:normAutofit/>
          </a:bodyPr>
          <a:lstStyle/>
          <a:p>
            <a:pPr algn="l" indent="0" marL="0">
              <a:lnSpc>
                <a:spcPct val="185000"/>
              </a:lnSpc>
              <a:buNone/>
            </a:pPr>
            <a:r>
              <a:rPr lang="en-US" sz="1875" dirty="0">
                <a:solidFill>
                  <a:srgbClr val="7E868C"/>
                </a:solidFill>
                <a:latin typeface="Courier New" pitchFamily="34" charset="0"/>
                <a:ea typeface="Courier New" pitchFamily="34" charset="-122"/>
                <a:cs typeface="Courier New" pitchFamily="34" charset="-120"/>
              </a:rPr>
              <a:t>route via OpenRouter</a:t>
            </a:r>
            <a:endParaRPr lang="en-US" sz="1875" dirty="0"/>
          </a:p>
        </p:txBody>
      </p:sp>
      <p:sp>
        <p:nvSpPr>
          <p:cNvPr id="19" name="Text 17"/>
          <p:cNvSpPr/>
          <p:nvPr/>
        </p:nvSpPr>
        <p:spPr>
          <a:xfrm>
            <a:off x="12055450" y="5862836"/>
            <a:ext cx="219571" cy="355600"/>
          </a:xfrm>
          <a:prstGeom prst="rect">
            <a:avLst/>
          </a:prstGeom>
          <a:noFill/>
          <a:ln/>
        </p:spPr>
        <p:txBody>
          <a:bodyPr wrap="square" lIns="25400" tIns="25400" rIns="25400" bIns="25400" rtlCol="0" anchor="t">
            <a:normAutofit/>
          </a:bodyPr>
          <a:lstStyle/>
          <a:p>
            <a:pPr algn="l" indent="0" marL="0">
              <a:lnSpc>
                <a:spcPct val="185000"/>
              </a:lnSpc>
              <a:buNone/>
            </a:pPr>
            <a:r>
              <a:rPr lang="en-US" sz="1875" dirty="0">
                <a:solidFill>
                  <a:srgbClr val="4FB0CE"/>
                </a:solidFill>
                <a:latin typeface="Courier New" pitchFamily="34" charset="0"/>
                <a:ea typeface="Courier New" pitchFamily="34" charset="-122"/>
                <a:cs typeface="Courier New" pitchFamily="34" charset="-120"/>
              </a:rPr>
              <a:t>❯</a:t>
            </a:r>
            <a:endParaRPr lang="en-US" sz="1875" dirty="0"/>
          </a:p>
        </p:txBody>
      </p:sp>
      <p:sp>
        <p:nvSpPr>
          <p:cNvPr id="20" name="Shape 18"/>
          <p:cNvSpPr/>
          <p:nvPr/>
        </p:nvSpPr>
        <p:spPr>
          <a:xfrm>
            <a:off x="12341696" y="5899422"/>
            <a:ext cx="123775" cy="247551"/>
          </a:xfrm>
          <a:prstGeom prst="rect">
            <a:avLst/>
          </a:prstGeom>
          <a:solidFill>
            <a:srgbClr val="4FB0CE"/>
          </a:solidFill>
          <a:ln/>
        </p:spPr>
      </p:sp>
      <p:sp>
        <p:nvSpPr>
          <p:cNvPr id="21" name="Text 19"/>
          <p:cNvSpPr/>
          <p:nvPr/>
        </p:nvSpPr>
        <p:spPr>
          <a:xfrm>
            <a:off x="11761762" y="6846218"/>
            <a:ext cx="5996054" cy="673100"/>
          </a:xfrm>
          <a:prstGeom prst="rect">
            <a:avLst/>
          </a:prstGeom>
          <a:noFill/>
          <a:ln/>
        </p:spPr>
        <p:txBody>
          <a:bodyPr wrap="square" lIns="25400" tIns="25400" rIns="25400" bIns="25400" rtlCol="0" anchor="t">
            <a:normAutofit/>
          </a:bodyPr>
          <a:lstStyle/>
          <a:p>
            <a:pPr algn="l" indent="0" marL="0">
              <a:buNone/>
            </a:pPr>
            <a:r>
              <a:rPr lang="en-US" sz="1875" spc="19" kern="0" dirty="0">
                <a:solidFill>
                  <a:srgbClr val="9AA1A7"/>
                </a:solidFill>
                <a:latin typeface="Courier New" pitchFamily="34" charset="0"/>
                <a:ea typeface="Courier New" pitchFamily="34" charset="-122"/>
                <a:cs typeface="Courier New" pitchFamily="34" charset="-120"/>
              </a:rPr>
              <a:t xml:space="preserve">That’s Claude Code. </a:t>
            </a:r>
            <a:pPr algn="l" indent="0" marL="0">
              <a:buNone/>
            </a:pPr>
            <a:r>
              <a:rPr lang="en-US" sz="1875" spc="19" kern="0" dirty="0">
                <a:solidFill>
                  <a:srgbClr val="C98A6A"/>
                </a:solidFill>
                <a:latin typeface="Courier New" pitchFamily="34" charset="0"/>
                <a:ea typeface="Courier New" pitchFamily="34" charset="-122"/>
                <a:cs typeface="Courier New" pitchFamily="34" charset="-120"/>
              </a:rPr>
              <a:t xml:space="preserve">Not </a:t>
            </a:r>
            <a:pPr algn="l" indent="0" marL="0">
              <a:buNone/>
            </a:pPr>
            <a:r>
              <a:rPr lang="en-US" sz="1875" spc="19" kern="0" dirty="0">
                <a:solidFill>
                  <a:srgbClr val="9AA1A7"/>
                </a:solidFill>
                <a:latin typeface="Courier New" pitchFamily="34" charset="0"/>
                <a:ea typeface="Courier New" pitchFamily="34" charset="-122"/>
                <a:cs typeface="Courier New" pitchFamily="34" charset="-120"/>
              </a:rPr>
              <a:t>Claude running it.</a:t>
            </a:r>
            <a:endParaRPr lang="en-US" sz="18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4"/>
        </a:solidFill>
      </p:bgPr>
    </p:bg>
    <p:spTree>
      <p:nvGrpSpPr>
        <p:cNvPr id="1" name=""/>
        <p:cNvGrpSpPr/>
        <p:nvPr/>
      </p:nvGrpSpPr>
      <p:grpSpPr>
        <a:xfrm>
          <a:off x="0" y="0"/>
          <a:ext cx="0" cy="0"/>
          <a:chOff x="0" y="0"/>
          <a:chExt cx="0" cy="0"/>
        </a:xfrm>
      </p:grpSpPr>
      <p:sp>
        <p:nvSpPr>
          <p:cNvPr id="2" name="Shape 0"/>
          <p:cNvSpPr/>
          <p:nvPr/>
        </p:nvSpPr>
        <p:spPr>
          <a:xfrm>
            <a:off x="1047750" y="2932906"/>
            <a:ext cx="323825" cy="28525"/>
          </a:xfrm>
          <a:prstGeom prst="rect">
            <a:avLst/>
          </a:prstGeom>
          <a:solidFill>
            <a:srgbClr val="4FB0CE"/>
          </a:solidFill>
          <a:ln/>
        </p:spPr>
      </p:sp>
      <p:sp>
        <p:nvSpPr>
          <p:cNvPr id="3" name="Text 1"/>
          <p:cNvSpPr/>
          <p:nvPr/>
        </p:nvSpPr>
        <p:spPr>
          <a:xfrm>
            <a:off x="1504900" y="2784450"/>
            <a:ext cx="2070398" cy="363537"/>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6AAEC3"/>
                </a:solidFill>
                <a:latin typeface="Courier New" pitchFamily="34" charset="0"/>
                <a:ea typeface="Courier New" pitchFamily="34" charset="-122"/>
                <a:cs typeface="Courier New" pitchFamily="34" charset="-120"/>
              </a:rPr>
              <a:t>WHY BOTHER</a:t>
            </a:r>
            <a:endParaRPr lang="en-US" sz="1950" dirty="0"/>
          </a:p>
        </p:txBody>
      </p:sp>
      <p:sp>
        <p:nvSpPr>
          <p:cNvPr id="4" name="Text 2"/>
          <p:cNvSpPr/>
          <p:nvPr/>
        </p:nvSpPr>
        <p:spPr>
          <a:xfrm>
            <a:off x="1047750" y="3319363"/>
            <a:ext cx="17811750" cy="678061"/>
          </a:xfrm>
          <a:prstGeom prst="rect">
            <a:avLst/>
          </a:prstGeom>
          <a:noFill/>
          <a:ln/>
        </p:spPr>
        <p:txBody>
          <a:bodyPr wrap="square" lIns="25400" tIns="25400" rIns="25400" bIns="25400" rtlCol="0" anchor="t">
            <a:normAutofit/>
          </a:bodyPr>
          <a:lstStyle/>
          <a:p>
            <a:pPr algn="l" indent="0" marL="0">
              <a:lnSpc>
                <a:spcPct val="105000"/>
              </a:lnSpc>
              <a:buNone/>
            </a:pPr>
            <a:r>
              <a:rPr lang="en-US" sz="4800" b="1" spc="-144" kern="0" dirty="0">
                <a:solidFill>
                  <a:srgbClr val="FFFFFF"/>
                </a:solidFill>
                <a:latin typeface="Arial" pitchFamily="34" charset="0"/>
                <a:ea typeface="Arial" pitchFamily="34" charset="-122"/>
                <a:cs typeface="Arial" pitchFamily="34" charset="-120"/>
              </a:rPr>
              <a:t>Three honest reasons to swap the model</a:t>
            </a:r>
            <a:endParaRPr lang="en-US" sz="4800" dirty="0"/>
          </a:p>
        </p:txBody>
      </p:sp>
      <p:sp>
        <p:nvSpPr>
          <p:cNvPr id="5" name="Shape 3"/>
          <p:cNvSpPr/>
          <p:nvPr/>
        </p:nvSpPr>
        <p:spPr>
          <a:xfrm>
            <a:off x="1047750" y="4530824"/>
            <a:ext cx="5181575" cy="2971726"/>
          </a:xfrm>
          <a:prstGeom prst="roundRect">
            <a:avLst>
              <a:gd name="adj" fmla="val 3846"/>
            </a:avLst>
          </a:prstGeom>
          <a:solidFill>
            <a:srgbClr val="15191D"/>
          </a:solidFill>
          <a:ln/>
        </p:spPr>
      </p:sp>
      <p:sp>
        <p:nvSpPr>
          <p:cNvPr id="6" name="Shape 4"/>
          <p:cNvSpPr/>
          <p:nvPr/>
        </p:nvSpPr>
        <p:spPr>
          <a:xfrm>
            <a:off x="1047750" y="7494612"/>
            <a:ext cx="5181575" cy="9525"/>
          </a:xfrm>
          <a:prstGeom prst="rect">
            <a:avLst/>
          </a:prstGeom>
          <a:solidFill>
            <a:srgbClr val="242A30"/>
          </a:solidFill>
          <a:ln/>
        </p:spPr>
      </p:sp>
      <p:sp>
        <p:nvSpPr>
          <p:cNvPr id="7" name="Shape 5"/>
          <p:cNvSpPr/>
          <p:nvPr/>
        </p:nvSpPr>
        <p:spPr>
          <a:xfrm>
            <a:off x="1047750" y="4530824"/>
            <a:ext cx="5181575" cy="23813"/>
          </a:xfrm>
          <a:prstGeom prst="rect">
            <a:avLst/>
          </a:prstGeom>
          <a:solidFill>
            <a:srgbClr val="4FB0CE"/>
          </a:solidFill>
          <a:ln/>
        </p:spPr>
      </p:sp>
      <p:sp>
        <p:nvSpPr>
          <p:cNvPr id="8" name="Shape 6"/>
          <p:cNvSpPr/>
          <p:nvPr/>
        </p:nvSpPr>
        <p:spPr>
          <a:xfrm>
            <a:off x="1047750" y="4530824"/>
            <a:ext cx="9525" cy="2971726"/>
          </a:xfrm>
          <a:prstGeom prst="rect">
            <a:avLst/>
          </a:prstGeom>
          <a:solidFill>
            <a:srgbClr val="242A30"/>
          </a:solidFill>
          <a:ln/>
        </p:spPr>
      </p:sp>
      <p:sp>
        <p:nvSpPr>
          <p:cNvPr id="9" name="Shape 7"/>
          <p:cNvSpPr/>
          <p:nvPr/>
        </p:nvSpPr>
        <p:spPr>
          <a:xfrm>
            <a:off x="6221388" y="4530824"/>
            <a:ext cx="9525" cy="2971726"/>
          </a:xfrm>
          <a:prstGeom prst="rect">
            <a:avLst/>
          </a:prstGeom>
          <a:solidFill>
            <a:srgbClr val="242A30"/>
          </a:solidFill>
          <a:ln/>
        </p:spPr>
      </p:sp>
      <p:sp>
        <p:nvSpPr>
          <p:cNvPr id="10" name="Text 8"/>
          <p:cNvSpPr/>
          <p:nvPr/>
        </p:nvSpPr>
        <p:spPr>
          <a:xfrm>
            <a:off x="1417588" y="4954612"/>
            <a:ext cx="4886089" cy="284162"/>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5FB4D0"/>
                </a:solidFill>
                <a:latin typeface="Courier New" pitchFamily="34" charset="0"/>
                <a:ea typeface="Courier New" pitchFamily="34" charset="-122"/>
                <a:cs typeface="Courier New" pitchFamily="34" charset="-120"/>
              </a:rPr>
              <a:t>01</a:t>
            </a:r>
            <a:endParaRPr lang="en-US" sz="1500" dirty="0"/>
          </a:p>
        </p:txBody>
      </p:sp>
      <p:sp>
        <p:nvSpPr>
          <p:cNvPr id="11" name="Text 9"/>
          <p:cNvSpPr/>
          <p:nvPr/>
        </p:nvSpPr>
        <p:spPr>
          <a:xfrm>
            <a:off x="1417588" y="5372075"/>
            <a:ext cx="4886089" cy="450850"/>
          </a:xfrm>
          <a:prstGeom prst="rect">
            <a:avLst/>
          </a:prstGeom>
          <a:noFill/>
          <a:ln/>
        </p:spPr>
        <p:txBody>
          <a:bodyPr wrap="square" lIns="25400" tIns="25400" rIns="25400" bIns="25400" rtlCol="0" anchor="t">
            <a:normAutofit/>
          </a:bodyPr>
          <a:lstStyle/>
          <a:p>
            <a:pPr algn="l" indent="0" marL="0">
              <a:buNone/>
            </a:pPr>
            <a:r>
              <a:rPr lang="en-US" sz="2850" b="1" spc="-57" kern="0" dirty="0">
                <a:solidFill>
                  <a:srgbClr val="FFFFFF"/>
                </a:solidFill>
                <a:latin typeface="Arial" pitchFamily="34" charset="0"/>
                <a:ea typeface="Arial" pitchFamily="34" charset="-122"/>
                <a:cs typeface="Arial" pitchFamily="34" charset="-120"/>
              </a:rPr>
              <a:t>Cost</a:t>
            </a:r>
            <a:endParaRPr lang="en-US" sz="2850" dirty="0"/>
          </a:p>
        </p:txBody>
      </p:sp>
      <p:sp>
        <p:nvSpPr>
          <p:cNvPr id="12" name="Text 10"/>
          <p:cNvSpPr/>
          <p:nvPr/>
        </p:nvSpPr>
        <p:spPr>
          <a:xfrm>
            <a:off x="1417588" y="5937126"/>
            <a:ext cx="4575156" cy="1195611"/>
          </a:xfrm>
          <a:prstGeom prst="rect">
            <a:avLst/>
          </a:prstGeom>
          <a:noFill/>
          <a:ln/>
        </p:spPr>
        <p:txBody>
          <a:bodyPr wrap="square" lIns="25400" tIns="25400" rIns="25400" bIns="25400" rtlCol="0" anchor="t">
            <a:normAutofit/>
          </a:bodyPr>
          <a:lstStyle/>
          <a:p>
            <a:pPr algn="l" indent="0" marL="0">
              <a:lnSpc>
                <a:spcPct val="150000"/>
              </a:lnSpc>
              <a:buNone/>
            </a:pPr>
            <a:r>
              <a:rPr lang="en-US" sz="2025" dirty="0">
                <a:solidFill>
                  <a:srgbClr val="AEB5BB"/>
                </a:solidFill>
                <a:latin typeface="Arial" pitchFamily="34" charset="0"/>
                <a:ea typeface="Arial" pitchFamily="34" charset="-122"/>
                <a:cs typeface="Arial" pitchFamily="34" charset="-120"/>
              </a:rPr>
              <a:t>Some models are a fraction of frontier prices — and for a lot of tasks, that’s perfectly fine.</a:t>
            </a:r>
            <a:endParaRPr lang="en-US" sz="2025" dirty="0"/>
          </a:p>
        </p:txBody>
      </p:sp>
      <p:sp>
        <p:nvSpPr>
          <p:cNvPr id="13" name="Shape 11"/>
          <p:cNvSpPr/>
          <p:nvPr/>
        </p:nvSpPr>
        <p:spPr>
          <a:xfrm>
            <a:off x="6553150" y="4530824"/>
            <a:ext cx="5181575" cy="2971726"/>
          </a:xfrm>
          <a:prstGeom prst="roundRect">
            <a:avLst>
              <a:gd name="adj" fmla="val 3846"/>
            </a:avLst>
          </a:prstGeom>
          <a:solidFill>
            <a:srgbClr val="15191D"/>
          </a:solidFill>
          <a:ln/>
        </p:spPr>
      </p:sp>
      <p:sp>
        <p:nvSpPr>
          <p:cNvPr id="14" name="Shape 12"/>
          <p:cNvSpPr/>
          <p:nvPr/>
        </p:nvSpPr>
        <p:spPr>
          <a:xfrm>
            <a:off x="6553150" y="7494612"/>
            <a:ext cx="5181575" cy="9525"/>
          </a:xfrm>
          <a:prstGeom prst="rect">
            <a:avLst/>
          </a:prstGeom>
          <a:solidFill>
            <a:srgbClr val="242A30"/>
          </a:solidFill>
          <a:ln/>
        </p:spPr>
      </p:sp>
      <p:sp>
        <p:nvSpPr>
          <p:cNvPr id="15" name="Shape 13"/>
          <p:cNvSpPr/>
          <p:nvPr/>
        </p:nvSpPr>
        <p:spPr>
          <a:xfrm>
            <a:off x="6553150" y="4530824"/>
            <a:ext cx="5181575" cy="23813"/>
          </a:xfrm>
          <a:prstGeom prst="rect">
            <a:avLst/>
          </a:prstGeom>
          <a:solidFill>
            <a:srgbClr val="4FB0CE"/>
          </a:solidFill>
          <a:ln/>
        </p:spPr>
      </p:sp>
      <p:sp>
        <p:nvSpPr>
          <p:cNvPr id="16" name="Shape 14"/>
          <p:cNvSpPr/>
          <p:nvPr/>
        </p:nvSpPr>
        <p:spPr>
          <a:xfrm>
            <a:off x="6553150" y="4530824"/>
            <a:ext cx="9525" cy="2971726"/>
          </a:xfrm>
          <a:prstGeom prst="rect">
            <a:avLst/>
          </a:prstGeom>
          <a:solidFill>
            <a:srgbClr val="242A30"/>
          </a:solidFill>
          <a:ln/>
        </p:spPr>
      </p:sp>
      <p:sp>
        <p:nvSpPr>
          <p:cNvPr id="17" name="Shape 15"/>
          <p:cNvSpPr/>
          <p:nvPr/>
        </p:nvSpPr>
        <p:spPr>
          <a:xfrm>
            <a:off x="11726788" y="4530824"/>
            <a:ext cx="9525" cy="2971726"/>
          </a:xfrm>
          <a:prstGeom prst="rect">
            <a:avLst/>
          </a:prstGeom>
          <a:solidFill>
            <a:srgbClr val="242A30"/>
          </a:solidFill>
          <a:ln/>
        </p:spPr>
      </p:sp>
      <p:sp>
        <p:nvSpPr>
          <p:cNvPr id="18" name="Text 16"/>
          <p:cNvSpPr/>
          <p:nvPr/>
        </p:nvSpPr>
        <p:spPr>
          <a:xfrm>
            <a:off x="6922988" y="4954612"/>
            <a:ext cx="4886089" cy="284162"/>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5FB4D0"/>
                </a:solidFill>
                <a:latin typeface="Courier New" pitchFamily="34" charset="0"/>
                <a:ea typeface="Courier New" pitchFamily="34" charset="-122"/>
                <a:cs typeface="Courier New" pitchFamily="34" charset="-120"/>
              </a:rPr>
              <a:t>02</a:t>
            </a:r>
            <a:endParaRPr lang="en-US" sz="1500" dirty="0"/>
          </a:p>
        </p:txBody>
      </p:sp>
      <p:sp>
        <p:nvSpPr>
          <p:cNvPr id="19" name="Text 17"/>
          <p:cNvSpPr/>
          <p:nvPr/>
        </p:nvSpPr>
        <p:spPr>
          <a:xfrm>
            <a:off x="6922988" y="5372075"/>
            <a:ext cx="4886089" cy="450850"/>
          </a:xfrm>
          <a:prstGeom prst="rect">
            <a:avLst/>
          </a:prstGeom>
          <a:noFill/>
          <a:ln/>
        </p:spPr>
        <p:txBody>
          <a:bodyPr wrap="square" lIns="25400" tIns="25400" rIns="25400" bIns="25400" rtlCol="0" anchor="t">
            <a:normAutofit/>
          </a:bodyPr>
          <a:lstStyle/>
          <a:p>
            <a:pPr algn="l" indent="0" marL="0">
              <a:buNone/>
            </a:pPr>
            <a:r>
              <a:rPr lang="en-US" sz="2850" b="1" spc="-57" kern="0" dirty="0">
                <a:solidFill>
                  <a:srgbClr val="FFFFFF"/>
                </a:solidFill>
                <a:latin typeface="Arial" pitchFamily="34" charset="0"/>
                <a:ea typeface="Arial" pitchFamily="34" charset="-122"/>
                <a:cs typeface="Arial" pitchFamily="34" charset="-120"/>
              </a:rPr>
              <a:t>Curiosity</a:t>
            </a:r>
            <a:endParaRPr lang="en-US" sz="2850" dirty="0"/>
          </a:p>
        </p:txBody>
      </p:sp>
      <p:sp>
        <p:nvSpPr>
          <p:cNvPr id="20" name="Text 18"/>
          <p:cNvSpPr/>
          <p:nvPr/>
        </p:nvSpPr>
        <p:spPr>
          <a:xfrm>
            <a:off x="6922988" y="5937126"/>
            <a:ext cx="4575156" cy="1195611"/>
          </a:xfrm>
          <a:prstGeom prst="rect">
            <a:avLst/>
          </a:prstGeom>
          <a:noFill/>
          <a:ln/>
        </p:spPr>
        <p:txBody>
          <a:bodyPr wrap="square" lIns="25400" tIns="25400" rIns="25400" bIns="25400" rtlCol="0" anchor="t">
            <a:normAutofit/>
          </a:bodyPr>
          <a:lstStyle/>
          <a:p>
            <a:pPr algn="l" indent="0" marL="0">
              <a:lnSpc>
                <a:spcPct val="150000"/>
              </a:lnSpc>
              <a:buNone/>
            </a:pPr>
            <a:r>
              <a:rPr lang="en-US" sz="2025" dirty="0">
                <a:solidFill>
                  <a:srgbClr val="AEB5BB"/>
                </a:solidFill>
                <a:latin typeface="Arial" pitchFamily="34" charset="0"/>
                <a:ea typeface="Arial" pitchFamily="34" charset="-122"/>
                <a:cs typeface="Arial" pitchFamily="34" charset="-120"/>
              </a:rPr>
              <a:t>A wave of strong open models — DeepSeek, GLM, Kimi — that you can actually drive inside a real agent.</a:t>
            </a:r>
            <a:endParaRPr lang="en-US" sz="2025" dirty="0"/>
          </a:p>
        </p:txBody>
      </p:sp>
      <p:sp>
        <p:nvSpPr>
          <p:cNvPr id="21" name="Shape 19"/>
          <p:cNvSpPr/>
          <p:nvPr/>
        </p:nvSpPr>
        <p:spPr>
          <a:xfrm>
            <a:off x="12058550" y="4530824"/>
            <a:ext cx="5181575" cy="2971726"/>
          </a:xfrm>
          <a:prstGeom prst="roundRect">
            <a:avLst>
              <a:gd name="adj" fmla="val 3846"/>
            </a:avLst>
          </a:prstGeom>
          <a:solidFill>
            <a:srgbClr val="15191D"/>
          </a:solidFill>
          <a:ln/>
        </p:spPr>
      </p:sp>
      <p:sp>
        <p:nvSpPr>
          <p:cNvPr id="22" name="Shape 20"/>
          <p:cNvSpPr/>
          <p:nvPr/>
        </p:nvSpPr>
        <p:spPr>
          <a:xfrm>
            <a:off x="12058550" y="7494612"/>
            <a:ext cx="5181575" cy="9525"/>
          </a:xfrm>
          <a:prstGeom prst="rect">
            <a:avLst/>
          </a:prstGeom>
          <a:solidFill>
            <a:srgbClr val="242A30"/>
          </a:solidFill>
          <a:ln/>
        </p:spPr>
      </p:sp>
      <p:sp>
        <p:nvSpPr>
          <p:cNvPr id="23" name="Shape 21"/>
          <p:cNvSpPr/>
          <p:nvPr/>
        </p:nvSpPr>
        <p:spPr>
          <a:xfrm>
            <a:off x="12058550" y="4530824"/>
            <a:ext cx="5181575" cy="23813"/>
          </a:xfrm>
          <a:prstGeom prst="rect">
            <a:avLst/>
          </a:prstGeom>
          <a:solidFill>
            <a:srgbClr val="4FB0CE"/>
          </a:solidFill>
          <a:ln/>
        </p:spPr>
      </p:sp>
      <p:sp>
        <p:nvSpPr>
          <p:cNvPr id="24" name="Shape 22"/>
          <p:cNvSpPr/>
          <p:nvPr/>
        </p:nvSpPr>
        <p:spPr>
          <a:xfrm>
            <a:off x="12058550" y="4530824"/>
            <a:ext cx="9525" cy="2971726"/>
          </a:xfrm>
          <a:prstGeom prst="rect">
            <a:avLst/>
          </a:prstGeom>
          <a:solidFill>
            <a:srgbClr val="242A30"/>
          </a:solidFill>
          <a:ln/>
        </p:spPr>
      </p:sp>
      <p:sp>
        <p:nvSpPr>
          <p:cNvPr id="25" name="Shape 23"/>
          <p:cNvSpPr/>
          <p:nvPr/>
        </p:nvSpPr>
        <p:spPr>
          <a:xfrm>
            <a:off x="17232188" y="4530824"/>
            <a:ext cx="9525" cy="2971726"/>
          </a:xfrm>
          <a:prstGeom prst="rect">
            <a:avLst/>
          </a:prstGeom>
          <a:solidFill>
            <a:srgbClr val="242A30"/>
          </a:solidFill>
          <a:ln/>
        </p:spPr>
      </p:sp>
      <p:sp>
        <p:nvSpPr>
          <p:cNvPr id="26" name="Text 24"/>
          <p:cNvSpPr/>
          <p:nvPr/>
        </p:nvSpPr>
        <p:spPr>
          <a:xfrm>
            <a:off x="12428388" y="4954612"/>
            <a:ext cx="4886089" cy="284162"/>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5FB4D0"/>
                </a:solidFill>
                <a:latin typeface="Courier New" pitchFamily="34" charset="0"/>
                <a:ea typeface="Courier New" pitchFamily="34" charset="-122"/>
                <a:cs typeface="Courier New" pitchFamily="34" charset="-120"/>
              </a:rPr>
              <a:t>03</a:t>
            </a:r>
            <a:endParaRPr lang="en-US" sz="1500" dirty="0"/>
          </a:p>
        </p:txBody>
      </p:sp>
      <p:sp>
        <p:nvSpPr>
          <p:cNvPr id="27" name="Text 25"/>
          <p:cNvSpPr/>
          <p:nvPr/>
        </p:nvSpPr>
        <p:spPr>
          <a:xfrm>
            <a:off x="12428388" y="5372075"/>
            <a:ext cx="4886089" cy="450850"/>
          </a:xfrm>
          <a:prstGeom prst="rect">
            <a:avLst/>
          </a:prstGeom>
          <a:noFill/>
          <a:ln/>
        </p:spPr>
        <p:txBody>
          <a:bodyPr wrap="square" lIns="25400" tIns="25400" rIns="25400" bIns="25400" rtlCol="0" anchor="t">
            <a:normAutofit/>
          </a:bodyPr>
          <a:lstStyle/>
          <a:p>
            <a:pPr algn="l" indent="0" marL="0">
              <a:buNone/>
            </a:pPr>
            <a:r>
              <a:rPr lang="en-US" sz="2850" b="1" spc="-57" kern="0" dirty="0">
                <a:solidFill>
                  <a:srgbClr val="FFFFFF"/>
                </a:solidFill>
                <a:latin typeface="Arial" pitchFamily="34" charset="0"/>
                <a:ea typeface="Arial" pitchFamily="34" charset="-122"/>
                <a:cs typeface="Arial" pitchFamily="34" charset="-120"/>
              </a:rPr>
              <a:t>No lock-in</a:t>
            </a:r>
            <a:endParaRPr lang="en-US" sz="2850" dirty="0"/>
          </a:p>
        </p:txBody>
      </p:sp>
      <p:sp>
        <p:nvSpPr>
          <p:cNvPr id="28" name="Text 26"/>
          <p:cNvSpPr/>
          <p:nvPr/>
        </p:nvSpPr>
        <p:spPr>
          <a:xfrm>
            <a:off x="12428388" y="5937126"/>
            <a:ext cx="4575156" cy="1195611"/>
          </a:xfrm>
          <a:prstGeom prst="rect">
            <a:avLst/>
          </a:prstGeom>
          <a:noFill/>
          <a:ln/>
        </p:spPr>
        <p:txBody>
          <a:bodyPr wrap="square" lIns="25400" tIns="25400" rIns="25400" bIns="25400" rtlCol="0" anchor="t">
            <a:normAutofit/>
          </a:bodyPr>
          <a:lstStyle/>
          <a:p>
            <a:pPr algn="l" indent="0" marL="0">
              <a:lnSpc>
                <a:spcPct val="150000"/>
              </a:lnSpc>
              <a:buNone/>
            </a:pPr>
            <a:r>
              <a:rPr lang="en-US" sz="2025" dirty="0">
                <a:solidFill>
                  <a:srgbClr val="AEB5BB"/>
                </a:solidFill>
                <a:latin typeface="Arial" pitchFamily="34" charset="0"/>
                <a:ea typeface="Arial" pitchFamily="34" charset="-122"/>
                <a:cs typeface="Arial" pitchFamily="34" charset="-120"/>
              </a:rPr>
              <a:t>The harness and the model are separate layers. Claude Code is great — the brain stays swappable.</a:t>
            </a:r>
            <a:endParaRPr lang="en-US" sz="20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61A"/>
        </a:solidFill>
      </p:bgPr>
    </p:bg>
    <p:spTree>
      <p:nvGrpSpPr>
        <p:cNvPr id="1" name=""/>
        <p:cNvGrpSpPr/>
        <p:nvPr/>
      </p:nvGrpSpPr>
      <p:grpSpPr>
        <a:xfrm>
          <a:off x="0" y="0"/>
          <a:ext cx="0" cy="0"/>
          <a:chOff x="0" y="0"/>
          <a:chExt cx="0" cy="0"/>
        </a:xfrm>
      </p:grpSpPr>
      <p:sp>
        <p:nvSpPr>
          <p:cNvPr id="2" name="Text 0"/>
          <p:cNvSpPr/>
          <p:nvPr/>
        </p:nvSpPr>
        <p:spPr>
          <a:xfrm>
            <a:off x="1238250" y="2974578"/>
            <a:ext cx="17392650" cy="1038225"/>
          </a:xfrm>
          <a:prstGeom prst="rect">
            <a:avLst/>
          </a:prstGeom>
          <a:noFill/>
          <a:ln/>
        </p:spPr>
        <p:txBody>
          <a:bodyPr wrap="square" lIns="25400" tIns="25400" rIns="25400" bIns="25400" rtlCol="0" anchor="t">
            <a:normAutofit/>
          </a:bodyPr>
          <a:lstStyle/>
          <a:p>
            <a:pPr algn="l" indent="0" marL="0">
              <a:lnSpc>
                <a:spcPct val="70000"/>
              </a:lnSpc>
              <a:buNone/>
            </a:pPr>
            <a:r>
              <a:rPr lang="en-US" sz="11250" dirty="0">
                <a:solidFill>
                  <a:srgbClr val="242E34"/>
                </a:solidFill>
                <a:latin typeface="Courier New" pitchFamily="34" charset="0"/>
                <a:ea typeface="Courier New" pitchFamily="34" charset="-122"/>
                <a:cs typeface="Courier New" pitchFamily="34" charset="-120"/>
              </a:rPr>
              <a:t>“</a:t>
            </a:r>
            <a:endParaRPr lang="en-US" sz="11250" dirty="0"/>
          </a:p>
        </p:txBody>
      </p:sp>
      <p:sp>
        <p:nvSpPr>
          <p:cNvPr id="3" name="Text 1"/>
          <p:cNvSpPr/>
          <p:nvPr/>
        </p:nvSpPr>
        <p:spPr>
          <a:xfrm>
            <a:off x="1238250" y="4031754"/>
            <a:ext cx="13735050" cy="1546969"/>
          </a:xfrm>
          <a:prstGeom prst="rect">
            <a:avLst/>
          </a:prstGeom>
          <a:noFill/>
          <a:ln/>
        </p:spPr>
        <p:txBody>
          <a:bodyPr wrap="square" lIns="25400" tIns="25400" rIns="25400" bIns="25400" rtlCol="0" anchor="t">
            <a:normAutofit/>
          </a:bodyPr>
          <a:lstStyle/>
          <a:p>
            <a:pPr algn="l" indent="0" marL="0">
              <a:lnSpc>
                <a:spcPct val="110000"/>
              </a:lnSpc>
              <a:buNone/>
            </a:pPr>
            <a:r>
              <a:rPr lang="en-US" sz="5400" b="1" spc="-162" kern="0" dirty="0">
                <a:solidFill>
                  <a:srgbClr val="FFFFFF"/>
                </a:solidFill>
                <a:latin typeface="Arial" pitchFamily="34" charset="0"/>
                <a:ea typeface="Arial" pitchFamily="34" charset="-122"/>
                <a:cs typeface="Arial" pitchFamily="34" charset="-120"/>
              </a:rPr>
              <a:t xml:space="preserve">This isn’t a leaderboard. It’s </a:t>
            </a:r>
            <a:pPr algn="l" indent="0" marL="0">
              <a:lnSpc>
                <a:spcPct val="110000"/>
              </a:lnSpc>
              <a:buNone/>
            </a:pPr>
            <a:r>
              <a:rPr lang="en-US" sz="5400" b="1" spc="-162" kern="0" dirty="0">
                <a:solidFill>
                  <a:srgbClr val="4FB0CE"/>
                </a:solidFill>
                <a:latin typeface="Arial" pitchFamily="34" charset="0"/>
                <a:ea typeface="Arial" pitchFamily="34" charset="-122"/>
                <a:cs typeface="Arial" pitchFamily="34" charset="-120"/>
              </a:rPr>
              <a:t>optionality</a:t>
            </a:r>
            <a:pPr algn="l" indent="0" marL="0">
              <a:lnSpc>
                <a:spcPct val="110000"/>
              </a:lnSpc>
              <a:buNone/>
            </a:pPr>
            <a:r>
              <a:rPr lang="en-US" sz="5400" b="1" spc="-162" kern="0" dirty="0">
                <a:solidFill>
                  <a:srgbClr val="FFFFFF"/>
                </a:solidFill>
                <a:latin typeface="Arial" pitchFamily="34" charset="0"/>
                <a:ea typeface="Arial" pitchFamily="34" charset="-122"/>
                <a:cs typeface="Arial" pitchFamily="34" charset="-120"/>
              </a:rPr>
              <a:t>.</a:t>
            </a:r>
            <a:endParaRPr lang="en-US" sz="5400" dirty="0"/>
          </a:p>
        </p:txBody>
      </p:sp>
      <p:sp>
        <p:nvSpPr>
          <p:cNvPr id="4" name="Text 2"/>
          <p:cNvSpPr/>
          <p:nvPr/>
        </p:nvSpPr>
        <p:spPr>
          <a:xfrm>
            <a:off x="1238250" y="5940598"/>
            <a:ext cx="11576685" cy="1409923"/>
          </a:xfrm>
          <a:prstGeom prst="rect">
            <a:avLst/>
          </a:prstGeom>
          <a:noFill/>
          <a:ln/>
        </p:spPr>
        <p:txBody>
          <a:bodyPr wrap="square" lIns="25400" tIns="25400" rIns="25400" bIns="25400" rtlCol="0" anchor="t">
            <a:normAutofit/>
          </a:bodyPr>
          <a:lstStyle/>
          <a:p>
            <a:pPr algn="l" indent="0" marL="0">
              <a:lnSpc>
                <a:spcPct val="150000"/>
              </a:lnSpc>
              <a:buNone/>
            </a:pPr>
            <a:r>
              <a:rPr lang="en-US" sz="2400" dirty="0">
                <a:solidFill>
                  <a:srgbClr val="AEB5BB"/>
                </a:solidFill>
                <a:latin typeface="Arial" pitchFamily="34" charset="0"/>
                <a:ea typeface="Arial" pitchFamily="34" charset="-122"/>
                <a:cs typeface="Arial" pitchFamily="34" charset="-120"/>
              </a:rPr>
              <a:t>No benchmarks for your code, on your machine — and neither has anyone making that claim online. I’ll show you how to try them yourself and judge with your own eyes.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4"/>
        </a:solidFill>
      </p:bgPr>
    </p:bg>
    <p:spTree>
      <p:nvGrpSpPr>
        <p:cNvPr id="1" name=""/>
        <p:cNvGrpSpPr/>
        <p:nvPr/>
      </p:nvGrpSpPr>
      <p:grpSpPr>
        <a:xfrm>
          <a:off x="0" y="0"/>
          <a:ext cx="0" cy="0"/>
          <a:chOff x="0" y="0"/>
          <a:chExt cx="0" cy="0"/>
        </a:xfrm>
      </p:grpSpPr>
      <p:sp>
        <p:nvSpPr>
          <p:cNvPr id="2" name="Text 0"/>
          <p:cNvSpPr/>
          <p:nvPr/>
        </p:nvSpPr>
        <p:spPr>
          <a:xfrm>
            <a:off x="14001129" y="571500"/>
            <a:ext cx="3772582" cy="2324100"/>
          </a:xfrm>
          <a:prstGeom prst="rect">
            <a:avLst/>
          </a:prstGeom>
          <a:noFill/>
          <a:ln/>
        </p:spPr>
        <p:txBody>
          <a:bodyPr wrap="square" lIns="25400" tIns="25400" rIns="25400" bIns="25400" rtlCol="0" anchor="t">
            <a:normAutofit/>
          </a:bodyPr>
          <a:lstStyle/>
          <a:p>
            <a:pPr algn="l" indent="0" marL="0">
              <a:lnSpc>
                <a:spcPct val="80000"/>
              </a:lnSpc>
              <a:buNone/>
            </a:pPr>
            <a:r>
              <a:rPr lang="en-US" sz="22500" b="1" dirty="0">
                <a:solidFill>
                  <a:srgbClr val="161B20"/>
                </a:solidFill>
                <a:latin typeface="Courier New" pitchFamily="34" charset="0"/>
                <a:ea typeface="Courier New" pitchFamily="34" charset="-122"/>
                <a:cs typeface="Courier New" pitchFamily="34" charset="-120"/>
              </a:rPr>
              <a:t>01</a:t>
            </a:r>
            <a:endParaRPr lang="en-US" sz="22500" dirty="0"/>
          </a:p>
        </p:txBody>
      </p:sp>
      <p:sp>
        <p:nvSpPr>
          <p:cNvPr id="3" name="Shape 1"/>
          <p:cNvSpPr/>
          <p:nvPr/>
        </p:nvSpPr>
        <p:spPr>
          <a:xfrm>
            <a:off x="1047750" y="3376662"/>
            <a:ext cx="323825" cy="28525"/>
          </a:xfrm>
          <a:prstGeom prst="rect">
            <a:avLst/>
          </a:prstGeom>
          <a:solidFill>
            <a:srgbClr val="4FB0CE"/>
          </a:solidFill>
          <a:ln/>
        </p:spPr>
      </p:sp>
      <p:sp>
        <p:nvSpPr>
          <p:cNvPr id="4" name="Text 2"/>
          <p:cNvSpPr/>
          <p:nvPr/>
        </p:nvSpPr>
        <p:spPr>
          <a:xfrm>
            <a:off x="1504900" y="3228206"/>
            <a:ext cx="2691544" cy="363537"/>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6AAEC3"/>
                </a:solidFill>
                <a:latin typeface="Courier New" pitchFamily="34" charset="0"/>
                <a:ea typeface="Courier New" pitchFamily="34" charset="-122"/>
                <a:cs typeface="Courier New" pitchFamily="34" charset="-120"/>
              </a:rPr>
              <a:t>THE MECHANISM</a:t>
            </a:r>
            <a:endParaRPr lang="en-US" sz="1950" dirty="0"/>
          </a:p>
        </p:txBody>
      </p:sp>
      <p:sp>
        <p:nvSpPr>
          <p:cNvPr id="5" name="Text 3"/>
          <p:cNvSpPr/>
          <p:nvPr/>
        </p:nvSpPr>
        <p:spPr>
          <a:xfrm>
            <a:off x="1047750" y="3801194"/>
            <a:ext cx="16678275" cy="186695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52" kern="0" dirty="0">
                <a:solidFill>
                  <a:srgbClr val="FFFFFF"/>
                </a:solidFill>
                <a:latin typeface="Arial" pitchFamily="34" charset="0"/>
                <a:ea typeface="Arial" pitchFamily="34" charset="-122"/>
                <a:cs typeface="Arial" pitchFamily="34" charset="-120"/>
              </a:rPr>
              <a:t>It’s almost embarrassingly simple</a:t>
            </a:r>
            <a:endParaRPr lang="en-US" sz="7200" dirty="0"/>
          </a:p>
        </p:txBody>
      </p:sp>
      <p:sp>
        <p:nvSpPr>
          <p:cNvPr id="6" name="Text 4"/>
          <p:cNvSpPr/>
          <p:nvPr/>
        </p:nvSpPr>
        <p:spPr>
          <a:xfrm>
            <a:off x="1047750" y="6011044"/>
            <a:ext cx="8829675" cy="1085850"/>
          </a:xfrm>
          <a:prstGeom prst="rect">
            <a:avLst/>
          </a:prstGeom>
          <a:noFill/>
          <a:ln/>
        </p:spPr>
        <p:txBody>
          <a:bodyPr wrap="square" lIns="25400" tIns="25400" rIns="25400" bIns="25400" rtlCol="0" anchor="t">
            <a:normAutofit/>
          </a:bodyPr>
          <a:lstStyle/>
          <a:p>
            <a:pPr algn="l" indent="0" marL="0">
              <a:buNone/>
            </a:pPr>
            <a:r>
              <a:rPr lang="en-US" sz="2400" dirty="0">
                <a:solidFill>
                  <a:srgbClr val="AEB5BB"/>
                </a:solidFill>
                <a:latin typeface="Arial" pitchFamily="34" charset="0"/>
                <a:ea typeface="Arial" pitchFamily="34" charset="-122"/>
                <a:cs typeface="Arial" pitchFamily="34" charset="-120"/>
              </a:rPr>
              <a:t>Claude Code doesn’t hardcode Anthropic. It reads a few environment variables to decide where its requests go — and which model to ask for.</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4"/>
        </a:solidFill>
      </p:bgPr>
    </p:bg>
    <p:spTree>
      <p:nvGrpSpPr>
        <p:cNvPr id="1" name=""/>
        <p:cNvGrpSpPr/>
        <p:nvPr/>
      </p:nvGrpSpPr>
      <p:grpSpPr>
        <a:xfrm>
          <a:off x="0" y="0"/>
          <a:ext cx="0" cy="0"/>
          <a:chOff x="0" y="0"/>
          <a:chExt cx="0" cy="0"/>
        </a:xfrm>
      </p:grpSpPr>
      <p:sp>
        <p:nvSpPr>
          <p:cNvPr id="2" name="Shape 0"/>
          <p:cNvSpPr/>
          <p:nvPr/>
        </p:nvSpPr>
        <p:spPr>
          <a:xfrm>
            <a:off x="1047750" y="3096245"/>
            <a:ext cx="323825" cy="28525"/>
          </a:xfrm>
          <a:prstGeom prst="rect">
            <a:avLst/>
          </a:prstGeom>
          <a:solidFill>
            <a:srgbClr val="4FB0CE"/>
          </a:solidFill>
          <a:ln/>
        </p:spPr>
      </p:sp>
      <p:sp>
        <p:nvSpPr>
          <p:cNvPr id="3" name="Text 1"/>
          <p:cNvSpPr/>
          <p:nvPr/>
        </p:nvSpPr>
        <p:spPr>
          <a:xfrm>
            <a:off x="1504900" y="2947789"/>
            <a:ext cx="2484450" cy="363537"/>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6AAEC3"/>
                </a:solidFill>
                <a:latin typeface="Courier New" pitchFamily="34" charset="0"/>
                <a:ea typeface="Courier New" pitchFamily="34" charset="-122"/>
                <a:cs typeface="Courier New" pitchFamily="34" charset="-120"/>
              </a:rPr>
              <a:t>HOW IT WORKS</a:t>
            </a:r>
            <a:endParaRPr lang="en-US" sz="1950" dirty="0"/>
          </a:p>
        </p:txBody>
      </p:sp>
      <p:sp>
        <p:nvSpPr>
          <p:cNvPr id="4" name="Text 2"/>
          <p:cNvSpPr/>
          <p:nvPr/>
        </p:nvSpPr>
        <p:spPr>
          <a:xfrm>
            <a:off x="1047750" y="3482702"/>
            <a:ext cx="17811750" cy="638125"/>
          </a:xfrm>
          <a:prstGeom prst="rect">
            <a:avLst/>
          </a:prstGeom>
          <a:noFill/>
          <a:ln/>
        </p:spPr>
        <p:txBody>
          <a:bodyPr wrap="square" lIns="25400" tIns="25400" rIns="25400" bIns="25400" rtlCol="0" anchor="t">
            <a:normAutofit/>
          </a:bodyPr>
          <a:lstStyle/>
          <a:p>
            <a:pPr algn="l" indent="0" marL="0">
              <a:lnSpc>
                <a:spcPct val="105000"/>
              </a:lnSpc>
              <a:buNone/>
            </a:pPr>
            <a:r>
              <a:rPr lang="en-US" sz="4500" b="1" spc="-135" kern="0" dirty="0">
                <a:solidFill>
                  <a:srgbClr val="FFFFFF"/>
                </a:solidFill>
                <a:latin typeface="Arial" pitchFamily="34" charset="0"/>
                <a:ea typeface="Arial" pitchFamily="34" charset="-122"/>
                <a:cs typeface="Arial" pitchFamily="34" charset="-120"/>
              </a:rPr>
              <a:t>Point the harness somewhere else</a:t>
            </a:r>
            <a:endParaRPr lang="en-US" sz="4500" dirty="0"/>
          </a:p>
        </p:txBody>
      </p:sp>
      <p:sp>
        <p:nvSpPr>
          <p:cNvPr id="5" name="Shape 3"/>
          <p:cNvSpPr/>
          <p:nvPr/>
        </p:nvSpPr>
        <p:spPr>
          <a:xfrm>
            <a:off x="1047750" y="4616028"/>
            <a:ext cx="6419949" cy="1862832"/>
          </a:xfrm>
          <a:prstGeom prst="roundRect">
            <a:avLst>
              <a:gd name="adj" fmla="val 6136"/>
            </a:avLst>
          </a:prstGeom>
          <a:solidFill>
            <a:srgbClr val="15191D"/>
          </a:solidFill>
          <a:ln w="7937">
            <a:solidFill>
              <a:srgbClr val="242A30"/>
            </a:solidFill>
            <a:prstDash val="solid"/>
          </a:ln>
        </p:spPr>
      </p:sp>
      <p:sp>
        <p:nvSpPr>
          <p:cNvPr id="6" name="Text 4"/>
          <p:cNvSpPr/>
          <p:nvPr/>
        </p:nvSpPr>
        <p:spPr>
          <a:xfrm>
            <a:off x="1379513" y="5173141"/>
            <a:ext cx="6332066"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Arial" pitchFamily="34" charset="0"/>
                <a:ea typeface="Arial" pitchFamily="34" charset="-122"/>
                <a:cs typeface="Arial" pitchFamily="34" charset="-120"/>
              </a:rPr>
              <a:t>Claude Code</a:t>
            </a:r>
            <a:endParaRPr lang="en-US" sz="2250" dirty="0"/>
          </a:p>
        </p:txBody>
      </p:sp>
      <p:sp>
        <p:nvSpPr>
          <p:cNvPr id="7" name="Text 5"/>
          <p:cNvSpPr/>
          <p:nvPr/>
        </p:nvSpPr>
        <p:spPr>
          <a:xfrm>
            <a:off x="1379513" y="5601766"/>
            <a:ext cx="633206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AEB5BB"/>
                </a:solidFill>
                <a:latin typeface="Arial" pitchFamily="34" charset="0"/>
                <a:ea typeface="Arial" pitchFamily="34" charset="-122"/>
                <a:cs typeface="Arial" pitchFamily="34" charset="-120"/>
              </a:rPr>
              <a:t>The harness — file edits, tool loop, permissions.</a:t>
            </a:r>
            <a:endParaRPr lang="en-US" sz="1800" dirty="0"/>
          </a:p>
        </p:txBody>
      </p:sp>
      <p:sp>
        <p:nvSpPr>
          <p:cNvPr id="8" name="Shape 6"/>
          <p:cNvSpPr/>
          <p:nvPr/>
        </p:nvSpPr>
        <p:spPr>
          <a:xfrm>
            <a:off x="8025432" y="4616028"/>
            <a:ext cx="2237135" cy="425400"/>
          </a:xfrm>
          <a:prstGeom prst="roundRect">
            <a:avLst>
              <a:gd name="adj" fmla="val 17913"/>
            </a:avLst>
          </a:prstGeom>
          <a:solidFill>
            <a:srgbClr val="15191D"/>
          </a:solidFill>
          <a:ln w="7937">
            <a:solidFill>
              <a:srgbClr val="2A3036"/>
            </a:solidFill>
            <a:prstDash val="solid"/>
          </a:ln>
        </p:spPr>
      </p:sp>
      <p:sp>
        <p:nvSpPr>
          <p:cNvPr id="9" name="Text 7"/>
          <p:cNvSpPr/>
          <p:nvPr/>
        </p:nvSpPr>
        <p:spPr>
          <a:xfrm>
            <a:off x="8166720" y="4709691"/>
            <a:ext cx="2030760" cy="276175"/>
          </a:xfrm>
          <a:prstGeom prst="rect">
            <a:avLst/>
          </a:prstGeom>
          <a:noFill/>
          <a:ln/>
        </p:spPr>
        <p:txBody>
          <a:bodyPr wrap="none" lIns="25400" tIns="25400" rIns="25400" bIns="25400" rtlCol="0" anchor="t">
            <a:normAutofit/>
          </a:bodyPr>
          <a:lstStyle/>
          <a:p>
            <a:pPr algn="l" indent="0" marL="0">
              <a:buNone/>
            </a:pPr>
            <a:r>
              <a:rPr lang="en-US" sz="1425" dirty="0">
                <a:solidFill>
                  <a:srgbClr val="5FB4D0"/>
                </a:solidFill>
                <a:latin typeface="Courier New" pitchFamily="34" charset="0"/>
                <a:ea typeface="Courier New" pitchFamily="34" charset="-122"/>
                <a:cs typeface="Courier New" pitchFamily="34" charset="-120"/>
              </a:rPr>
              <a:t>ANTHROPIC_BASE_URL</a:t>
            </a:r>
            <a:endParaRPr lang="en-US" sz="1425" dirty="0"/>
          </a:p>
        </p:txBody>
      </p:sp>
      <p:sp>
        <p:nvSpPr>
          <p:cNvPr id="10" name="Shape 8"/>
          <p:cNvSpPr/>
          <p:nvPr/>
        </p:nvSpPr>
        <p:spPr>
          <a:xfrm>
            <a:off x="7916788" y="5136678"/>
            <a:ext cx="2454300" cy="425400"/>
          </a:xfrm>
          <a:prstGeom prst="roundRect">
            <a:avLst>
              <a:gd name="adj" fmla="val 17913"/>
            </a:avLst>
          </a:prstGeom>
          <a:solidFill>
            <a:srgbClr val="15191D"/>
          </a:solidFill>
          <a:ln w="7937">
            <a:solidFill>
              <a:srgbClr val="2A3036"/>
            </a:solidFill>
            <a:prstDash val="solid"/>
          </a:ln>
        </p:spPr>
      </p:sp>
      <p:sp>
        <p:nvSpPr>
          <p:cNvPr id="11" name="Text 9"/>
          <p:cNvSpPr/>
          <p:nvPr/>
        </p:nvSpPr>
        <p:spPr>
          <a:xfrm>
            <a:off x="8058075" y="5230341"/>
            <a:ext cx="2247925" cy="276175"/>
          </a:xfrm>
          <a:prstGeom prst="rect">
            <a:avLst/>
          </a:prstGeom>
          <a:noFill/>
          <a:ln/>
        </p:spPr>
        <p:txBody>
          <a:bodyPr wrap="none" lIns="25400" tIns="25400" rIns="25400" bIns="25400" rtlCol="0" anchor="t">
            <a:normAutofit/>
          </a:bodyPr>
          <a:lstStyle/>
          <a:p>
            <a:pPr algn="l" indent="0" marL="0">
              <a:buNone/>
            </a:pPr>
            <a:r>
              <a:rPr lang="en-US" sz="1425" dirty="0">
                <a:solidFill>
                  <a:srgbClr val="5FB4D0"/>
                </a:solidFill>
                <a:latin typeface="Courier New" pitchFamily="34" charset="0"/>
                <a:ea typeface="Courier New" pitchFamily="34" charset="-122"/>
                <a:cs typeface="Courier New" pitchFamily="34" charset="-120"/>
              </a:rPr>
              <a:t>ANTHROPIC_AUTH_TOKEN</a:t>
            </a:r>
            <a:endParaRPr lang="en-US" sz="1425" dirty="0"/>
          </a:p>
        </p:txBody>
      </p:sp>
      <p:sp>
        <p:nvSpPr>
          <p:cNvPr id="12" name="Shape 10"/>
          <p:cNvSpPr/>
          <p:nvPr/>
        </p:nvSpPr>
        <p:spPr>
          <a:xfrm>
            <a:off x="8188275" y="5657329"/>
            <a:ext cx="1911325" cy="425400"/>
          </a:xfrm>
          <a:prstGeom prst="roundRect">
            <a:avLst>
              <a:gd name="adj" fmla="val 17913"/>
            </a:avLst>
          </a:prstGeom>
          <a:solidFill>
            <a:srgbClr val="15191D"/>
          </a:solidFill>
          <a:ln w="7937">
            <a:solidFill>
              <a:srgbClr val="2A3036"/>
            </a:solidFill>
            <a:prstDash val="solid"/>
          </a:ln>
        </p:spPr>
      </p:sp>
      <p:sp>
        <p:nvSpPr>
          <p:cNvPr id="13" name="Text 11"/>
          <p:cNvSpPr/>
          <p:nvPr/>
        </p:nvSpPr>
        <p:spPr>
          <a:xfrm>
            <a:off x="8329563" y="5750992"/>
            <a:ext cx="1704950" cy="276175"/>
          </a:xfrm>
          <a:prstGeom prst="rect">
            <a:avLst/>
          </a:prstGeom>
          <a:noFill/>
          <a:ln/>
        </p:spPr>
        <p:txBody>
          <a:bodyPr wrap="none" lIns="25400" tIns="25400" rIns="25400" bIns="25400" rtlCol="0" anchor="t">
            <a:normAutofit/>
          </a:bodyPr>
          <a:lstStyle/>
          <a:p>
            <a:pPr algn="l" indent="0" marL="0">
              <a:buNone/>
            </a:pPr>
            <a:r>
              <a:rPr lang="en-US" sz="1425" dirty="0">
                <a:solidFill>
                  <a:srgbClr val="5FB4D0"/>
                </a:solidFill>
                <a:latin typeface="Courier New" pitchFamily="34" charset="0"/>
                <a:ea typeface="Courier New" pitchFamily="34" charset="-122"/>
                <a:cs typeface="Courier New" pitchFamily="34" charset="-120"/>
              </a:rPr>
              <a:t>ANTHROPIC_MODEL</a:t>
            </a:r>
            <a:endParaRPr lang="en-US" sz="1425" dirty="0"/>
          </a:p>
        </p:txBody>
      </p:sp>
      <p:sp>
        <p:nvSpPr>
          <p:cNvPr id="14" name="Text 12"/>
          <p:cNvSpPr/>
          <p:nvPr/>
        </p:nvSpPr>
        <p:spPr>
          <a:xfrm>
            <a:off x="8911208" y="6216054"/>
            <a:ext cx="541784" cy="300906"/>
          </a:xfrm>
          <a:prstGeom prst="rect">
            <a:avLst/>
          </a:prstGeom>
          <a:noFill/>
          <a:ln/>
        </p:spPr>
        <p:txBody>
          <a:bodyPr wrap="square" lIns="25400" tIns="25400" rIns="25400" bIns="25400" rtlCol="0" anchor="t">
            <a:normAutofit/>
          </a:bodyPr>
          <a:lstStyle/>
          <a:p>
            <a:pPr algn="l" indent="0" marL="0">
              <a:lnSpc>
                <a:spcPct val="60000"/>
              </a:lnSpc>
              <a:buNone/>
            </a:pPr>
            <a:r>
              <a:rPr lang="en-US" sz="3450" dirty="0">
                <a:solidFill>
                  <a:srgbClr val="4FB0CE"/>
                </a:solidFill>
                <a:latin typeface="Arial" pitchFamily="34" charset="0"/>
                <a:ea typeface="Arial" pitchFamily="34" charset="-122"/>
                <a:cs typeface="Arial" pitchFamily="34" charset="-120"/>
              </a:rPr>
              <a:t>⟶</a:t>
            </a:r>
            <a:endParaRPr lang="en-US" sz="3450" dirty="0"/>
          </a:p>
        </p:txBody>
      </p:sp>
      <p:sp>
        <p:nvSpPr>
          <p:cNvPr id="15" name="Shape 13"/>
          <p:cNvSpPr/>
          <p:nvPr/>
        </p:nvSpPr>
        <p:spPr>
          <a:xfrm>
            <a:off x="10820300" y="4616028"/>
            <a:ext cx="6419949" cy="1862832"/>
          </a:xfrm>
          <a:prstGeom prst="roundRect">
            <a:avLst>
              <a:gd name="adj" fmla="val 6136"/>
            </a:avLst>
          </a:prstGeom>
          <a:solidFill>
            <a:srgbClr val="15191D"/>
          </a:solidFill>
          <a:ln w="7937">
            <a:solidFill>
              <a:srgbClr val="2E8BA8"/>
            </a:solidFill>
            <a:prstDash val="solid"/>
          </a:ln>
        </p:spPr>
      </p:sp>
      <p:sp>
        <p:nvSpPr>
          <p:cNvPr id="16" name="Text 14"/>
          <p:cNvSpPr/>
          <p:nvPr/>
        </p:nvSpPr>
        <p:spPr>
          <a:xfrm>
            <a:off x="11152063" y="5013151"/>
            <a:ext cx="6332066"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4FB0CE"/>
                </a:solidFill>
                <a:latin typeface="Arial" pitchFamily="34" charset="0"/>
                <a:ea typeface="Arial" pitchFamily="34" charset="-122"/>
                <a:cs typeface="Arial" pitchFamily="34" charset="-120"/>
              </a:rPr>
              <a:t>OpenRouter</a:t>
            </a:r>
            <a:endParaRPr lang="en-US" sz="2250" dirty="0"/>
          </a:p>
        </p:txBody>
      </p:sp>
      <p:sp>
        <p:nvSpPr>
          <p:cNvPr id="17" name="Text 15"/>
          <p:cNvSpPr/>
          <p:nvPr/>
        </p:nvSpPr>
        <p:spPr>
          <a:xfrm>
            <a:off x="11152063" y="5441776"/>
            <a:ext cx="5929116"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AEB5BB"/>
                </a:solidFill>
                <a:latin typeface="Arial" pitchFamily="34" charset="0"/>
                <a:ea typeface="Arial" pitchFamily="34" charset="-122"/>
                <a:cs typeface="Arial" pitchFamily="34" charset="-120"/>
              </a:rPr>
              <a:t>An Anthropic-compatible endpoint, fronting hundreds of models.</a:t>
            </a:r>
            <a:endParaRPr lang="en-US" sz="1800" dirty="0"/>
          </a:p>
        </p:txBody>
      </p:sp>
      <p:sp>
        <p:nvSpPr>
          <p:cNvPr id="18" name="Text 16"/>
          <p:cNvSpPr/>
          <p:nvPr/>
        </p:nvSpPr>
        <p:spPr>
          <a:xfrm>
            <a:off x="238125" y="6916911"/>
            <a:ext cx="17811750" cy="460276"/>
          </a:xfrm>
          <a:prstGeom prst="rect">
            <a:avLst/>
          </a:prstGeom>
          <a:noFill/>
          <a:ln/>
        </p:spPr>
        <p:txBody>
          <a:bodyPr wrap="square" lIns="25400" tIns="25400" rIns="25400" bIns="25400" rtlCol="0" anchor="t">
            <a:normAutofit/>
          </a:bodyPr>
          <a:lstStyle/>
          <a:p>
            <a:pPr algn="ctr" indent="0" marL="0">
              <a:lnSpc>
                <a:spcPct val="145000"/>
              </a:lnSpc>
              <a:buNone/>
            </a:pPr>
            <a:r>
              <a:rPr lang="en-US" sz="2250" dirty="0">
                <a:solidFill>
                  <a:srgbClr val="E8ECEF"/>
                </a:solidFill>
                <a:latin typeface="Arial" pitchFamily="34" charset="0"/>
                <a:ea typeface="Arial" pitchFamily="34" charset="-122"/>
                <a:cs typeface="Arial" pitchFamily="34" charset="-120"/>
              </a:rPr>
              <a:t xml:space="preserve">Hand it an OpenRouter key, name the model you want — </a:t>
            </a:r>
            <a:pPr algn="ctr" indent="0" marL="0">
              <a:lnSpc>
                <a:spcPct val="145000"/>
              </a:lnSpc>
              <a:buNone/>
            </a:pPr>
            <a:r>
              <a:rPr lang="en-US" sz="2250" b="1" dirty="0">
                <a:solidFill>
                  <a:srgbClr val="4FB0CE"/>
                </a:solidFill>
                <a:latin typeface="Arial" pitchFamily="34" charset="0"/>
                <a:ea typeface="Arial" pitchFamily="34" charset="-122"/>
                <a:cs typeface="Arial" pitchFamily="34" charset="-120"/>
              </a:rPr>
              <a:t>and the harness has no idea anything changed.</a:t>
            </a:r>
            <a:endParaRPr lang="en-US" sz="2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4"/>
        </a:solidFill>
      </p:bgPr>
    </p:bg>
    <p:spTree>
      <p:nvGrpSpPr>
        <p:cNvPr id="1" name=""/>
        <p:cNvGrpSpPr/>
        <p:nvPr/>
      </p:nvGrpSpPr>
      <p:grpSpPr>
        <a:xfrm>
          <a:off x="0" y="0"/>
          <a:ext cx="0" cy="0"/>
          <a:chOff x="0" y="0"/>
          <a:chExt cx="0" cy="0"/>
        </a:xfrm>
      </p:grpSpPr>
      <p:sp>
        <p:nvSpPr>
          <p:cNvPr id="2" name="Shape 0"/>
          <p:cNvSpPr/>
          <p:nvPr/>
        </p:nvSpPr>
        <p:spPr>
          <a:xfrm>
            <a:off x="952500" y="3106663"/>
            <a:ext cx="323825" cy="28525"/>
          </a:xfrm>
          <a:prstGeom prst="rect">
            <a:avLst/>
          </a:prstGeom>
          <a:solidFill>
            <a:srgbClr val="4FB0CE"/>
          </a:solidFill>
          <a:ln/>
        </p:spPr>
      </p:sp>
      <p:sp>
        <p:nvSpPr>
          <p:cNvPr id="3" name="Text 1"/>
          <p:cNvSpPr/>
          <p:nvPr/>
        </p:nvSpPr>
        <p:spPr>
          <a:xfrm>
            <a:off x="1409650" y="2958207"/>
            <a:ext cx="3312691" cy="363537"/>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6AAEC3"/>
                </a:solidFill>
                <a:latin typeface="Courier New" pitchFamily="34" charset="0"/>
                <a:ea typeface="Courier New" pitchFamily="34" charset="-122"/>
                <a:cs typeface="Courier New" pitchFamily="34" charset="-120"/>
              </a:rPr>
              <a:t>SCRIPTS/ORCLAUDE</a:t>
            </a:r>
            <a:endParaRPr lang="en-US" sz="1950" dirty="0"/>
          </a:p>
        </p:txBody>
      </p:sp>
      <p:sp>
        <p:nvSpPr>
          <p:cNvPr id="4" name="Text 2"/>
          <p:cNvSpPr/>
          <p:nvPr/>
        </p:nvSpPr>
        <p:spPr>
          <a:xfrm>
            <a:off x="952500" y="3493120"/>
            <a:ext cx="9597417" cy="618034"/>
          </a:xfrm>
          <a:prstGeom prst="rect">
            <a:avLst/>
          </a:prstGeom>
          <a:noFill/>
          <a:ln/>
        </p:spPr>
        <p:txBody>
          <a:bodyPr wrap="square" lIns="25400" tIns="25400" rIns="25400" bIns="25400" rtlCol="0" anchor="t">
            <a:normAutofit/>
          </a:bodyPr>
          <a:lstStyle/>
          <a:p>
            <a:pPr algn="l" indent="0" marL="0">
              <a:lnSpc>
                <a:spcPct val="105000"/>
              </a:lnSpc>
              <a:buNone/>
            </a:pPr>
            <a:r>
              <a:rPr lang="en-US" sz="4350" b="1" spc="-130" kern="0" dirty="0">
                <a:solidFill>
                  <a:srgbClr val="FFFFFF"/>
                </a:solidFill>
                <a:latin typeface="Arial" pitchFamily="34" charset="0"/>
                <a:ea typeface="Arial" pitchFamily="34" charset="-122"/>
                <a:cs typeface="Arial" pitchFamily="34" charset="-120"/>
              </a:rPr>
              <a:t>The whole thing</a:t>
            </a:r>
            <a:endParaRPr lang="en-US" sz="4350" dirty="0"/>
          </a:p>
        </p:txBody>
      </p:sp>
      <p:sp>
        <p:nvSpPr>
          <p:cNvPr id="5" name="Text 3"/>
          <p:cNvSpPr/>
          <p:nvPr/>
        </p:nvSpPr>
        <p:spPr>
          <a:xfrm>
            <a:off x="952500" y="4358804"/>
            <a:ext cx="294605" cy="380901"/>
          </a:xfrm>
          <a:prstGeom prst="rect">
            <a:avLst/>
          </a:prstGeom>
          <a:noFill/>
          <a:ln/>
        </p:spPr>
        <p:txBody>
          <a:bodyPr wrap="square" lIns="25400" tIns="25400" rIns="25400" bIns="25400" rtlCol="0" anchor="t">
            <a:normAutofit/>
          </a:bodyPr>
          <a:lstStyle/>
          <a:p>
            <a:pPr algn="l" indent="0" marL="0">
              <a:lnSpc>
                <a:spcPct val="120000"/>
              </a:lnSpc>
              <a:buNone/>
            </a:pPr>
            <a:r>
              <a:rPr lang="en-US" sz="2250" dirty="0">
                <a:solidFill>
                  <a:srgbClr val="4FB0CE"/>
                </a:solidFill>
                <a:latin typeface="Arial" pitchFamily="34" charset="0"/>
                <a:ea typeface="Arial" pitchFamily="34" charset="-122"/>
                <a:cs typeface="Arial" pitchFamily="34" charset="-120"/>
              </a:rPr>
              <a:t>✓</a:t>
            </a:r>
            <a:endParaRPr lang="en-US" sz="2250" dirty="0"/>
          </a:p>
        </p:txBody>
      </p:sp>
      <p:sp>
        <p:nvSpPr>
          <p:cNvPr id="6" name="Text 4"/>
          <p:cNvSpPr/>
          <p:nvPr/>
        </p:nvSpPr>
        <p:spPr>
          <a:xfrm>
            <a:off x="1342306" y="4358804"/>
            <a:ext cx="8585173" cy="78472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CFD4D8"/>
                </a:solidFill>
                <a:latin typeface="Arial" pitchFamily="34" charset="0"/>
                <a:ea typeface="Arial" pitchFamily="34" charset="-122"/>
                <a:cs typeface="Arial" pitchFamily="34" charset="-120"/>
              </a:rPr>
              <a:t>Point the base URL at OpenRouter. Auth token → your OpenRouter key.</a:t>
            </a:r>
            <a:endParaRPr lang="en-US" sz="2100" dirty="0"/>
          </a:p>
        </p:txBody>
      </p:sp>
      <p:sp>
        <p:nvSpPr>
          <p:cNvPr id="7" name="Text 5"/>
          <p:cNvSpPr/>
          <p:nvPr/>
        </p:nvSpPr>
        <p:spPr>
          <a:xfrm>
            <a:off x="952500" y="5334000"/>
            <a:ext cx="294605" cy="380901"/>
          </a:xfrm>
          <a:prstGeom prst="rect">
            <a:avLst/>
          </a:prstGeom>
          <a:noFill/>
          <a:ln/>
        </p:spPr>
        <p:txBody>
          <a:bodyPr wrap="square" lIns="25400" tIns="25400" rIns="25400" bIns="25400" rtlCol="0" anchor="t">
            <a:normAutofit/>
          </a:bodyPr>
          <a:lstStyle/>
          <a:p>
            <a:pPr algn="l" indent="0" marL="0">
              <a:lnSpc>
                <a:spcPct val="120000"/>
              </a:lnSpc>
              <a:buNone/>
            </a:pPr>
            <a:r>
              <a:rPr lang="en-US" sz="2250" dirty="0">
                <a:solidFill>
                  <a:srgbClr val="4FB0CE"/>
                </a:solidFill>
                <a:latin typeface="Arial" pitchFamily="34" charset="0"/>
                <a:ea typeface="Arial" pitchFamily="34" charset="-122"/>
                <a:cs typeface="Arial" pitchFamily="34" charset="-120"/>
              </a:rPr>
              <a:t>✓</a:t>
            </a:r>
            <a:endParaRPr lang="en-US" sz="2250" dirty="0"/>
          </a:p>
        </p:txBody>
      </p:sp>
      <p:sp>
        <p:nvSpPr>
          <p:cNvPr id="8" name="Text 6"/>
          <p:cNvSpPr/>
          <p:nvPr/>
        </p:nvSpPr>
        <p:spPr>
          <a:xfrm>
            <a:off x="1342306" y="5334000"/>
            <a:ext cx="8585173" cy="800348"/>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CFD4D8"/>
                </a:solidFill>
                <a:latin typeface="Arial" pitchFamily="34" charset="0"/>
                <a:ea typeface="Arial" pitchFamily="34" charset="-122"/>
                <a:cs typeface="Arial" pitchFamily="34" charset="-120"/>
              </a:rPr>
              <a:t xml:space="preserve">The slug you pass becomes </a:t>
            </a:r>
            <a:pPr algn="l" indent="0" marL="0">
              <a:lnSpc>
                <a:spcPct val="140000"/>
              </a:lnSpc>
              <a:buNone/>
            </a:pPr>
            <a:r>
              <a:rPr lang="en-US" sz="1875" dirty="0">
                <a:solidFill>
                  <a:srgbClr val="E8ECEF"/>
                </a:solidFill>
                <a:latin typeface="Courier New" pitchFamily="34" charset="0"/>
                <a:ea typeface="Courier New" pitchFamily="34" charset="-122"/>
                <a:cs typeface="Courier New" pitchFamily="34" charset="-120"/>
              </a:rPr>
              <a:t>--model</a:t>
            </a:r>
            <a:pPr algn="l" indent="0" marL="0">
              <a:lnSpc>
                <a:spcPct val="140000"/>
              </a:lnSpc>
              <a:buNone/>
            </a:pPr>
            <a:r>
              <a:rPr lang="en-US" sz="2100" dirty="0">
                <a:solidFill>
                  <a:srgbClr val="CFD4D8"/>
                </a:solidFill>
                <a:latin typeface="Arial" pitchFamily="34" charset="0"/>
                <a:ea typeface="Arial" pitchFamily="34" charset="-122"/>
                <a:cs typeface="Arial" pitchFamily="34" charset="-120"/>
              </a:rPr>
              <a:t xml:space="preserve"> — it outranks a model pinned in settings. The model </a:t>
            </a:r>
            <a:pPr algn="l" indent="0" marL="0">
              <a:lnSpc>
                <a:spcPct val="140000"/>
              </a:lnSpc>
              <a:buNone/>
            </a:pPr>
            <a:r>
              <a:rPr lang="en-US" sz="2100" dirty="0">
                <a:solidFill>
                  <a:srgbClr val="FFFFFF"/>
                </a:solidFill>
                <a:latin typeface="Arial" pitchFamily="34" charset="0"/>
                <a:ea typeface="Arial" pitchFamily="34" charset="-122"/>
                <a:cs typeface="Arial" pitchFamily="34" charset="-120"/>
              </a:rPr>
              <a:t xml:space="preserve">you </a:t>
            </a:r>
            <a:pPr algn="l" indent="0" marL="0">
              <a:lnSpc>
                <a:spcPct val="140000"/>
              </a:lnSpc>
              <a:buNone/>
            </a:pPr>
            <a:r>
              <a:rPr lang="en-US" sz="2100" dirty="0">
                <a:solidFill>
                  <a:srgbClr val="CFD4D8"/>
                </a:solidFill>
                <a:latin typeface="Arial" pitchFamily="34" charset="0"/>
                <a:ea typeface="Arial" pitchFamily="34" charset="-122"/>
                <a:cs typeface="Arial" pitchFamily="34" charset="-120"/>
              </a:rPr>
              <a:t>typed is the one that runs.</a:t>
            </a:r>
            <a:endParaRPr lang="en-US" sz="2100" dirty="0"/>
          </a:p>
        </p:txBody>
      </p:sp>
      <p:sp>
        <p:nvSpPr>
          <p:cNvPr id="9" name="Text 7"/>
          <p:cNvSpPr/>
          <p:nvPr/>
        </p:nvSpPr>
        <p:spPr>
          <a:xfrm>
            <a:off x="952500" y="6324823"/>
            <a:ext cx="294605" cy="380901"/>
          </a:xfrm>
          <a:prstGeom prst="rect">
            <a:avLst/>
          </a:prstGeom>
          <a:noFill/>
          <a:ln/>
        </p:spPr>
        <p:txBody>
          <a:bodyPr wrap="square" lIns="25400" tIns="25400" rIns="25400" bIns="25400" rtlCol="0" anchor="t">
            <a:normAutofit/>
          </a:bodyPr>
          <a:lstStyle/>
          <a:p>
            <a:pPr algn="l" indent="0" marL="0">
              <a:lnSpc>
                <a:spcPct val="120000"/>
              </a:lnSpc>
              <a:buNone/>
            </a:pPr>
            <a:r>
              <a:rPr lang="en-US" sz="2250" dirty="0">
                <a:solidFill>
                  <a:srgbClr val="4FB0CE"/>
                </a:solidFill>
                <a:latin typeface="Arial" pitchFamily="34" charset="0"/>
                <a:ea typeface="Arial" pitchFamily="34" charset="-122"/>
                <a:cs typeface="Arial" pitchFamily="34" charset="-120"/>
              </a:rPr>
              <a:t>✓</a:t>
            </a:r>
            <a:endParaRPr lang="en-US" sz="2250" dirty="0"/>
          </a:p>
        </p:txBody>
      </p:sp>
      <p:sp>
        <p:nvSpPr>
          <p:cNvPr id="10" name="Text 8"/>
          <p:cNvSpPr/>
          <p:nvPr/>
        </p:nvSpPr>
        <p:spPr>
          <a:xfrm>
            <a:off x="1342306" y="6324823"/>
            <a:ext cx="8596871" cy="41910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4FB0CE"/>
                </a:solidFill>
                <a:latin typeface="Courier New" pitchFamily="34" charset="0"/>
                <a:ea typeface="Courier New" pitchFamily="34" charset="-122"/>
                <a:cs typeface="Courier New" pitchFamily="34" charset="-120"/>
              </a:rPr>
              <a:t xml:space="preserve">exec claude </a:t>
            </a:r>
            <a:pPr algn="l" indent="0" marL="0">
              <a:lnSpc>
                <a:spcPct val="140000"/>
              </a:lnSpc>
              <a:buNone/>
            </a:pPr>
            <a:r>
              <a:rPr lang="en-US" sz="2100" dirty="0">
                <a:solidFill>
                  <a:srgbClr val="CFD4D8"/>
                </a:solidFill>
                <a:latin typeface="Arial" pitchFamily="34" charset="0"/>
                <a:ea typeface="Arial" pitchFamily="34" charset="-122"/>
                <a:cs typeface="Arial" pitchFamily="34" charset="-120"/>
              </a:rPr>
              <a:t xml:space="preserve">hands off — same trick </a:t>
            </a:r>
            <a:pPr algn="l" indent="0" marL="0">
              <a:lnSpc>
                <a:spcPct val="140000"/>
              </a:lnSpc>
              <a:buNone/>
            </a:pPr>
            <a:r>
              <a:rPr lang="en-US" sz="1725" dirty="0">
                <a:solidFill>
                  <a:srgbClr val="9AA1A7"/>
                </a:solidFill>
                <a:latin typeface="Courier New" pitchFamily="34" charset="0"/>
                <a:ea typeface="Courier New" pitchFamily="34" charset="-122"/>
                <a:cs typeface="Courier New" pitchFamily="34" charset="-120"/>
              </a:rPr>
              <a:t xml:space="preserve">ollama launch </a:t>
            </a:r>
            <a:pPr algn="l" indent="0" marL="0">
              <a:lnSpc>
                <a:spcPct val="140000"/>
              </a:lnSpc>
              <a:buNone/>
            </a:pPr>
            <a:r>
              <a:rPr lang="en-US" sz="2100" dirty="0">
                <a:solidFill>
                  <a:srgbClr val="CFD4D8"/>
                </a:solidFill>
                <a:latin typeface="Arial" pitchFamily="34" charset="0"/>
                <a:ea typeface="Arial" pitchFamily="34" charset="-122"/>
                <a:cs typeface="Arial" pitchFamily="34" charset="-120"/>
              </a:rPr>
              <a:t>uses.</a:t>
            </a:r>
            <a:endParaRPr lang="en-US" sz="2100" dirty="0"/>
          </a:p>
        </p:txBody>
      </p:sp>
      <p:sp>
        <p:nvSpPr>
          <p:cNvPr id="11" name="Shape 9"/>
          <p:cNvSpPr/>
          <p:nvPr/>
        </p:nvSpPr>
        <p:spPr>
          <a:xfrm>
            <a:off x="952500" y="7048624"/>
            <a:ext cx="15875" cy="280045"/>
          </a:xfrm>
          <a:prstGeom prst="rect">
            <a:avLst/>
          </a:prstGeom>
          <a:solidFill>
            <a:srgbClr val="2E8BA8"/>
          </a:solidFill>
          <a:ln/>
        </p:spPr>
      </p:sp>
      <p:sp>
        <p:nvSpPr>
          <p:cNvPr id="12" name="Text 10"/>
          <p:cNvSpPr/>
          <p:nvPr/>
        </p:nvSpPr>
        <p:spPr>
          <a:xfrm>
            <a:off x="1139825" y="7048624"/>
            <a:ext cx="9410092" cy="318145"/>
          </a:xfrm>
          <a:prstGeom prst="rect">
            <a:avLst/>
          </a:prstGeom>
          <a:noFill/>
          <a:ln/>
        </p:spPr>
        <p:txBody>
          <a:bodyPr wrap="square" lIns="25400" tIns="25400" rIns="25400" bIns="25400" rtlCol="0" anchor="t">
            <a:normAutofit/>
          </a:bodyPr>
          <a:lstStyle/>
          <a:p>
            <a:pPr algn="l" indent="0" marL="0">
              <a:lnSpc>
                <a:spcPct val="140000"/>
              </a:lnSpc>
              <a:buNone/>
            </a:pPr>
            <a:r>
              <a:rPr lang="en-US" sz="1575" dirty="0">
                <a:solidFill>
                  <a:srgbClr val="7E868C"/>
                </a:solidFill>
                <a:latin typeface="Arial" pitchFamily="34" charset="0"/>
                <a:ea typeface="Arial" pitchFamily="34" charset="-122"/>
                <a:cs typeface="Arial" pitchFamily="34" charset="-120"/>
              </a:rPr>
              <a:t>Receipts, not vibes — scripts/orclaude-smoke &lt;slug&gt; reports the model actually billed.</a:t>
            </a:r>
            <a:endParaRPr lang="en-US" sz="1575" dirty="0"/>
          </a:p>
        </p:txBody>
      </p:sp>
      <p:sp>
        <p:nvSpPr>
          <p:cNvPr id="13" name="Shape 11"/>
          <p:cNvSpPr/>
          <p:nvPr/>
        </p:nvSpPr>
        <p:spPr>
          <a:xfrm>
            <a:off x="10287000" y="2786930"/>
            <a:ext cx="7048500" cy="4713138"/>
          </a:xfrm>
          <a:prstGeom prst="roundRect">
            <a:avLst>
              <a:gd name="adj" fmla="val 2425"/>
            </a:avLst>
          </a:prstGeom>
          <a:solidFill>
            <a:srgbClr val="15191D"/>
          </a:solidFill>
          <a:ln w="7937">
            <a:solidFill>
              <a:srgbClr val="2A3036"/>
            </a:solidFill>
            <a:prstDash val="solid"/>
          </a:ln>
          <a:effectLst>
            <a:outerShdw sx="100000" sy="100000" kx="0" ky="0" algn="bl" rotWithShape="0" blurRad="666750" dist="285750" dir="5400000">
              <a:srgbClr val="000000">
                <a:alpha val="50000"/>
              </a:srgbClr>
            </a:outerShdw>
          </a:effectLst>
        </p:spPr>
      </p:sp>
      <p:sp>
        <p:nvSpPr>
          <p:cNvPr id="14" name="Shape 12"/>
          <p:cNvSpPr/>
          <p:nvPr/>
        </p:nvSpPr>
        <p:spPr>
          <a:xfrm>
            <a:off x="10294937" y="2794868"/>
            <a:ext cx="7032625" cy="518914"/>
          </a:xfrm>
          <a:prstGeom prst="rect">
            <a:avLst/>
          </a:prstGeom>
          <a:solidFill>
            <a:srgbClr val="1B2025"/>
          </a:solidFill>
          <a:ln/>
        </p:spPr>
      </p:sp>
      <p:sp>
        <p:nvSpPr>
          <p:cNvPr id="15" name="Shape 13"/>
          <p:cNvSpPr/>
          <p:nvPr/>
        </p:nvSpPr>
        <p:spPr>
          <a:xfrm>
            <a:off x="10294937" y="3305845"/>
            <a:ext cx="7032625" cy="9525"/>
          </a:xfrm>
          <a:prstGeom prst="rect">
            <a:avLst/>
          </a:prstGeom>
          <a:solidFill>
            <a:srgbClr val="2A3036"/>
          </a:solidFill>
          <a:ln/>
        </p:spPr>
      </p:sp>
      <p:sp>
        <p:nvSpPr>
          <p:cNvPr id="16" name="Shape 14"/>
          <p:cNvSpPr/>
          <p:nvPr/>
        </p:nvSpPr>
        <p:spPr>
          <a:xfrm>
            <a:off x="10504412" y="2988469"/>
            <a:ext cx="123775" cy="123775"/>
          </a:xfrm>
          <a:prstGeom prst="ellipse">
            <a:avLst/>
          </a:prstGeom>
          <a:solidFill>
            <a:srgbClr val="ED6A5E"/>
          </a:solidFill>
          <a:ln/>
        </p:spPr>
      </p:sp>
      <p:sp>
        <p:nvSpPr>
          <p:cNvPr id="17" name="Shape 15"/>
          <p:cNvSpPr/>
          <p:nvPr/>
        </p:nvSpPr>
        <p:spPr>
          <a:xfrm>
            <a:off x="10713888" y="2988469"/>
            <a:ext cx="123775" cy="123775"/>
          </a:xfrm>
          <a:prstGeom prst="ellipse">
            <a:avLst/>
          </a:prstGeom>
          <a:solidFill>
            <a:srgbClr val="F4BF4F"/>
          </a:solidFill>
          <a:ln/>
        </p:spPr>
      </p:sp>
      <p:sp>
        <p:nvSpPr>
          <p:cNvPr id="18" name="Shape 16"/>
          <p:cNvSpPr/>
          <p:nvPr/>
        </p:nvSpPr>
        <p:spPr>
          <a:xfrm>
            <a:off x="10923363" y="2988469"/>
            <a:ext cx="123775" cy="123775"/>
          </a:xfrm>
          <a:prstGeom prst="ellipse">
            <a:avLst/>
          </a:prstGeom>
          <a:solidFill>
            <a:srgbClr val="61C554"/>
          </a:solidFill>
          <a:ln/>
        </p:spPr>
      </p:sp>
      <p:sp>
        <p:nvSpPr>
          <p:cNvPr id="19" name="Text 17"/>
          <p:cNvSpPr/>
          <p:nvPr/>
        </p:nvSpPr>
        <p:spPr>
          <a:xfrm>
            <a:off x="11247065" y="2947169"/>
            <a:ext cx="807814" cy="244475"/>
          </a:xfrm>
          <a:prstGeom prst="rect">
            <a:avLst/>
          </a:prstGeom>
          <a:noFill/>
          <a:ln/>
        </p:spPr>
        <p:txBody>
          <a:bodyPr wrap="square" lIns="25400" tIns="25400" rIns="25400" bIns="25400" rtlCol="0" anchor="t">
            <a:normAutofit/>
          </a:bodyPr>
          <a:lstStyle/>
          <a:p>
            <a:pPr algn="l" indent="0" marL="0">
              <a:buNone/>
            </a:pPr>
            <a:r>
              <a:rPr lang="en-US" sz="1200" dirty="0">
                <a:solidFill>
                  <a:srgbClr val="7E868C"/>
                </a:solidFill>
                <a:latin typeface="Courier New" pitchFamily="34" charset="0"/>
                <a:ea typeface="Courier New" pitchFamily="34" charset="-122"/>
                <a:cs typeface="Courier New" pitchFamily="34" charset="-120"/>
              </a:rPr>
              <a:t>orclaude</a:t>
            </a:r>
            <a:endParaRPr lang="en-US" sz="1200" dirty="0"/>
          </a:p>
        </p:txBody>
      </p:sp>
      <p:sp>
        <p:nvSpPr>
          <p:cNvPr id="20" name="Text 18"/>
          <p:cNvSpPr/>
          <p:nvPr/>
        </p:nvSpPr>
        <p:spPr>
          <a:xfrm>
            <a:off x="10599662" y="3599532"/>
            <a:ext cx="6615869" cy="394419"/>
          </a:xfrm>
          <a:prstGeom prst="rect">
            <a:avLst/>
          </a:prstGeom>
          <a:noFill/>
          <a:ln/>
        </p:spPr>
        <p:txBody>
          <a:bodyPr wrap="square" lIns="25400" tIns="25400" rIns="25400" bIns="25400" rtlCol="0" anchor="t">
            <a:normAutofit/>
          </a:bodyPr>
          <a:lstStyle/>
          <a:p>
            <a:pPr algn="l" indent="0" marL="0">
              <a:lnSpc>
                <a:spcPct val="170000"/>
              </a:lnSpc>
              <a:buNone/>
            </a:pPr>
            <a:r>
              <a:rPr lang="en-US" sz="1650" dirty="0">
                <a:solidFill>
                  <a:srgbClr val="5C656C"/>
                </a:solidFill>
                <a:latin typeface="Courier New" pitchFamily="34" charset="0"/>
                <a:ea typeface="Courier New" pitchFamily="34" charset="-122"/>
                <a:cs typeface="Courier New" pitchFamily="34" charset="-120"/>
              </a:rPr>
              <a:t>#!/usr/bin/env bash</a:t>
            </a:r>
            <a:endParaRPr lang="en-US" sz="1650" dirty="0"/>
          </a:p>
        </p:txBody>
      </p:sp>
      <p:sp>
        <p:nvSpPr>
          <p:cNvPr id="21" name="Text 19"/>
          <p:cNvSpPr/>
          <p:nvPr/>
        </p:nvSpPr>
        <p:spPr>
          <a:xfrm>
            <a:off x="10599662" y="4089177"/>
            <a:ext cx="6615869" cy="394419"/>
          </a:xfrm>
          <a:prstGeom prst="rect">
            <a:avLst/>
          </a:prstGeom>
          <a:noFill/>
          <a:ln/>
        </p:spPr>
        <p:txBody>
          <a:bodyPr wrap="square" lIns="25400" tIns="25400" rIns="25400" bIns="25400" rtlCol="0" anchor="t">
            <a:normAutofit/>
          </a:bodyPr>
          <a:lstStyle/>
          <a:p>
            <a:pPr algn="l" indent="0" marL="0">
              <a:lnSpc>
                <a:spcPct val="170000"/>
              </a:lnSpc>
              <a:buNone/>
            </a:pPr>
            <a:r>
              <a:rPr lang="en-US" sz="1650" dirty="0">
                <a:solidFill>
                  <a:srgbClr val="5C656C"/>
                </a:solidFill>
                <a:latin typeface="Courier New" pitchFamily="34" charset="0"/>
                <a:ea typeface="Courier New" pitchFamily="34" charset="-122"/>
                <a:cs typeface="Courier New" pitchFamily="34" charset="-120"/>
              </a:rPr>
              <a:t># point the harness at OpenRouter</a:t>
            </a:r>
            <a:endParaRPr lang="en-US" sz="1650" dirty="0"/>
          </a:p>
        </p:txBody>
      </p:sp>
      <p:sp>
        <p:nvSpPr>
          <p:cNvPr id="22" name="Text 20"/>
          <p:cNvSpPr/>
          <p:nvPr/>
        </p:nvSpPr>
        <p:spPr>
          <a:xfrm>
            <a:off x="10599662" y="4445496"/>
            <a:ext cx="6615869" cy="394419"/>
          </a:xfrm>
          <a:prstGeom prst="rect">
            <a:avLst/>
          </a:prstGeom>
          <a:noFill/>
          <a:ln/>
        </p:spPr>
        <p:txBody>
          <a:bodyPr wrap="square" lIns="25400" tIns="25400" rIns="25400" bIns="25400" rtlCol="0" anchor="t">
            <a:normAutofit/>
          </a:bodyPr>
          <a:lstStyle/>
          <a:p>
            <a:pPr algn="l" indent="0" marL="0">
              <a:lnSpc>
                <a:spcPct val="170000"/>
              </a:lnSpc>
              <a:buNone/>
            </a:pPr>
            <a:r>
              <a:rPr lang="en-US" sz="1650" dirty="0">
                <a:solidFill>
                  <a:srgbClr val="C98A6A"/>
                </a:solidFill>
                <a:latin typeface="Courier New" pitchFamily="34" charset="0"/>
                <a:ea typeface="Courier New" pitchFamily="34" charset="-122"/>
                <a:cs typeface="Courier New" pitchFamily="34" charset="-120"/>
              </a:rPr>
              <a:t xml:space="preserve">export </a:t>
            </a:r>
            <a:pPr algn="l" indent="0" marL="0">
              <a:lnSpc>
                <a:spcPct val="170000"/>
              </a:lnSpc>
              <a:buNone/>
            </a:pPr>
            <a:r>
              <a:rPr lang="en-US" sz="1650" dirty="0">
                <a:solidFill>
                  <a:srgbClr val="E8ECEF"/>
                </a:solidFill>
                <a:latin typeface="Courier New" pitchFamily="34" charset="0"/>
                <a:ea typeface="Courier New" pitchFamily="34" charset="-122"/>
                <a:cs typeface="Courier New" pitchFamily="34" charset="-120"/>
              </a:rPr>
              <a:t>ANTHROPIC_BASE_URL</a:t>
            </a:r>
            <a:pPr algn="l" indent="0" marL="0">
              <a:lnSpc>
                <a:spcPct val="170000"/>
              </a:lnSpc>
              <a:buNone/>
            </a:pPr>
            <a:r>
              <a:rPr lang="en-US" sz="1650" dirty="0">
                <a:solidFill>
                  <a:srgbClr val="C98A6A"/>
                </a:solidFill>
                <a:latin typeface="Courier New" pitchFamily="34" charset="0"/>
                <a:ea typeface="Courier New" pitchFamily="34" charset="-122"/>
                <a:cs typeface="Courier New" pitchFamily="34" charset="-120"/>
              </a:rPr>
              <a:t>=</a:t>
            </a:r>
            <a:pPr algn="l" indent="0" marL="0">
              <a:lnSpc>
                <a:spcPct val="170000"/>
              </a:lnSpc>
              <a:buNone/>
            </a:pPr>
            <a:r>
              <a:rPr lang="en-US" sz="1650" dirty="0">
                <a:solidFill>
                  <a:srgbClr val="8FD08A"/>
                </a:solidFill>
                <a:latin typeface="Courier New" pitchFamily="34" charset="0"/>
                <a:ea typeface="Courier New" pitchFamily="34" charset="-122"/>
                <a:cs typeface="Courier New" pitchFamily="34" charset="-120"/>
              </a:rPr>
              <a:t>openrouter.ai/api</a:t>
            </a:r>
            <a:endParaRPr lang="en-US" sz="1650" dirty="0"/>
          </a:p>
        </p:txBody>
      </p:sp>
      <p:sp>
        <p:nvSpPr>
          <p:cNvPr id="23" name="Text 21"/>
          <p:cNvSpPr/>
          <p:nvPr/>
        </p:nvSpPr>
        <p:spPr>
          <a:xfrm>
            <a:off x="10599662" y="4801815"/>
            <a:ext cx="6615869" cy="394419"/>
          </a:xfrm>
          <a:prstGeom prst="rect">
            <a:avLst/>
          </a:prstGeom>
          <a:noFill/>
          <a:ln/>
        </p:spPr>
        <p:txBody>
          <a:bodyPr wrap="square" lIns="25400" tIns="25400" rIns="25400" bIns="25400" rtlCol="0" anchor="t">
            <a:normAutofit/>
          </a:bodyPr>
          <a:lstStyle/>
          <a:p>
            <a:pPr algn="l" indent="0" marL="0">
              <a:lnSpc>
                <a:spcPct val="170000"/>
              </a:lnSpc>
              <a:buNone/>
            </a:pPr>
            <a:r>
              <a:rPr lang="en-US" sz="1650" dirty="0">
                <a:solidFill>
                  <a:srgbClr val="C98A6A"/>
                </a:solidFill>
                <a:latin typeface="Courier New" pitchFamily="34" charset="0"/>
                <a:ea typeface="Courier New" pitchFamily="34" charset="-122"/>
                <a:cs typeface="Courier New" pitchFamily="34" charset="-120"/>
              </a:rPr>
              <a:t xml:space="preserve">export </a:t>
            </a:r>
            <a:pPr algn="l" indent="0" marL="0">
              <a:lnSpc>
                <a:spcPct val="170000"/>
              </a:lnSpc>
              <a:buNone/>
            </a:pPr>
            <a:r>
              <a:rPr lang="en-US" sz="1650" dirty="0">
                <a:solidFill>
                  <a:srgbClr val="E8ECEF"/>
                </a:solidFill>
                <a:latin typeface="Courier New" pitchFamily="34" charset="0"/>
                <a:ea typeface="Courier New" pitchFamily="34" charset="-122"/>
                <a:cs typeface="Courier New" pitchFamily="34" charset="-120"/>
              </a:rPr>
              <a:t>ANTHROPIC_AUTH_TOKEN</a:t>
            </a:r>
            <a:pPr algn="l" indent="0" marL="0">
              <a:lnSpc>
                <a:spcPct val="170000"/>
              </a:lnSpc>
              <a:buNone/>
            </a:pPr>
            <a:r>
              <a:rPr lang="en-US" sz="1650" dirty="0">
                <a:solidFill>
                  <a:srgbClr val="C98A6A"/>
                </a:solidFill>
                <a:latin typeface="Courier New" pitchFamily="34" charset="0"/>
                <a:ea typeface="Courier New" pitchFamily="34" charset="-122"/>
                <a:cs typeface="Courier New" pitchFamily="34" charset="-120"/>
              </a:rPr>
              <a:t>=</a:t>
            </a:r>
            <a:pPr algn="l" indent="0" marL="0">
              <a:lnSpc>
                <a:spcPct val="170000"/>
              </a:lnSpc>
              <a:buNone/>
            </a:pPr>
            <a:r>
              <a:rPr lang="en-US" sz="1650" dirty="0">
                <a:solidFill>
                  <a:srgbClr val="8FD08A"/>
                </a:solidFill>
                <a:latin typeface="Courier New" pitchFamily="34" charset="0"/>
                <a:ea typeface="Courier New" pitchFamily="34" charset="-122"/>
                <a:cs typeface="Courier New" pitchFamily="34" charset="-120"/>
              </a:rPr>
              <a:t>$OPENROUTER_API_KEY</a:t>
            </a:r>
            <a:endParaRPr lang="en-US" sz="1650" dirty="0"/>
          </a:p>
        </p:txBody>
      </p:sp>
      <p:sp>
        <p:nvSpPr>
          <p:cNvPr id="24" name="Text 22"/>
          <p:cNvSpPr/>
          <p:nvPr/>
        </p:nvSpPr>
        <p:spPr>
          <a:xfrm>
            <a:off x="10599662" y="5291460"/>
            <a:ext cx="6615869" cy="394419"/>
          </a:xfrm>
          <a:prstGeom prst="rect">
            <a:avLst/>
          </a:prstGeom>
          <a:noFill/>
          <a:ln/>
        </p:spPr>
        <p:txBody>
          <a:bodyPr wrap="square" lIns="25400" tIns="25400" rIns="25400" bIns="25400" rtlCol="0" anchor="t">
            <a:normAutofit/>
          </a:bodyPr>
          <a:lstStyle/>
          <a:p>
            <a:pPr algn="l" indent="0" marL="0">
              <a:lnSpc>
                <a:spcPct val="170000"/>
              </a:lnSpc>
              <a:buNone/>
            </a:pPr>
            <a:r>
              <a:rPr lang="en-US" sz="1650" dirty="0">
                <a:solidFill>
                  <a:srgbClr val="5C656C"/>
                </a:solidFill>
                <a:latin typeface="Courier New" pitchFamily="34" charset="0"/>
                <a:ea typeface="Courier New" pitchFamily="34" charset="-122"/>
                <a:cs typeface="Courier New" pitchFamily="34" charset="-120"/>
              </a:rPr>
              <a:t># the model is just the first argument</a:t>
            </a:r>
            <a:endParaRPr lang="en-US" sz="1650" dirty="0"/>
          </a:p>
        </p:txBody>
      </p:sp>
      <p:sp>
        <p:nvSpPr>
          <p:cNvPr id="25" name="Text 23"/>
          <p:cNvSpPr/>
          <p:nvPr/>
        </p:nvSpPr>
        <p:spPr>
          <a:xfrm>
            <a:off x="10599662" y="5647779"/>
            <a:ext cx="6615869" cy="394419"/>
          </a:xfrm>
          <a:prstGeom prst="rect">
            <a:avLst/>
          </a:prstGeom>
          <a:noFill/>
          <a:ln/>
        </p:spPr>
        <p:txBody>
          <a:bodyPr wrap="square" lIns="25400" tIns="25400" rIns="25400" bIns="25400" rtlCol="0" anchor="t">
            <a:normAutofit/>
          </a:bodyPr>
          <a:lstStyle/>
          <a:p>
            <a:pPr algn="l" indent="0" marL="0">
              <a:lnSpc>
                <a:spcPct val="170000"/>
              </a:lnSpc>
              <a:buNone/>
            </a:pPr>
            <a:r>
              <a:rPr lang="en-US" sz="1650" dirty="0">
                <a:solidFill>
                  <a:srgbClr val="E8ECEF"/>
                </a:solidFill>
                <a:latin typeface="Courier New" pitchFamily="34" charset="0"/>
                <a:ea typeface="Courier New" pitchFamily="34" charset="-122"/>
                <a:cs typeface="Courier New" pitchFamily="34" charset="-120"/>
              </a:rPr>
              <a:t>MODEL</a:t>
            </a:r>
            <a:pPr algn="l" indent="0" marL="0">
              <a:lnSpc>
                <a:spcPct val="170000"/>
              </a:lnSpc>
              <a:buNone/>
            </a:pPr>
            <a:r>
              <a:rPr lang="en-US" sz="1650" dirty="0">
                <a:solidFill>
                  <a:srgbClr val="C98A6A"/>
                </a:solidFill>
                <a:latin typeface="Courier New" pitchFamily="34" charset="0"/>
                <a:ea typeface="Courier New" pitchFamily="34" charset="-122"/>
                <a:cs typeface="Courier New" pitchFamily="34" charset="-120"/>
              </a:rPr>
              <a:t>=</a:t>
            </a:r>
            <a:pPr algn="l" indent="0" marL="0">
              <a:lnSpc>
                <a:spcPct val="170000"/>
              </a:lnSpc>
              <a:buNone/>
            </a:pPr>
            <a:r>
              <a:rPr lang="en-US" sz="1650" dirty="0">
                <a:solidFill>
                  <a:srgbClr val="8FD08A"/>
                </a:solidFill>
                <a:latin typeface="Courier New" pitchFamily="34" charset="0"/>
                <a:ea typeface="Courier New" pitchFamily="34" charset="-122"/>
                <a:cs typeface="Courier New" pitchFamily="34" charset="-120"/>
              </a:rPr>
              <a:t>"$1"</a:t>
            </a:r>
            <a:r>
              <a:rPr lang="en-US" sz="1650" dirty="0">
                <a:solidFill>
                  <a:srgbClr val="7FB7D8"/>
                </a:solidFill>
                <a:latin typeface="Courier New" pitchFamily="34" charset="0"/>
                <a:ea typeface="Courier New" pitchFamily="34" charset="-122"/>
                <a:cs typeface="Courier New" pitchFamily="34" charset="-120"/>
              </a:rPr>
              <a:t>; shift</a:t>
            </a:r>
            <a:endParaRPr lang="en-US" sz="1650" dirty="0"/>
          </a:p>
        </p:txBody>
      </p:sp>
      <p:sp>
        <p:nvSpPr>
          <p:cNvPr id="26" name="Text 24"/>
          <p:cNvSpPr/>
          <p:nvPr/>
        </p:nvSpPr>
        <p:spPr>
          <a:xfrm>
            <a:off x="10599662" y="6004099"/>
            <a:ext cx="6615869" cy="394419"/>
          </a:xfrm>
          <a:prstGeom prst="rect">
            <a:avLst/>
          </a:prstGeom>
          <a:noFill/>
          <a:ln/>
        </p:spPr>
        <p:txBody>
          <a:bodyPr wrap="square" lIns="25400" tIns="25400" rIns="25400" bIns="25400" rtlCol="0" anchor="t">
            <a:normAutofit/>
          </a:bodyPr>
          <a:lstStyle/>
          <a:p>
            <a:pPr algn="l" indent="0" marL="0">
              <a:lnSpc>
                <a:spcPct val="170000"/>
              </a:lnSpc>
              <a:buNone/>
            </a:pPr>
            <a:r>
              <a:rPr lang="en-US" sz="1650" dirty="0">
                <a:solidFill>
                  <a:srgbClr val="C98A6A"/>
                </a:solidFill>
                <a:latin typeface="Courier New" pitchFamily="34" charset="0"/>
                <a:ea typeface="Courier New" pitchFamily="34" charset="-122"/>
                <a:cs typeface="Courier New" pitchFamily="34" charset="-120"/>
              </a:rPr>
              <a:t xml:space="preserve">export </a:t>
            </a:r>
            <a:r>
              <a:rPr lang="en-US" sz="1650" dirty="0">
                <a:solidFill>
                  <a:srgbClr val="E8ECEF"/>
                </a:solidFill>
                <a:latin typeface="Courier New" pitchFamily="34" charset="0"/>
                <a:ea typeface="Courier New" pitchFamily="34" charset="-122"/>
                <a:cs typeface="Courier New" pitchFamily="34" charset="-120"/>
              </a:rPr>
              <a:t>ANTHROPIC_DEFAULT_*_MODEL</a:t>
            </a:r>
            <a:r>
              <a:rPr lang="en-US" sz="1650" dirty="0">
                <a:solidFill>
                  <a:srgbClr val="C98A6A"/>
                </a:solidFill>
                <a:latin typeface="Courier New" pitchFamily="34" charset="0"/>
                <a:ea typeface="Courier New" pitchFamily="34" charset="-122"/>
                <a:cs typeface="Courier New" pitchFamily="34" charset="-120"/>
              </a:rPr>
              <a:t>=</a:t>
            </a:r>
            <a:r>
              <a:rPr lang="en-US" sz="1650" dirty="0">
                <a:solidFill>
                  <a:srgbClr val="8FD08A"/>
                </a:solidFill>
                <a:latin typeface="Courier New" pitchFamily="34" charset="0"/>
                <a:ea typeface="Courier New" pitchFamily="34" charset="-122"/>
                <a:cs typeface="Courier New" pitchFamily="34" charset="-120"/>
              </a:rPr>
              <a:t>"$MODEL"</a:t>
            </a:r>
            <a:endParaRPr lang="en-US" sz="1650" dirty="0"/>
          </a:p>
        </p:txBody>
      </p:sp>
      <p:sp>
        <p:nvSpPr>
          <p:cNvPr id="27" name="Text 25"/>
          <p:cNvSpPr/>
          <p:nvPr/>
        </p:nvSpPr>
        <p:spPr>
          <a:xfrm>
            <a:off x="10599662" y="6493743"/>
            <a:ext cx="6615869" cy="394419"/>
          </a:xfrm>
          <a:prstGeom prst="rect">
            <a:avLst/>
          </a:prstGeom>
          <a:noFill/>
          <a:ln/>
        </p:spPr>
        <p:txBody>
          <a:bodyPr wrap="square" lIns="25400" tIns="25400" rIns="25400" bIns="25400" rtlCol="0" anchor="t">
            <a:normAutofit/>
          </a:bodyPr>
          <a:lstStyle/>
          <a:p>
            <a:pPr algn="l" indent="0" marL="0">
              <a:lnSpc>
                <a:spcPct val="170000"/>
              </a:lnSpc>
              <a:buNone/>
            </a:pPr>
            <a:r>
              <a:rPr lang="en-US" sz="1650" dirty="0">
                <a:solidFill>
                  <a:srgbClr val="5C656C"/>
                </a:solidFill>
                <a:latin typeface="Courier New" pitchFamily="34" charset="0"/>
                <a:ea typeface="Courier New" pitchFamily="34" charset="-122"/>
                <a:cs typeface="Courier New" pitchFamily="34" charset="-120"/>
              </a:rPr>
              <a:t># hand off — the flag outranks settings.json</a:t>
            </a:r>
            <a:endParaRPr lang="en-US" sz="1650" dirty="0"/>
          </a:p>
        </p:txBody>
      </p:sp>
      <p:sp>
        <p:nvSpPr>
          <p:cNvPr id="28" name="Text 26"/>
          <p:cNvSpPr/>
          <p:nvPr/>
        </p:nvSpPr>
        <p:spPr>
          <a:xfrm>
            <a:off x="10599662" y="6850062"/>
            <a:ext cx="6615869" cy="394419"/>
          </a:xfrm>
          <a:prstGeom prst="rect">
            <a:avLst/>
          </a:prstGeom>
          <a:noFill/>
          <a:ln/>
        </p:spPr>
        <p:txBody>
          <a:bodyPr wrap="square" lIns="25400" tIns="25400" rIns="25400" bIns="25400" rtlCol="0" anchor="t">
            <a:normAutofit/>
          </a:bodyPr>
          <a:lstStyle/>
          <a:p>
            <a:pPr algn="l" indent="0" marL="0">
              <a:lnSpc>
                <a:spcPct val="170000"/>
              </a:lnSpc>
              <a:buNone/>
            </a:pPr>
            <a:r>
              <a:rPr lang="en-US" sz="1650" dirty="0">
                <a:solidFill>
                  <a:srgbClr val="E8ECEF"/>
                </a:solidFill>
                <a:latin typeface="Courier New" pitchFamily="34" charset="0"/>
                <a:ea typeface="Courier New" pitchFamily="34" charset="-122"/>
                <a:cs typeface="Courier New" pitchFamily="34" charset="-120"/>
              </a:rPr>
              <a:t xml:space="preserve">exec claude </a:t>
            </a:r>
            <a:r>
              <a:rPr lang="en-US" sz="1650" dirty="0">
                <a:solidFill>
                  <a:srgbClr val="7FB7D8"/>
                </a:solidFill>
                <a:latin typeface="Courier New" pitchFamily="34" charset="0"/>
                <a:ea typeface="Courier New" pitchFamily="34" charset="-122"/>
                <a:cs typeface="Courier New" pitchFamily="34" charset="-120"/>
              </a:rPr>
              <a:t xml:space="preserve">--model </a:t>
            </a:r>
            <a:pPr algn="l" indent="0" marL="0">
              <a:lnSpc>
                <a:spcPct val="170000"/>
              </a:lnSpc>
              <a:buNone/>
            </a:pPr>
            <a:r>
              <a:rPr lang="en-US" sz="1650" dirty="0">
                <a:solidFill>
                  <a:srgbClr val="8FD08A"/>
                </a:solidFill>
                <a:latin typeface="Courier New" pitchFamily="34" charset="0"/>
                <a:ea typeface="Courier New" pitchFamily="34" charset="-122"/>
                <a:cs typeface="Courier New" pitchFamily="34" charset="-120"/>
              </a:rPr>
              <a:t>"$MODEL" "$@"</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4"/>
        </a:solidFill>
      </p:bgPr>
    </p:bg>
    <p:spTree>
      <p:nvGrpSpPr>
        <p:cNvPr id="1" name=""/>
        <p:cNvGrpSpPr/>
        <p:nvPr/>
      </p:nvGrpSpPr>
      <p:grpSpPr>
        <a:xfrm>
          <a:off x="0" y="0"/>
          <a:ext cx="0" cy="0"/>
          <a:chOff x="0" y="0"/>
          <a:chExt cx="0" cy="0"/>
        </a:xfrm>
      </p:grpSpPr>
      <p:sp>
        <p:nvSpPr>
          <p:cNvPr id="2" name="Shape 0"/>
          <p:cNvSpPr/>
          <p:nvPr/>
        </p:nvSpPr>
        <p:spPr>
          <a:xfrm>
            <a:off x="952500" y="2772420"/>
            <a:ext cx="323825" cy="28525"/>
          </a:xfrm>
          <a:prstGeom prst="rect">
            <a:avLst/>
          </a:prstGeom>
          <a:solidFill>
            <a:srgbClr val="4FB0CE"/>
          </a:solidFill>
          <a:ln/>
        </p:spPr>
      </p:sp>
      <p:sp>
        <p:nvSpPr>
          <p:cNvPr id="3" name="Text 1"/>
          <p:cNvSpPr/>
          <p:nvPr/>
        </p:nvSpPr>
        <p:spPr>
          <a:xfrm>
            <a:off x="1409650" y="2623964"/>
            <a:ext cx="5590046" cy="363537"/>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6AAEC3"/>
                </a:solidFill>
                <a:latin typeface="Courier New" pitchFamily="34" charset="0"/>
                <a:ea typeface="Courier New" pitchFamily="34" charset="-122"/>
                <a:cs typeface="Courier New" pitchFamily="34" charset="-120"/>
              </a:rPr>
              <a:t>DON’T LIKE WRAPPER SCRIPTS?</a:t>
            </a:r>
            <a:endParaRPr lang="en-US" sz="1950" dirty="0"/>
          </a:p>
        </p:txBody>
      </p:sp>
      <p:sp>
        <p:nvSpPr>
          <p:cNvPr id="4" name="Text 2"/>
          <p:cNvSpPr/>
          <p:nvPr/>
        </p:nvSpPr>
        <p:spPr>
          <a:xfrm>
            <a:off x="952500" y="3158877"/>
            <a:ext cx="9597417" cy="618034"/>
          </a:xfrm>
          <a:prstGeom prst="rect">
            <a:avLst/>
          </a:prstGeom>
          <a:noFill/>
          <a:ln/>
        </p:spPr>
        <p:txBody>
          <a:bodyPr wrap="square" lIns="25400" tIns="25400" rIns="25400" bIns="25400" rtlCol="0" anchor="t">
            <a:normAutofit/>
          </a:bodyPr>
          <a:lstStyle/>
          <a:p>
            <a:pPr algn="l" indent="0" marL="0">
              <a:lnSpc>
                <a:spcPct val="105000"/>
              </a:lnSpc>
              <a:buNone/>
            </a:pPr>
            <a:r>
              <a:rPr lang="en-US" sz="4350" b="1" spc="-130" kern="0" dirty="0">
                <a:solidFill>
                  <a:srgbClr val="FFFFFF"/>
                </a:solidFill>
                <a:latin typeface="Arial" pitchFamily="34" charset="0"/>
                <a:ea typeface="Arial" pitchFamily="34" charset="-122"/>
                <a:cs typeface="Arial" pitchFamily="34" charset="-120"/>
              </a:rPr>
              <a:t>Set it in a file instead</a:t>
            </a:r>
            <a:endParaRPr lang="en-US" sz="4350" dirty="0"/>
          </a:p>
        </p:txBody>
      </p:sp>
      <p:sp>
        <p:nvSpPr>
          <p:cNvPr id="5" name="Text 3"/>
          <p:cNvSpPr/>
          <p:nvPr/>
        </p:nvSpPr>
        <p:spPr>
          <a:xfrm>
            <a:off x="952500" y="4024560"/>
            <a:ext cx="294605" cy="380901"/>
          </a:xfrm>
          <a:prstGeom prst="rect">
            <a:avLst/>
          </a:prstGeom>
          <a:noFill/>
          <a:ln/>
        </p:spPr>
        <p:txBody>
          <a:bodyPr wrap="square" lIns="25400" tIns="25400" rIns="25400" bIns="25400" rtlCol="0" anchor="t">
            <a:normAutofit/>
          </a:bodyPr>
          <a:lstStyle/>
          <a:p>
            <a:pPr algn="l" indent="0" marL="0">
              <a:lnSpc>
                <a:spcPct val="120000"/>
              </a:lnSpc>
              <a:buNone/>
            </a:pPr>
            <a:r>
              <a:rPr lang="en-US" sz="2250" dirty="0">
                <a:solidFill>
                  <a:srgbClr val="4FB0CE"/>
                </a:solidFill>
                <a:latin typeface="Arial" pitchFamily="34" charset="0"/>
                <a:ea typeface="Arial" pitchFamily="34" charset="-122"/>
                <a:cs typeface="Arial" pitchFamily="34" charset="-120"/>
              </a:rPr>
              <a:t>✓</a:t>
            </a:r>
            <a:endParaRPr lang="en-US" sz="2250" dirty="0"/>
          </a:p>
        </p:txBody>
      </p:sp>
      <p:sp>
        <p:nvSpPr>
          <p:cNvPr id="6" name="Text 4"/>
          <p:cNvSpPr/>
          <p:nvPr/>
        </p:nvSpPr>
        <p:spPr>
          <a:xfrm>
            <a:off x="1342306" y="4024560"/>
            <a:ext cx="8585173" cy="802580"/>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CFD4D8"/>
                </a:solidFill>
                <a:latin typeface="Arial" pitchFamily="34" charset="0"/>
                <a:ea typeface="Arial" pitchFamily="34" charset="-122"/>
                <a:cs typeface="Arial" pitchFamily="34" charset="-120"/>
              </a:rPr>
              <a:t xml:space="preserve">Claude Code reads the same three variables from an </a:t>
            </a:r>
            <a:pPr algn="l" indent="0" marL="0">
              <a:lnSpc>
                <a:spcPct val="140000"/>
              </a:lnSpc>
              <a:buNone/>
            </a:pPr>
            <a:r>
              <a:rPr lang="en-US" sz="1875" dirty="0">
                <a:solidFill>
                  <a:srgbClr val="E8ECEF"/>
                </a:solidFill>
                <a:latin typeface="Courier New" pitchFamily="34" charset="0"/>
                <a:ea typeface="Courier New" pitchFamily="34" charset="-122"/>
                <a:cs typeface="Courier New" pitchFamily="34" charset="-120"/>
              </a:rPr>
              <a:t xml:space="preserve">env </a:t>
            </a:r>
            <a:pPr algn="l" indent="0" marL="0">
              <a:lnSpc>
                <a:spcPct val="140000"/>
              </a:lnSpc>
              <a:buNone/>
            </a:pPr>
            <a:r>
              <a:rPr lang="en-US" sz="2100" dirty="0">
                <a:solidFill>
                  <a:srgbClr val="CFD4D8"/>
                </a:solidFill>
                <a:latin typeface="Arial" pitchFamily="34" charset="0"/>
                <a:ea typeface="Arial" pitchFamily="34" charset="-122"/>
                <a:cs typeface="Arial" pitchFamily="34" charset="-120"/>
              </a:rPr>
              <a:t xml:space="preserve">block in </a:t>
            </a:r>
            <a:pPr algn="l" indent="0" marL="0">
              <a:lnSpc>
                <a:spcPct val="140000"/>
              </a:lnSpc>
              <a:buNone/>
            </a:pPr>
            <a:r>
              <a:rPr lang="en-US" sz="1800" dirty="0">
                <a:solidFill>
                  <a:srgbClr val="E8ECEF"/>
                </a:solidFill>
                <a:latin typeface="Courier New" pitchFamily="34" charset="0"/>
                <a:ea typeface="Courier New" pitchFamily="34" charset="-122"/>
                <a:cs typeface="Courier New" pitchFamily="34" charset="-120"/>
              </a:rPr>
              <a:t>.claude/settings.local.json</a:t>
            </a:r>
            <a:pPr algn="l" indent="0" marL="0">
              <a:lnSpc>
                <a:spcPct val="140000"/>
              </a:lnSpc>
              <a:buNone/>
            </a:pPr>
            <a:r>
              <a:rPr lang="en-US" sz="2100" dirty="0">
                <a:solidFill>
                  <a:srgbClr val="CFD4D8"/>
                </a:solidFill>
                <a:latin typeface="Arial" pitchFamily="34" charset="0"/>
                <a:ea typeface="Arial" pitchFamily="34" charset="-122"/>
                <a:cs typeface="Arial" pitchFamily="34" charset="-120"/>
              </a:rPr>
              <a:t>.</a:t>
            </a:r>
            <a:endParaRPr lang="en-US" sz="2100" dirty="0"/>
          </a:p>
        </p:txBody>
      </p:sp>
      <p:sp>
        <p:nvSpPr>
          <p:cNvPr id="7" name="Text 5"/>
          <p:cNvSpPr/>
          <p:nvPr/>
        </p:nvSpPr>
        <p:spPr>
          <a:xfrm>
            <a:off x="952500" y="5017616"/>
            <a:ext cx="294605" cy="380901"/>
          </a:xfrm>
          <a:prstGeom prst="rect">
            <a:avLst/>
          </a:prstGeom>
          <a:noFill/>
          <a:ln/>
        </p:spPr>
        <p:txBody>
          <a:bodyPr wrap="square" lIns="25400" tIns="25400" rIns="25400" bIns="25400" rtlCol="0" anchor="t">
            <a:normAutofit/>
          </a:bodyPr>
          <a:lstStyle/>
          <a:p>
            <a:pPr algn="l" indent="0" marL="0">
              <a:lnSpc>
                <a:spcPct val="120000"/>
              </a:lnSpc>
              <a:buNone/>
            </a:pPr>
            <a:r>
              <a:rPr lang="en-US" sz="2250" dirty="0">
                <a:solidFill>
                  <a:srgbClr val="4FB0CE"/>
                </a:solidFill>
                <a:latin typeface="Arial" pitchFamily="34" charset="0"/>
                <a:ea typeface="Arial" pitchFamily="34" charset="-122"/>
                <a:cs typeface="Arial" pitchFamily="34" charset="-120"/>
              </a:rPr>
              <a:t>✓</a:t>
            </a:r>
            <a:endParaRPr lang="en-US" sz="2250" dirty="0"/>
          </a:p>
        </p:txBody>
      </p:sp>
      <p:sp>
        <p:nvSpPr>
          <p:cNvPr id="8" name="Text 6"/>
          <p:cNvSpPr/>
          <p:nvPr/>
        </p:nvSpPr>
        <p:spPr>
          <a:xfrm>
            <a:off x="1342306" y="5017616"/>
            <a:ext cx="8585173" cy="792410"/>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CFD4D8"/>
                </a:solidFill>
                <a:latin typeface="Arial" pitchFamily="34" charset="0"/>
                <a:ea typeface="Arial" pitchFamily="34" charset="-122"/>
                <a:cs typeface="Arial" pitchFamily="34" charset="-120"/>
              </a:rPr>
              <a:t xml:space="preserve">The </a:t>
            </a:r>
            <a:pPr algn="l" indent="0" marL="0">
              <a:lnSpc>
                <a:spcPct val="140000"/>
              </a:lnSpc>
              <a:buNone/>
            </a:pPr>
            <a:r>
              <a:rPr lang="en-US" sz="1875" dirty="0">
                <a:solidFill>
                  <a:srgbClr val="4FB0CE"/>
                </a:solidFill>
                <a:latin typeface="Courier New" pitchFamily="34" charset="0"/>
                <a:ea typeface="Courier New" pitchFamily="34" charset="-122"/>
                <a:cs typeface="Courier New" pitchFamily="34" charset="-120"/>
              </a:rPr>
              <a:t xml:space="preserve">.local </a:t>
            </a:r>
            <a:pPr algn="l" indent="0" marL="0">
              <a:lnSpc>
                <a:spcPct val="140000"/>
              </a:lnSpc>
              <a:buNone/>
            </a:pPr>
            <a:r>
              <a:rPr lang="en-US" sz="2100" dirty="0">
                <a:solidFill>
                  <a:srgbClr val="CFD4D8"/>
                </a:solidFill>
                <a:latin typeface="Arial" pitchFamily="34" charset="0"/>
                <a:ea typeface="Arial" pitchFamily="34" charset="-122"/>
                <a:cs typeface="Arial" pitchFamily="34" charset="-120"/>
              </a:rPr>
              <a:t>file is git-ignored — your OpenRouter key never lands in version control.</a:t>
            </a:r>
            <a:endParaRPr lang="en-US" sz="2100" dirty="0"/>
          </a:p>
        </p:txBody>
      </p:sp>
      <p:sp>
        <p:nvSpPr>
          <p:cNvPr id="9" name="Text 7"/>
          <p:cNvSpPr/>
          <p:nvPr/>
        </p:nvSpPr>
        <p:spPr>
          <a:xfrm>
            <a:off x="952500" y="6000502"/>
            <a:ext cx="294605" cy="380901"/>
          </a:xfrm>
          <a:prstGeom prst="rect">
            <a:avLst/>
          </a:prstGeom>
          <a:noFill/>
          <a:ln/>
        </p:spPr>
        <p:txBody>
          <a:bodyPr wrap="square" lIns="25400" tIns="25400" rIns="25400" bIns="25400" rtlCol="0" anchor="t">
            <a:normAutofit/>
          </a:bodyPr>
          <a:lstStyle/>
          <a:p>
            <a:pPr algn="l" indent="0" marL="0">
              <a:lnSpc>
                <a:spcPct val="120000"/>
              </a:lnSpc>
              <a:buNone/>
            </a:pPr>
            <a:r>
              <a:rPr lang="en-US" sz="2250" dirty="0">
                <a:solidFill>
                  <a:srgbClr val="4FB0CE"/>
                </a:solidFill>
                <a:latin typeface="Arial" pitchFamily="34" charset="0"/>
                <a:ea typeface="Arial" pitchFamily="34" charset="-122"/>
                <a:cs typeface="Arial" pitchFamily="34" charset="-120"/>
              </a:rPr>
              <a:t>✓</a:t>
            </a:r>
            <a:endParaRPr lang="en-US" sz="2250" dirty="0"/>
          </a:p>
        </p:txBody>
      </p:sp>
      <p:sp>
        <p:nvSpPr>
          <p:cNvPr id="10" name="Text 8"/>
          <p:cNvSpPr/>
          <p:nvPr/>
        </p:nvSpPr>
        <p:spPr>
          <a:xfrm>
            <a:off x="1342306" y="6000502"/>
            <a:ext cx="8585173" cy="78472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CFD4D8"/>
                </a:solidFill>
                <a:latin typeface="Arial" pitchFamily="34" charset="0"/>
                <a:ea typeface="Arial" pitchFamily="34" charset="-122"/>
                <a:cs typeface="Arial" pitchFamily="34" charset="-120"/>
              </a:rPr>
              <a:t>Persistent and per-project, instead of per-command. A template ships in the example repo.</a:t>
            </a:r>
            <a:endParaRPr lang="en-US" sz="2100" dirty="0"/>
          </a:p>
        </p:txBody>
      </p:sp>
      <p:sp>
        <p:nvSpPr>
          <p:cNvPr id="11" name="Shape 9"/>
          <p:cNvSpPr/>
          <p:nvPr/>
        </p:nvSpPr>
        <p:spPr>
          <a:xfrm>
            <a:off x="952500" y="7070948"/>
            <a:ext cx="15875" cy="591964"/>
          </a:xfrm>
          <a:prstGeom prst="rect">
            <a:avLst/>
          </a:prstGeom>
          <a:solidFill>
            <a:srgbClr val="2E8BA8"/>
          </a:solidFill>
          <a:ln/>
        </p:spPr>
      </p:sp>
      <p:sp>
        <p:nvSpPr>
          <p:cNvPr id="12" name="Text 10"/>
          <p:cNvSpPr/>
          <p:nvPr/>
        </p:nvSpPr>
        <p:spPr>
          <a:xfrm>
            <a:off x="1139825" y="7070948"/>
            <a:ext cx="8799347" cy="630064"/>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9AA1A7"/>
                </a:solidFill>
                <a:latin typeface="Courier New" pitchFamily="34" charset="0"/>
                <a:ea typeface="Courier New" pitchFamily="34" charset="-122"/>
                <a:cs typeface="Courier New" pitchFamily="34" charset="-120"/>
              </a:rPr>
              <a:t xml:space="preserve">ANTHROPIC_* </a:t>
            </a:r>
            <a:pPr algn="l" indent="0" marL="0">
              <a:lnSpc>
                <a:spcPct val="145000"/>
              </a:lnSpc>
              <a:buNone/>
            </a:pPr>
            <a:r>
              <a:rPr lang="en-US" sz="1575" dirty="0">
                <a:solidFill>
                  <a:srgbClr val="7E868C"/>
                </a:solidFill>
                <a:latin typeface="Arial" pitchFamily="34" charset="0"/>
                <a:ea typeface="Arial" pitchFamily="34" charset="-122"/>
                <a:cs typeface="Arial" pitchFamily="34" charset="-120"/>
              </a:rPr>
              <a:t xml:space="preserve">is just the variable name Claude Code reads — the value is your </a:t>
            </a:r>
            <a:pPr algn="l" indent="0" marL="0">
              <a:lnSpc>
                <a:spcPct val="145000"/>
              </a:lnSpc>
              <a:buNone/>
            </a:pPr>
            <a:r>
              <a:rPr lang="en-US" sz="1575" dirty="0">
                <a:solidFill>
                  <a:srgbClr val="9AA1A7"/>
                </a:solidFill>
                <a:latin typeface="Arial" pitchFamily="34" charset="0"/>
                <a:ea typeface="Arial" pitchFamily="34" charset="-122"/>
                <a:cs typeface="Arial" pitchFamily="34" charset="-120"/>
              </a:rPr>
              <a:t xml:space="preserve">OpenRouter </a:t>
            </a:r>
            <a:pPr algn="l" indent="0" marL="0">
              <a:lnSpc>
                <a:spcPct val="145000"/>
              </a:lnSpc>
              <a:buNone/>
            </a:pPr>
            <a:r>
              <a:rPr lang="en-US" sz="1575" dirty="0">
                <a:solidFill>
                  <a:srgbClr val="7E868C"/>
                </a:solidFill>
                <a:latin typeface="Arial" pitchFamily="34" charset="0"/>
                <a:ea typeface="Arial" pitchFamily="34" charset="-122"/>
                <a:cs typeface="Arial" pitchFamily="34" charset="-120"/>
              </a:rPr>
              <a:t>key. No Anthropic account needed.</a:t>
            </a:r>
            <a:endParaRPr lang="en-US" sz="1575" dirty="0"/>
          </a:p>
        </p:txBody>
      </p:sp>
      <p:sp>
        <p:nvSpPr>
          <p:cNvPr id="13" name="Shape 11"/>
          <p:cNvSpPr/>
          <p:nvPr/>
        </p:nvSpPr>
        <p:spPr>
          <a:xfrm>
            <a:off x="10287000" y="3343176"/>
            <a:ext cx="7048500" cy="3600524"/>
          </a:xfrm>
          <a:prstGeom prst="roundRect">
            <a:avLst>
              <a:gd name="adj" fmla="val 3175"/>
            </a:avLst>
          </a:prstGeom>
          <a:solidFill>
            <a:srgbClr val="15191D"/>
          </a:solidFill>
          <a:ln w="7937">
            <a:solidFill>
              <a:srgbClr val="2A3036"/>
            </a:solidFill>
            <a:prstDash val="solid"/>
          </a:ln>
          <a:effectLst>
            <a:outerShdw sx="100000" sy="100000" kx="0" ky="0" algn="bl" rotWithShape="0" blurRad="666750" dist="285750" dir="5400000">
              <a:srgbClr val="000000">
                <a:alpha val="50000"/>
              </a:srgbClr>
            </a:outerShdw>
          </a:effectLst>
        </p:spPr>
      </p:sp>
      <p:sp>
        <p:nvSpPr>
          <p:cNvPr id="14" name="Shape 12"/>
          <p:cNvSpPr/>
          <p:nvPr/>
        </p:nvSpPr>
        <p:spPr>
          <a:xfrm>
            <a:off x="10294937" y="3351113"/>
            <a:ext cx="7032625" cy="518914"/>
          </a:xfrm>
          <a:prstGeom prst="rect">
            <a:avLst/>
          </a:prstGeom>
          <a:solidFill>
            <a:srgbClr val="1B2025"/>
          </a:solidFill>
          <a:ln/>
        </p:spPr>
      </p:sp>
      <p:sp>
        <p:nvSpPr>
          <p:cNvPr id="15" name="Shape 13"/>
          <p:cNvSpPr/>
          <p:nvPr/>
        </p:nvSpPr>
        <p:spPr>
          <a:xfrm>
            <a:off x="10294937" y="3862090"/>
            <a:ext cx="7032625" cy="9525"/>
          </a:xfrm>
          <a:prstGeom prst="rect">
            <a:avLst/>
          </a:prstGeom>
          <a:solidFill>
            <a:srgbClr val="2A3036"/>
          </a:solidFill>
          <a:ln/>
        </p:spPr>
      </p:sp>
      <p:sp>
        <p:nvSpPr>
          <p:cNvPr id="16" name="Shape 14"/>
          <p:cNvSpPr/>
          <p:nvPr/>
        </p:nvSpPr>
        <p:spPr>
          <a:xfrm>
            <a:off x="10504412" y="3544714"/>
            <a:ext cx="123775" cy="123775"/>
          </a:xfrm>
          <a:prstGeom prst="ellipse">
            <a:avLst/>
          </a:prstGeom>
          <a:solidFill>
            <a:srgbClr val="ED6A5E"/>
          </a:solidFill>
          <a:ln/>
        </p:spPr>
      </p:sp>
      <p:sp>
        <p:nvSpPr>
          <p:cNvPr id="17" name="Shape 15"/>
          <p:cNvSpPr/>
          <p:nvPr/>
        </p:nvSpPr>
        <p:spPr>
          <a:xfrm>
            <a:off x="10713888" y="3544714"/>
            <a:ext cx="123775" cy="123775"/>
          </a:xfrm>
          <a:prstGeom prst="ellipse">
            <a:avLst/>
          </a:prstGeom>
          <a:solidFill>
            <a:srgbClr val="F4BF4F"/>
          </a:solidFill>
          <a:ln/>
        </p:spPr>
      </p:sp>
      <p:sp>
        <p:nvSpPr>
          <p:cNvPr id="18" name="Shape 16"/>
          <p:cNvSpPr/>
          <p:nvPr/>
        </p:nvSpPr>
        <p:spPr>
          <a:xfrm>
            <a:off x="10923363" y="3544714"/>
            <a:ext cx="123775" cy="123775"/>
          </a:xfrm>
          <a:prstGeom prst="ellipse">
            <a:avLst/>
          </a:prstGeom>
          <a:solidFill>
            <a:srgbClr val="61C554"/>
          </a:solidFill>
          <a:ln/>
        </p:spPr>
      </p:sp>
      <p:sp>
        <p:nvSpPr>
          <p:cNvPr id="19" name="Text 17"/>
          <p:cNvSpPr/>
          <p:nvPr/>
        </p:nvSpPr>
        <p:spPr>
          <a:xfrm>
            <a:off x="11247065" y="3503414"/>
            <a:ext cx="2715828" cy="244475"/>
          </a:xfrm>
          <a:prstGeom prst="rect">
            <a:avLst/>
          </a:prstGeom>
          <a:noFill/>
          <a:ln/>
        </p:spPr>
        <p:txBody>
          <a:bodyPr wrap="square" lIns="25400" tIns="25400" rIns="25400" bIns="25400" rtlCol="0" anchor="t">
            <a:normAutofit/>
          </a:bodyPr>
          <a:lstStyle/>
          <a:p>
            <a:pPr algn="l" indent="0" marL="0">
              <a:buNone/>
            </a:pPr>
            <a:r>
              <a:rPr lang="en-US" sz="1200" dirty="0">
                <a:solidFill>
                  <a:srgbClr val="7E868C"/>
                </a:solidFill>
                <a:latin typeface="Courier New" pitchFamily="34" charset="0"/>
                <a:ea typeface="Courier New" pitchFamily="34" charset="-122"/>
                <a:cs typeface="Courier New" pitchFamily="34" charset="-120"/>
              </a:rPr>
              <a:t>.claude/settings.local.json</a:t>
            </a:r>
            <a:endParaRPr lang="en-US" sz="1200" dirty="0"/>
          </a:p>
        </p:txBody>
      </p:sp>
      <p:sp>
        <p:nvSpPr>
          <p:cNvPr id="20" name="Text 18"/>
          <p:cNvSpPr/>
          <p:nvPr/>
        </p:nvSpPr>
        <p:spPr>
          <a:xfrm>
            <a:off x="10599662" y="4155777"/>
            <a:ext cx="6615869" cy="394419"/>
          </a:xfrm>
          <a:prstGeom prst="rect">
            <a:avLst/>
          </a:prstGeom>
          <a:noFill/>
          <a:ln/>
        </p:spPr>
        <p:txBody>
          <a:bodyPr wrap="square" lIns="25400" tIns="25400" rIns="25400" bIns="25400" rtlCol="0" anchor="t">
            <a:normAutofit/>
          </a:bodyPr>
          <a:lstStyle/>
          <a:p>
            <a:pPr algn="l" indent="0" marL="0">
              <a:lnSpc>
                <a:spcPct val="170000"/>
              </a:lnSpc>
              <a:buNone/>
            </a:pPr>
            <a:r>
              <a:rPr lang="en-US" sz="1650" dirty="0">
                <a:solidFill>
                  <a:srgbClr val="9AA1A7"/>
                </a:solidFill>
                <a:latin typeface="Courier New" pitchFamily="34" charset="0"/>
                <a:ea typeface="Courier New" pitchFamily="34" charset="-122"/>
                <a:cs typeface="Courier New" pitchFamily="34" charset="-120"/>
              </a:rPr>
              <a:t>{</a:t>
            </a:r>
            <a:endParaRPr lang="en-US" sz="1650" dirty="0"/>
          </a:p>
        </p:txBody>
      </p:sp>
      <p:sp>
        <p:nvSpPr>
          <p:cNvPr id="21" name="Text 19"/>
          <p:cNvSpPr/>
          <p:nvPr/>
        </p:nvSpPr>
        <p:spPr>
          <a:xfrm>
            <a:off x="10599662" y="4512097"/>
            <a:ext cx="6615869" cy="394419"/>
          </a:xfrm>
          <a:prstGeom prst="rect">
            <a:avLst/>
          </a:prstGeom>
          <a:noFill/>
          <a:ln/>
        </p:spPr>
        <p:txBody>
          <a:bodyPr wrap="square" lIns="25400" tIns="25400" rIns="25400" bIns="25400" rtlCol="0" anchor="t">
            <a:normAutofit/>
          </a:bodyPr>
          <a:lstStyle/>
          <a:p>
            <a:pPr algn="l" indent="0" marL="0">
              <a:lnSpc>
                <a:spcPct val="170000"/>
              </a:lnSpc>
              <a:buNone/>
            </a:pPr>
            <a:r>
              <a:rPr lang="en-US" sz="1650" dirty="0">
                <a:solidFill>
                  <a:srgbClr val="7FB7D8"/>
                </a:solidFill>
                <a:latin typeface="Courier New" pitchFamily="34" charset="0"/>
                <a:ea typeface="Courier New" pitchFamily="34" charset="-122"/>
                <a:cs typeface="Courier New" pitchFamily="34" charset="-120"/>
              </a:rPr>
              <a:t>"env"</a:t>
            </a:r>
            <a:pPr algn="l" indent="0" marL="0">
              <a:lnSpc>
                <a:spcPct val="170000"/>
              </a:lnSpc>
              <a:buNone/>
            </a:pPr>
            <a:r>
              <a:rPr lang="en-US" sz="1650" dirty="0">
                <a:solidFill>
                  <a:srgbClr val="9AA1A7"/>
                </a:solidFill>
                <a:latin typeface="Courier New" pitchFamily="34" charset="0"/>
                <a:ea typeface="Courier New" pitchFamily="34" charset="-122"/>
                <a:cs typeface="Courier New" pitchFamily="34" charset="-120"/>
              </a:rPr>
              <a:t>: {</a:t>
            </a:r>
            <a:endParaRPr lang="en-US" sz="1650" dirty="0"/>
          </a:p>
        </p:txBody>
      </p:sp>
      <p:sp>
        <p:nvSpPr>
          <p:cNvPr id="22" name="Text 20"/>
          <p:cNvSpPr/>
          <p:nvPr/>
        </p:nvSpPr>
        <p:spPr>
          <a:xfrm>
            <a:off x="10599662" y="4868416"/>
            <a:ext cx="6615869" cy="394419"/>
          </a:xfrm>
          <a:prstGeom prst="rect">
            <a:avLst/>
          </a:prstGeom>
          <a:noFill/>
          <a:ln/>
        </p:spPr>
        <p:txBody>
          <a:bodyPr wrap="square" lIns="25400" tIns="25400" rIns="25400" bIns="25400" rtlCol="0" anchor="t">
            <a:normAutofit/>
          </a:bodyPr>
          <a:lstStyle/>
          <a:p>
            <a:pPr algn="l" indent="0" marL="0">
              <a:lnSpc>
                <a:spcPct val="170000"/>
              </a:lnSpc>
              <a:buNone/>
            </a:pPr>
            <a:r>
              <a:rPr lang="en-US" sz="1650" dirty="0">
                <a:solidFill>
                  <a:srgbClr val="E8ECEF"/>
                </a:solidFill>
                <a:latin typeface="Courier New" pitchFamily="34" charset="0"/>
                <a:ea typeface="Courier New" pitchFamily="34" charset="-122"/>
                <a:cs typeface="Courier New" pitchFamily="34" charset="-120"/>
              </a:rPr>
              <a:t>"ANTHROPIC_BASE_URL"</a:t>
            </a:r>
            <a:pPr algn="l" indent="0" marL="0">
              <a:lnSpc>
                <a:spcPct val="170000"/>
              </a:lnSpc>
              <a:buNone/>
            </a:pPr>
            <a:r>
              <a:rPr lang="en-US" sz="1650" dirty="0">
                <a:solidFill>
                  <a:srgbClr val="9AA1A7"/>
                </a:solidFill>
                <a:latin typeface="Courier New" pitchFamily="34" charset="0"/>
                <a:ea typeface="Courier New" pitchFamily="34" charset="-122"/>
                <a:cs typeface="Courier New" pitchFamily="34" charset="-120"/>
              </a:rPr>
              <a:t xml:space="preserve">: </a:t>
            </a:r>
            <a:pPr algn="l" indent="0" marL="0">
              <a:lnSpc>
                <a:spcPct val="170000"/>
              </a:lnSpc>
              <a:buNone/>
            </a:pPr>
            <a:r>
              <a:rPr lang="en-US" sz="1650" dirty="0">
                <a:solidFill>
                  <a:srgbClr val="8FD08A"/>
                </a:solidFill>
                <a:latin typeface="Courier New" pitchFamily="34" charset="0"/>
                <a:ea typeface="Courier New" pitchFamily="34" charset="-122"/>
                <a:cs typeface="Courier New" pitchFamily="34" charset="-120"/>
              </a:rPr>
              <a:t>"openrouter.ai/api"</a:t>
            </a:r>
            <a:pPr algn="l" indent="0" marL="0">
              <a:lnSpc>
                <a:spcPct val="170000"/>
              </a:lnSpc>
              <a:buNone/>
            </a:pPr>
            <a:r>
              <a:rPr lang="en-US" sz="1650" dirty="0">
                <a:solidFill>
                  <a:srgbClr val="9AA1A7"/>
                </a:solidFill>
                <a:latin typeface="Courier New" pitchFamily="34" charset="0"/>
                <a:ea typeface="Courier New" pitchFamily="34" charset="-122"/>
                <a:cs typeface="Courier New" pitchFamily="34" charset="-120"/>
              </a:rPr>
              <a:t>,</a:t>
            </a:r>
            <a:endParaRPr lang="en-US" sz="1650" dirty="0"/>
          </a:p>
        </p:txBody>
      </p:sp>
      <p:sp>
        <p:nvSpPr>
          <p:cNvPr id="23" name="Text 21"/>
          <p:cNvSpPr/>
          <p:nvPr/>
        </p:nvSpPr>
        <p:spPr>
          <a:xfrm>
            <a:off x="10599662" y="5224735"/>
            <a:ext cx="6615869" cy="394419"/>
          </a:xfrm>
          <a:prstGeom prst="rect">
            <a:avLst/>
          </a:prstGeom>
          <a:noFill/>
          <a:ln/>
        </p:spPr>
        <p:txBody>
          <a:bodyPr wrap="square" lIns="25400" tIns="25400" rIns="25400" bIns="25400" rtlCol="0" anchor="t">
            <a:normAutofit/>
          </a:bodyPr>
          <a:lstStyle/>
          <a:p>
            <a:pPr algn="l" indent="0" marL="0">
              <a:lnSpc>
                <a:spcPct val="170000"/>
              </a:lnSpc>
              <a:buNone/>
            </a:pPr>
            <a:r>
              <a:rPr lang="en-US" sz="1650" dirty="0">
                <a:solidFill>
                  <a:srgbClr val="E8ECEF"/>
                </a:solidFill>
                <a:latin typeface="Courier New" pitchFamily="34" charset="0"/>
                <a:ea typeface="Courier New" pitchFamily="34" charset="-122"/>
                <a:cs typeface="Courier New" pitchFamily="34" charset="-120"/>
              </a:rPr>
              <a:t>"ANTHROPIC_AUTH_TOKEN"</a:t>
            </a:r>
            <a:pPr algn="l" indent="0" marL="0">
              <a:lnSpc>
                <a:spcPct val="170000"/>
              </a:lnSpc>
              <a:buNone/>
            </a:pPr>
            <a:r>
              <a:rPr lang="en-US" sz="1650" dirty="0">
                <a:solidFill>
                  <a:srgbClr val="9AA1A7"/>
                </a:solidFill>
                <a:latin typeface="Courier New" pitchFamily="34" charset="0"/>
                <a:ea typeface="Courier New" pitchFamily="34" charset="-122"/>
                <a:cs typeface="Courier New" pitchFamily="34" charset="-120"/>
              </a:rPr>
              <a:t xml:space="preserve">: </a:t>
            </a:r>
            <a:pPr algn="l" indent="0" marL="0">
              <a:lnSpc>
                <a:spcPct val="170000"/>
              </a:lnSpc>
              <a:buNone/>
            </a:pPr>
            <a:r>
              <a:rPr lang="en-US" sz="1650" dirty="0">
                <a:solidFill>
                  <a:srgbClr val="8FD08A"/>
                </a:solidFill>
                <a:latin typeface="Courier New" pitchFamily="34" charset="0"/>
                <a:ea typeface="Courier New" pitchFamily="34" charset="-122"/>
                <a:cs typeface="Courier New" pitchFamily="34" charset="-120"/>
              </a:rPr>
              <a:t>"sk-or-…"</a:t>
            </a:r>
            <a:pPr algn="l" indent="0" marL="0">
              <a:lnSpc>
                <a:spcPct val="170000"/>
              </a:lnSpc>
              <a:buNone/>
            </a:pPr>
            <a:r>
              <a:rPr lang="en-US" sz="1650" dirty="0">
                <a:solidFill>
                  <a:srgbClr val="9AA1A7"/>
                </a:solidFill>
                <a:latin typeface="Courier New" pitchFamily="34" charset="0"/>
                <a:ea typeface="Courier New" pitchFamily="34" charset="-122"/>
                <a:cs typeface="Courier New" pitchFamily="34" charset="-120"/>
              </a:rPr>
              <a:t>,</a:t>
            </a:r>
            <a:endParaRPr lang="en-US" sz="1650" dirty="0"/>
          </a:p>
        </p:txBody>
      </p:sp>
      <p:sp>
        <p:nvSpPr>
          <p:cNvPr id="24" name="Text 22"/>
          <p:cNvSpPr/>
          <p:nvPr/>
        </p:nvSpPr>
        <p:spPr>
          <a:xfrm>
            <a:off x="10599662" y="5581055"/>
            <a:ext cx="6615869" cy="394419"/>
          </a:xfrm>
          <a:prstGeom prst="rect">
            <a:avLst/>
          </a:prstGeom>
          <a:noFill/>
          <a:ln/>
        </p:spPr>
        <p:txBody>
          <a:bodyPr wrap="square" lIns="25400" tIns="25400" rIns="25400" bIns="25400" rtlCol="0" anchor="t">
            <a:normAutofit/>
          </a:bodyPr>
          <a:lstStyle/>
          <a:p>
            <a:pPr algn="l" indent="0" marL="0">
              <a:lnSpc>
                <a:spcPct val="170000"/>
              </a:lnSpc>
              <a:buNone/>
            </a:pPr>
            <a:r>
              <a:rPr lang="en-US" sz="1650" dirty="0">
                <a:solidFill>
                  <a:srgbClr val="E8ECEF"/>
                </a:solidFill>
                <a:latin typeface="Courier New" pitchFamily="34" charset="0"/>
                <a:ea typeface="Courier New" pitchFamily="34" charset="-122"/>
                <a:cs typeface="Courier New" pitchFamily="34" charset="-120"/>
              </a:rPr>
              <a:t>"ANTHROPIC_MODEL"</a:t>
            </a:r>
            <a:pPr algn="l" indent="0" marL="0">
              <a:lnSpc>
                <a:spcPct val="170000"/>
              </a:lnSpc>
              <a:buNone/>
            </a:pPr>
            <a:r>
              <a:rPr lang="en-US" sz="1650" dirty="0">
                <a:solidFill>
                  <a:srgbClr val="9AA1A7"/>
                </a:solidFill>
                <a:latin typeface="Courier New" pitchFamily="34" charset="0"/>
                <a:ea typeface="Courier New" pitchFamily="34" charset="-122"/>
                <a:cs typeface="Courier New" pitchFamily="34" charset="-120"/>
              </a:rPr>
              <a:t xml:space="preserve">: </a:t>
            </a:r>
            <a:pPr algn="l" indent="0" marL="0">
              <a:lnSpc>
                <a:spcPct val="170000"/>
              </a:lnSpc>
              <a:buNone/>
            </a:pPr>
            <a:r>
              <a:rPr lang="en-US" sz="1650" dirty="0">
                <a:solidFill>
                  <a:srgbClr val="8FD08A"/>
                </a:solidFill>
                <a:latin typeface="Courier New" pitchFamily="34" charset="0"/>
                <a:ea typeface="Courier New" pitchFamily="34" charset="-122"/>
                <a:cs typeface="Courier New" pitchFamily="34" charset="-120"/>
              </a:rPr>
              <a:t>"z-ai/glm-5.2"</a:t>
            </a:r>
            <a:endParaRPr lang="en-US" sz="1650" dirty="0"/>
          </a:p>
        </p:txBody>
      </p:sp>
      <p:sp>
        <p:nvSpPr>
          <p:cNvPr id="25" name="Text 23"/>
          <p:cNvSpPr/>
          <p:nvPr/>
        </p:nvSpPr>
        <p:spPr>
          <a:xfrm>
            <a:off x="10599662" y="5937374"/>
            <a:ext cx="6615869" cy="394419"/>
          </a:xfrm>
          <a:prstGeom prst="rect">
            <a:avLst/>
          </a:prstGeom>
          <a:noFill/>
          <a:ln/>
        </p:spPr>
        <p:txBody>
          <a:bodyPr wrap="square" lIns="25400" tIns="25400" rIns="25400" bIns="25400" rtlCol="0" anchor="t">
            <a:normAutofit/>
          </a:bodyPr>
          <a:lstStyle/>
          <a:p>
            <a:pPr algn="l" indent="0" marL="0">
              <a:lnSpc>
                <a:spcPct val="170000"/>
              </a:lnSpc>
              <a:buNone/>
            </a:pPr>
            <a:r>
              <a:rPr lang="en-US" sz="1650" dirty="0">
                <a:solidFill>
                  <a:srgbClr val="9AA1A7"/>
                </a:solidFill>
                <a:latin typeface="Courier New" pitchFamily="34" charset="0"/>
                <a:ea typeface="Courier New" pitchFamily="34" charset="-122"/>
                <a:cs typeface="Courier New" pitchFamily="34" charset="-120"/>
              </a:rPr>
              <a:t>}</a:t>
            </a:r>
            <a:endParaRPr lang="en-US" sz="1650" dirty="0"/>
          </a:p>
        </p:txBody>
      </p:sp>
      <p:sp>
        <p:nvSpPr>
          <p:cNvPr id="26" name="Text 24"/>
          <p:cNvSpPr/>
          <p:nvPr/>
        </p:nvSpPr>
        <p:spPr>
          <a:xfrm>
            <a:off x="10599662" y="6293693"/>
            <a:ext cx="6615869" cy="394419"/>
          </a:xfrm>
          <a:prstGeom prst="rect">
            <a:avLst/>
          </a:prstGeom>
          <a:noFill/>
          <a:ln/>
        </p:spPr>
        <p:txBody>
          <a:bodyPr wrap="square" lIns="25400" tIns="25400" rIns="25400" bIns="25400" rtlCol="0" anchor="t">
            <a:normAutofit/>
          </a:bodyPr>
          <a:lstStyle/>
          <a:p>
            <a:pPr algn="l" indent="0" marL="0">
              <a:lnSpc>
                <a:spcPct val="170000"/>
              </a:lnSpc>
              <a:buNone/>
            </a:pPr>
            <a:r>
              <a:rPr lang="en-US" sz="1650" dirty="0">
                <a:solidFill>
                  <a:srgbClr val="9AA1A7"/>
                </a:solidFill>
                <a:latin typeface="Courier New" pitchFamily="34" charset="0"/>
                <a:ea typeface="Courier New" pitchFamily="34" charset="-122"/>
                <a:cs typeface="Courier New" pitchFamily="34" charset="-120"/>
              </a:rPr>
              <a:t>}</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4"/>
        </a:solidFill>
      </p:bgPr>
    </p:bg>
    <p:spTree>
      <p:nvGrpSpPr>
        <p:cNvPr id="1" name=""/>
        <p:cNvGrpSpPr/>
        <p:nvPr/>
      </p:nvGrpSpPr>
      <p:grpSpPr>
        <a:xfrm>
          <a:off x="0" y="0"/>
          <a:ext cx="0" cy="0"/>
          <a:chOff x="0" y="0"/>
          <a:chExt cx="0" cy="0"/>
        </a:xfrm>
      </p:grpSpPr>
      <p:sp>
        <p:nvSpPr>
          <p:cNvPr id="2" name="Text 0"/>
          <p:cNvSpPr/>
          <p:nvPr/>
        </p:nvSpPr>
        <p:spPr>
          <a:xfrm>
            <a:off x="14001129" y="571500"/>
            <a:ext cx="3772582" cy="2324100"/>
          </a:xfrm>
          <a:prstGeom prst="rect">
            <a:avLst/>
          </a:prstGeom>
          <a:noFill/>
          <a:ln/>
        </p:spPr>
        <p:txBody>
          <a:bodyPr wrap="square" lIns="25400" tIns="25400" rIns="25400" bIns="25400" rtlCol="0" anchor="t">
            <a:normAutofit/>
          </a:bodyPr>
          <a:lstStyle/>
          <a:p>
            <a:pPr algn="l" indent="0" marL="0">
              <a:lnSpc>
                <a:spcPct val="80000"/>
              </a:lnSpc>
              <a:buNone/>
            </a:pPr>
            <a:r>
              <a:rPr lang="en-US" sz="22500" b="1" dirty="0">
                <a:solidFill>
                  <a:srgbClr val="161B20"/>
                </a:solidFill>
                <a:latin typeface="Courier New" pitchFamily="34" charset="0"/>
                <a:ea typeface="Courier New" pitchFamily="34" charset="-122"/>
                <a:cs typeface="Courier New" pitchFamily="34" charset="-120"/>
              </a:rPr>
              <a:t>02</a:t>
            </a:r>
            <a:endParaRPr lang="en-US" sz="22500" dirty="0"/>
          </a:p>
        </p:txBody>
      </p:sp>
      <p:sp>
        <p:nvSpPr>
          <p:cNvPr id="3" name="Shape 1"/>
          <p:cNvSpPr/>
          <p:nvPr/>
        </p:nvSpPr>
        <p:spPr>
          <a:xfrm>
            <a:off x="1047750" y="3551287"/>
            <a:ext cx="323825" cy="28525"/>
          </a:xfrm>
          <a:prstGeom prst="rect">
            <a:avLst/>
          </a:prstGeom>
          <a:solidFill>
            <a:srgbClr val="4FB0CE"/>
          </a:solidFill>
          <a:ln/>
        </p:spPr>
      </p:sp>
      <p:sp>
        <p:nvSpPr>
          <p:cNvPr id="4" name="Text 2"/>
          <p:cNvSpPr/>
          <p:nvPr/>
        </p:nvSpPr>
        <p:spPr>
          <a:xfrm>
            <a:off x="1504900" y="3402831"/>
            <a:ext cx="1656345" cy="363537"/>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6AAEC3"/>
                </a:solidFill>
                <a:latin typeface="Courier New" pitchFamily="34" charset="0"/>
                <a:ea typeface="Courier New" pitchFamily="34" charset="-122"/>
                <a:cs typeface="Courier New" pitchFamily="34" charset="-120"/>
              </a:rPr>
              <a:t>THE TASK</a:t>
            </a:r>
            <a:endParaRPr lang="en-US" sz="1950" dirty="0"/>
          </a:p>
        </p:txBody>
      </p:sp>
      <p:sp>
        <p:nvSpPr>
          <p:cNvPr id="5" name="Text 3"/>
          <p:cNvSpPr/>
          <p:nvPr/>
        </p:nvSpPr>
        <p:spPr>
          <a:xfrm>
            <a:off x="1047750" y="3975819"/>
            <a:ext cx="16678275" cy="186695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52" kern="0" dirty="0">
                <a:solidFill>
                  <a:srgbClr val="FFFFFF"/>
                </a:solidFill>
                <a:latin typeface="Arial" pitchFamily="34" charset="0"/>
                <a:ea typeface="Arial" pitchFamily="34" charset="-122"/>
                <a:cs typeface="Arial" pitchFamily="34" charset="-120"/>
              </a:rPr>
              <a:t>Same job, every model</a:t>
            </a:r>
            <a:endParaRPr lang="en-US" sz="7200" dirty="0"/>
          </a:p>
        </p:txBody>
      </p:sp>
      <p:sp>
        <p:nvSpPr>
          <p:cNvPr id="6" name="Text 4"/>
          <p:cNvSpPr/>
          <p:nvPr/>
        </p:nvSpPr>
        <p:spPr>
          <a:xfrm>
            <a:off x="1047750" y="6185669"/>
            <a:ext cx="9614535" cy="736600"/>
          </a:xfrm>
          <a:prstGeom prst="rect">
            <a:avLst/>
          </a:prstGeom>
          <a:noFill/>
          <a:ln/>
        </p:spPr>
        <p:txBody>
          <a:bodyPr wrap="square" lIns="25400" tIns="25400" rIns="25400" bIns="25400" rtlCol="0" anchor="t">
            <a:normAutofit/>
          </a:bodyPr>
          <a:lstStyle/>
          <a:p>
            <a:pPr algn="l" indent="0" marL="0">
              <a:buNone/>
            </a:pPr>
            <a:r>
              <a:rPr lang="en-US" sz="2400" dirty="0">
                <a:solidFill>
                  <a:srgbClr val="AEB5BB"/>
                </a:solidFill>
                <a:latin typeface="Arial" pitchFamily="34" charset="0"/>
                <a:ea typeface="Arial" pitchFamily="34" charset="-122"/>
                <a:cs typeface="Arial" pitchFamily="34" charset="-120"/>
              </a:rPr>
              <a:t>No cherry-picking. One small, self-contained task that forces the model to actually drive the tools.</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114"/>
        </a:solidFill>
      </p:bgPr>
    </p:bg>
    <p:spTree>
      <p:nvGrpSpPr>
        <p:cNvPr id="1" name=""/>
        <p:cNvGrpSpPr/>
        <p:nvPr/>
      </p:nvGrpSpPr>
      <p:grpSpPr>
        <a:xfrm>
          <a:off x="0" y="0"/>
          <a:ext cx="0" cy="0"/>
          <a:chOff x="0" y="0"/>
          <a:chExt cx="0" cy="0"/>
        </a:xfrm>
      </p:grpSpPr>
      <p:sp>
        <p:nvSpPr>
          <p:cNvPr id="2" name="Shape 0"/>
          <p:cNvSpPr/>
          <p:nvPr/>
        </p:nvSpPr>
        <p:spPr>
          <a:xfrm>
            <a:off x="1238250" y="3526730"/>
            <a:ext cx="323825" cy="28525"/>
          </a:xfrm>
          <a:prstGeom prst="rect">
            <a:avLst/>
          </a:prstGeom>
          <a:solidFill>
            <a:srgbClr val="4FB0CE"/>
          </a:solidFill>
          <a:ln/>
        </p:spPr>
      </p:sp>
      <p:sp>
        <p:nvSpPr>
          <p:cNvPr id="3" name="Text 1"/>
          <p:cNvSpPr/>
          <p:nvPr/>
        </p:nvSpPr>
        <p:spPr>
          <a:xfrm>
            <a:off x="1695400" y="3378274"/>
            <a:ext cx="8074496" cy="363537"/>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6AAEC3"/>
                </a:solidFill>
                <a:latin typeface="Courier New" pitchFamily="34" charset="0"/>
                <a:ea typeface="Courier New" pitchFamily="34" charset="-122"/>
                <a:cs typeface="Courier New" pitchFamily="34" charset="-120"/>
              </a:rPr>
              <a:t>THE PROMPT — PASTED VERBATIM, EVERY RUN</a:t>
            </a:r>
            <a:endParaRPr lang="en-US" sz="1950" dirty="0"/>
          </a:p>
        </p:txBody>
      </p:sp>
      <p:sp>
        <p:nvSpPr>
          <p:cNvPr id="4" name="Shape 2"/>
          <p:cNvSpPr/>
          <p:nvPr/>
        </p:nvSpPr>
        <p:spPr>
          <a:xfrm>
            <a:off x="1238250" y="3989462"/>
            <a:ext cx="13144500" cy="2163589"/>
          </a:xfrm>
          <a:prstGeom prst="roundRect">
            <a:avLst>
              <a:gd name="adj" fmla="val 6163"/>
            </a:avLst>
          </a:prstGeom>
          <a:solidFill>
            <a:srgbClr val="15191D"/>
          </a:solidFill>
          <a:ln w="7937">
            <a:solidFill>
              <a:srgbClr val="2A3036"/>
            </a:solidFill>
            <a:prstDash val="solid"/>
          </a:ln>
          <a:effectLst>
            <a:outerShdw sx="100000" sy="100000" kx="0" ky="0" algn="bl" rotWithShape="0" blurRad="666750" dist="285750" dir="5400000">
              <a:srgbClr val="000000">
                <a:alpha val="45000"/>
              </a:srgbClr>
            </a:outerShdw>
          </a:effectLst>
        </p:spPr>
      </p:sp>
      <p:sp>
        <p:nvSpPr>
          <p:cNvPr id="5" name="Text 3"/>
          <p:cNvSpPr/>
          <p:nvPr/>
        </p:nvSpPr>
        <p:spPr>
          <a:xfrm>
            <a:off x="1798588" y="4492625"/>
            <a:ext cx="12384539" cy="1195363"/>
          </a:xfrm>
          <a:prstGeom prst="rect">
            <a:avLst/>
          </a:prstGeom>
          <a:noFill/>
          <a:ln/>
        </p:spPr>
        <p:txBody>
          <a:bodyPr wrap="square" lIns="25400" tIns="25400" rIns="25400" bIns="25400" rtlCol="0" anchor="t">
            <a:normAutofit/>
          </a:bodyPr>
          <a:lstStyle/>
          <a:p>
            <a:pPr algn="l" indent="0" marL="0">
              <a:lnSpc>
                <a:spcPct val="150000"/>
              </a:lnSpc>
              <a:buNone/>
            </a:pPr>
            <a:r>
              <a:rPr lang="en-US" sz="3000" dirty="0">
                <a:solidFill>
                  <a:srgbClr val="E8ECEF"/>
                </a:solidFill>
                <a:latin typeface="Arial" pitchFamily="34" charset="0"/>
                <a:ea typeface="Arial" pitchFamily="34" charset="-122"/>
                <a:cs typeface="Arial" pitchFamily="34" charset="-120"/>
              </a:rPr>
              <a:t xml:space="preserve">Implement </a:t>
            </a:r>
            <a:pPr algn="l" indent="0" marL="0">
              <a:lnSpc>
                <a:spcPct val="150000"/>
              </a:lnSpc>
              <a:buNone/>
            </a:pPr>
            <a:r>
              <a:rPr lang="en-US" sz="2700" dirty="0">
                <a:solidFill>
                  <a:srgbClr val="4FB0CE"/>
                </a:solidFill>
                <a:latin typeface="Courier New" pitchFamily="34" charset="0"/>
                <a:ea typeface="Courier New" pitchFamily="34" charset="-122"/>
                <a:cs typeface="Courier New" pitchFamily="34" charset="-120"/>
              </a:rPr>
              <a:t xml:space="preserve">parseDuration </a:t>
            </a:r>
            <a:pPr algn="l" indent="0" marL="0">
              <a:lnSpc>
                <a:spcPct val="150000"/>
              </a:lnSpc>
              <a:buNone/>
            </a:pPr>
            <a:r>
              <a:rPr lang="en-US" sz="3000" dirty="0">
                <a:solidFill>
                  <a:srgbClr val="E8ECEF"/>
                </a:solidFill>
                <a:latin typeface="Arial" pitchFamily="34" charset="0"/>
                <a:ea typeface="Arial" pitchFamily="34" charset="-122"/>
                <a:cs typeface="Arial" pitchFamily="34" charset="-120"/>
              </a:rPr>
              <a:t xml:space="preserve">so it turns a string like </a:t>
            </a:r>
            <a:pPr algn="l" indent="0" marL="0">
              <a:lnSpc>
                <a:spcPct val="150000"/>
              </a:lnSpc>
              <a:buNone/>
            </a:pPr>
            <a:r>
              <a:rPr lang="en-US" sz="2700" dirty="0">
                <a:solidFill>
                  <a:srgbClr val="8FD08A"/>
                </a:solidFill>
                <a:latin typeface="Courier New" pitchFamily="34" charset="0"/>
                <a:ea typeface="Courier New" pitchFamily="34" charset="-122"/>
                <a:cs typeface="Courier New" pitchFamily="34" charset="-120"/>
              </a:rPr>
              <a:t xml:space="preserve">1h30m </a:t>
            </a:r>
            <a:pPr algn="l" indent="0" marL="0">
              <a:lnSpc>
                <a:spcPct val="150000"/>
              </a:lnSpc>
              <a:buNone/>
            </a:pPr>
            <a:r>
              <a:rPr lang="en-US" sz="3000" dirty="0">
                <a:solidFill>
                  <a:srgbClr val="E8ECEF"/>
                </a:solidFill>
                <a:latin typeface="Arial" pitchFamily="34" charset="0"/>
                <a:ea typeface="Arial" pitchFamily="34" charset="-122"/>
                <a:cs typeface="Arial" pitchFamily="34" charset="-120"/>
              </a:rPr>
              <a:t xml:space="preserve">or </a:t>
            </a:r>
            <a:pPr algn="l" indent="0" marL="0">
              <a:lnSpc>
                <a:spcPct val="150000"/>
              </a:lnSpc>
              <a:buNone/>
            </a:pPr>
            <a:r>
              <a:rPr lang="en-US" sz="2700" dirty="0">
                <a:solidFill>
                  <a:srgbClr val="8FD08A"/>
                </a:solidFill>
                <a:latin typeface="Courier New" pitchFamily="34" charset="0"/>
                <a:ea typeface="Courier New" pitchFamily="34" charset="-122"/>
                <a:cs typeface="Courier New" pitchFamily="34" charset="-120"/>
              </a:rPr>
              <a:t xml:space="preserve">45s </a:t>
            </a:r>
            <a:pPr algn="l" indent="0" marL="0">
              <a:lnSpc>
                <a:spcPct val="150000"/>
              </a:lnSpc>
              <a:buNone/>
            </a:pPr>
            <a:r>
              <a:rPr lang="en-US" sz="3000" dirty="0">
                <a:solidFill>
                  <a:srgbClr val="E8ECEF"/>
                </a:solidFill>
                <a:latin typeface="Arial" pitchFamily="34" charset="0"/>
                <a:ea typeface="Arial" pitchFamily="34" charset="-122"/>
                <a:cs typeface="Arial" pitchFamily="34" charset="-120"/>
              </a:rPr>
              <a:t>into a total number of seconds, then write a couple of tests and run them.</a:t>
            </a:r>
            <a:endParaRPr lang="en-US" sz="3000" dirty="0"/>
          </a:p>
        </p:txBody>
      </p:sp>
      <p:sp>
        <p:nvSpPr>
          <p:cNvPr id="6" name="Text 4"/>
          <p:cNvSpPr/>
          <p:nvPr/>
        </p:nvSpPr>
        <p:spPr>
          <a:xfrm>
            <a:off x="1238250" y="6591101"/>
            <a:ext cx="647700" cy="355600"/>
          </a:xfrm>
          <a:prstGeom prst="rect">
            <a:avLst/>
          </a:prstGeom>
          <a:noFill/>
          <a:ln/>
        </p:spPr>
        <p:txBody>
          <a:bodyPr wrap="square" lIns="25400" tIns="25400" rIns="25400" bIns="25400" rtlCol="0" anchor="t">
            <a:normAutofit/>
          </a:bodyPr>
          <a:lstStyle/>
          <a:p>
            <a:pPr algn="l" indent="0" marL="0">
              <a:buNone/>
            </a:pPr>
            <a:r>
              <a:rPr lang="en-US" sz="1875" dirty="0">
                <a:solidFill>
                  <a:srgbClr val="5FB4D0"/>
                </a:solidFill>
                <a:latin typeface="Courier New" pitchFamily="34" charset="0"/>
                <a:ea typeface="Courier New" pitchFamily="34" charset="-122"/>
                <a:cs typeface="Courier New" pitchFamily="34" charset="-120"/>
              </a:rPr>
              <a:t>read</a:t>
            </a:r>
            <a:endParaRPr lang="en-US" sz="1875" dirty="0"/>
          </a:p>
        </p:txBody>
      </p:sp>
      <p:sp>
        <p:nvSpPr>
          <p:cNvPr id="7" name="Text 5"/>
          <p:cNvSpPr/>
          <p:nvPr/>
        </p:nvSpPr>
        <p:spPr>
          <a:xfrm>
            <a:off x="1943075" y="6650632"/>
            <a:ext cx="238175" cy="236537"/>
          </a:xfrm>
          <a:prstGeom prst="rect">
            <a:avLst/>
          </a:prstGeom>
          <a:noFill/>
          <a:ln/>
        </p:spPr>
        <p:txBody>
          <a:bodyPr wrap="square" lIns="25400" tIns="25400" rIns="25400" bIns="25400" rtlCol="0" anchor="t">
            <a:normAutofit/>
          </a:bodyPr>
          <a:lstStyle/>
          <a:p>
            <a:pPr algn="l" indent="0" marL="0">
              <a:buNone/>
            </a:pPr>
            <a:r>
              <a:rPr lang="en-US" sz="1200" dirty="0">
                <a:solidFill>
                  <a:srgbClr val="4FB0CE"/>
                </a:solidFill>
                <a:latin typeface="Arial" pitchFamily="34" charset="0"/>
                <a:ea typeface="Arial" pitchFamily="34" charset="-122"/>
                <a:cs typeface="Arial" pitchFamily="34" charset="-120"/>
              </a:rPr>
              <a:t>⟶</a:t>
            </a:r>
            <a:endParaRPr lang="en-US" sz="1200" dirty="0"/>
          </a:p>
        </p:txBody>
      </p:sp>
      <p:sp>
        <p:nvSpPr>
          <p:cNvPr id="8" name="Text 6"/>
          <p:cNvSpPr/>
          <p:nvPr/>
        </p:nvSpPr>
        <p:spPr>
          <a:xfrm>
            <a:off x="2238375" y="6591101"/>
            <a:ext cx="790575" cy="355600"/>
          </a:xfrm>
          <a:prstGeom prst="rect">
            <a:avLst/>
          </a:prstGeom>
          <a:noFill/>
          <a:ln/>
        </p:spPr>
        <p:txBody>
          <a:bodyPr wrap="square" lIns="25400" tIns="25400" rIns="25400" bIns="25400" rtlCol="0" anchor="t">
            <a:normAutofit/>
          </a:bodyPr>
          <a:lstStyle/>
          <a:p>
            <a:pPr algn="l" indent="0" marL="0">
              <a:buNone/>
            </a:pPr>
            <a:r>
              <a:rPr lang="en-US" sz="1875" dirty="0">
                <a:solidFill>
                  <a:srgbClr val="5FB4D0"/>
                </a:solidFill>
                <a:latin typeface="Courier New" pitchFamily="34" charset="0"/>
                <a:ea typeface="Courier New" pitchFamily="34" charset="-122"/>
                <a:cs typeface="Courier New" pitchFamily="34" charset="-120"/>
              </a:rPr>
              <a:t>write</a:t>
            </a:r>
            <a:endParaRPr lang="en-US" sz="1875" dirty="0"/>
          </a:p>
        </p:txBody>
      </p:sp>
      <p:sp>
        <p:nvSpPr>
          <p:cNvPr id="9" name="Text 7"/>
          <p:cNvSpPr/>
          <p:nvPr/>
        </p:nvSpPr>
        <p:spPr>
          <a:xfrm>
            <a:off x="3086075" y="6650632"/>
            <a:ext cx="238175" cy="236537"/>
          </a:xfrm>
          <a:prstGeom prst="rect">
            <a:avLst/>
          </a:prstGeom>
          <a:noFill/>
          <a:ln/>
        </p:spPr>
        <p:txBody>
          <a:bodyPr wrap="square" lIns="25400" tIns="25400" rIns="25400" bIns="25400" rtlCol="0" anchor="t">
            <a:normAutofit/>
          </a:bodyPr>
          <a:lstStyle/>
          <a:p>
            <a:pPr algn="l" indent="0" marL="0">
              <a:buNone/>
            </a:pPr>
            <a:r>
              <a:rPr lang="en-US" sz="1200" dirty="0">
                <a:solidFill>
                  <a:srgbClr val="4FB0CE"/>
                </a:solidFill>
                <a:latin typeface="Arial" pitchFamily="34" charset="0"/>
                <a:ea typeface="Arial" pitchFamily="34" charset="-122"/>
                <a:cs typeface="Arial" pitchFamily="34" charset="-120"/>
              </a:rPr>
              <a:t>⟶</a:t>
            </a:r>
            <a:endParaRPr lang="en-US" sz="1200" dirty="0"/>
          </a:p>
        </p:txBody>
      </p:sp>
      <p:sp>
        <p:nvSpPr>
          <p:cNvPr id="10" name="Text 8"/>
          <p:cNvSpPr/>
          <p:nvPr/>
        </p:nvSpPr>
        <p:spPr>
          <a:xfrm>
            <a:off x="3381375" y="6591101"/>
            <a:ext cx="647700" cy="355600"/>
          </a:xfrm>
          <a:prstGeom prst="rect">
            <a:avLst/>
          </a:prstGeom>
          <a:noFill/>
          <a:ln/>
        </p:spPr>
        <p:txBody>
          <a:bodyPr wrap="square" lIns="25400" tIns="25400" rIns="25400" bIns="25400" rtlCol="0" anchor="t">
            <a:normAutofit/>
          </a:bodyPr>
          <a:lstStyle/>
          <a:p>
            <a:pPr algn="l" indent="0" marL="0">
              <a:buNone/>
            </a:pPr>
            <a:r>
              <a:rPr lang="en-US" sz="1875" dirty="0">
                <a:solidFill>
                  <a:srgbClr val="5FB4D0"/>
                </a:solidFill>
                <a:latin typeface="Courier New" pitchFamily="34" charset="0"/>
                <a:ea typeface="Courier New" pitchFamily="34" charset="-122"/>
                <a:cs typeface="Courier New" pitchFamily="34" charset="-120"/>
              </a:rPr>
              <a:t>test</a:t>
            </a:r>
            <a:endParaRPr lang="en-US" sz="1875" dirty="0"/>
          </a:p>
        </p:txBody>
      </p:sp>
      <p:sp>
        <p:nvSpPr>
          <p:cNvPr id="11" name="Text 9"/>
          <p:cNvSpPr/>
          <p:nvPr/>
        </p:nvSpPr>
        <p:spPr>
          <a:xfrm>
            <a:off x="4086200" y="6650632"/>
            <a:ext cx="238175" cy="236537"/>
          </a:xfrm>
          <a:prstGeom prst="rect">
            <a:avLst/>
          </a:prstGeom>
          <a:noFill/>
          <a:ln/>
        </p:spPr>
        <p:txBody>
          <a:bodyPr wrap="square" lIns="25400" tIns="25400" rIns="25400" bIns="25400" rtlCol="0" anchor="t">
            <a:normAutofit/>
          </a:bodyPr>
          <a:lstStyle/>
          <a:p>
            <a:pPr algn="l" indent="0" marL="0">
              <a:buNone/>
            </a:pPr>
            <a:r>
              <a:rPr lang="en-US" sz="1200" dirty="0">
                <a:solidFill>
                  <a:srgbClr val="4FB0CE"/>
                </a:solidFill>
                <a:latin typeface="Arial" pitchFamily="34" charset="0"/>
                <a:ea typeface="Arial" pitchFamily="34" charset="-122"/>
                <a:cs typeface="Arial" pitchFamily="34" charset="-120"/>
              </a:rPr>
              <a:t>⟶</a:t>
            </a:r>
            <a:endParaRPr lang="en-US" sz="1200" dirty="0"/>
          </a:p>
        </p:txBody>
      </p:sp>
      <p:sp>
        <p:nvSpPr>
          <p:cNvPr id="12" name="Text 10"/>
          <p:cNvSpPr/>
          <p:nvPr/>
        </p:nvSpPr>
        <p:spPr>
          <a:xfrm>
            <a:off x="4381500" y="6591101"/>
            <a:ext cx="790575" cy="355600"/>
          </a:xfrm>
          <a:prstGeom prst="rect">
            <a:avLst/>
          </a:prstGeom>
          <a:noFill/>
          <a:ln/>
        </p:spPr>
        <p:txBody>
          <a:bodyPr wrap="square" lIns="25400" tIns="25400" rIns="25400" bIns="25400" rtlCol="0" anchor="t">
            <a:normAutofit/>
          </a:bodyPr>
          <a:lstStyle/>
          <a:p>
            <a:pPr algn="l" indent="0" marL="0">
              <a:buNone/>
            </a:pPr>
            <a:r>
              <a:rPr lang="en-US" sz="1875" dirty="0">
                <a:solidFill>
                  <a:srgbClr val="5FB4D0"/>
                </a:solidFill>
                <a:latin typeface="Courier New" pitchFamily="34" charset="0"/>
                <a:ea typeface="Courier New" pitchFamily="34" charset="-122"/>
                <a:cs typeface="Courier New" pitchFamily="34" charset="-120"/>
              </a:rPr>
              <a:t>react</a:t>
            </a:r>
            <a:endParaRPr lang="en-US" sz="1875" dirty="0"/>
          </a:p>
        </p:txBody>
      </p:sp>
      <p:sp>
        <p:nvSpPr>
          <p:cNvPr id="13" name="Text 11"/>
          <p:cNvSpPr/>
          <p:nvPr/>
        </p:nvSpPr>
        <p:spPr>
          <a:xfrm>
            <a:off x="5553025" y="6603007"/>
            <a:ext cx="6054576" cy="331787"/>
          </a:xfrm>
          <a:prstGeom prst="rect">
            <a:avLst/>
          </a:prstGeom>
          <a:noFill/>
          <a:ln/>
        </p:spPr>
        <p:txBody>
          <a:bodyPr wrap="square" lIns="25400" tIns="25400" rIns="25400" bIns="25400" rtlCol="0" anchor="t">
            <a:normAutofit/>
          </a:bodyPr>
          <a:lstStyle/>
          <a:p>
            <a:pPr algn="l" indent="0" marL="0">
              <a:buNone/>
            </a:pPr>
            <a:r>
              <a:rPr lang="en-US" sz="2025" dirty="0">
                <a:solidFill>
                  <a:srgbClr val="AEB5BB"/>
                </a:solidFill>
                <a:latin typeface="Arial" pitchFamily="34" charset="0"/>
                <a:ea typeface="Arial" pitchFamily="34" charset="-122"/>
                <a:cs typeface="Arial" pitchFamily="34" charset="-120"/>
              </a:rPr>
              <a:t>The full tool loop — not just chatting about code.</a:t>
            </a:r>
            <a:endParaRPr lang="en-US" sz="20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4"/>
        </a:solidFill>
      </p:bgPr>
    </p:bg>
    <p:spTree>
      <p:nvGrpSpPr>
        <p:cNvPr id="1" name=""/>
        <p:cNvGrpSpPr/>
        <p:nvPr/>
      </p:nvGrpSpPr>
      <p:grpSpPr>
        <a:xfrm>
          <a:off x="0" y="0"/>
          <a:ext cx="0" cy="0"/>
          <a:chOff x="0" y="0"/>
          <a:chExt cx="0" cy="0"/>
        </a:xfrm>
      </p:grpSpPr>
      <p:sp>
        <p:nvSpPr>
          <p:cNvPr id="2" name="Text 0"/>
          <p:cNvSpPr/>
          <p:nvPr/>
        </p:nvSpPr>
        <p:spPr>
          <a:xfrm>
            <a:off x="14001129" y="571500"/>
            <a:ext cx="3772582" cy="2324100"/>
          </a:xfrm>
          <a:prstGeom prst="rect">
            <a:avLst/>
          </a:prstGeom>
          <a:noFill/>
          <a:ln/>
        </p:spPr>
        <p:txBody>
          <a:bodyPr wrap="square" lIns="25400" tIns="25400" rIns="25400" bIns="25400" rtlCol="0" anchor="t">
            <a:normAutofit/>
          </a:bodyPr>
          <a:lstStyle/>
          <a:p>
            <a:pPr algn="l" indent="0" marL="0">
              <a:lnSpc>
                <a:spcPct val="80000"/>
              </a:lnSpc>
              <a:buNone/>
            </a:pPr>
            <a:r>
              <a:rPr lang="en-US" sz="22500" b="1" dirty="0">
                <a:solidFill>
                  <a:srgbClr val="161B20"/>
                </a:solidFill>
                <a:latin typeface="Courier New" pitchFamily="34" charset="0"/>
                <a:ea typeface="Courier New" pitchFamily="34" charset="-122"/>
                <a:cs typeface="Courier New" pitchFamily="34" charset="-120"/>
              </a:rPr>
              <a:t>03</a:t>
            </a:r>
            <a:endParaRPr lang="en-US" sz="22500" dirty="0"/>
          </a:p>
        </p:txBody>
      </p:sp>
      <p:sp>
        <p:nvSpPr>
          <p:cNvPr id="3" name="Shape 1"/>
          <p:cNvSpPr/>
          <p:nvPr/>
        </p:nvSpPr>
        <p:spPr>
          <a:xfrm>
            <a:off x="1047750" y="3721943"/>
            <a:ext cx="323825" cy="28525"/>
          </a:xfrm>
          <a:prstGeom prst="rect">
            <a:avLst/>
          </a:prstGeom>
          <a:solidFill>
            <a:srgbClr val="4FB0CE"/>
          </a:solidFill>
          <a:ln/>
        </p:spPr>
      </p:sp>
      <p:sp>
        <p:nvSpPr>
          <p:cNvPr id="4" name="Text 2"/>
          <p:cNvSpPr/>
          <p:nvPr/>
        </p:nvSpPr>
        <p:spPr>
          <a:xfrm>
            <a:off x="1504900" y="3573487"/>
            <a:ext cx="1449251" cy="363537"/>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6AAEC3"/>
                </a:solidFill>
                <a:latin typeface="Courier New" pitchFamily="34" charset="0"/>
                <a:ea typeface="Courier New" pitchFamily="34" charset="-122"/>
                <a:cs typeface="Courier New" pitchFamily="34" charset="-120"/>
              </a:rPr>
              <a:t>THE RUN</a:t>
            </a:r>
            <a:endParaRPr lang="en-US" sz="1950" dirty="0"/>
          </a:p>
        </p:txBody>
      </p:sp>
      <p:sp>
        <p:nvSpPr>
          <p:cNvPr id="5" name="Text 3"/>
          <p:cNvSpPr/>
          <p:nvPr/>
        </p:nvSpPr>
        <p:spPr>
          <a:xfrm>
            <a:off x="1047750" y="4146475"/>
            <a:ext cx="16678275" cy="186695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52" kern="0" dirty="0">
                <a:solidFill>
                  <a:srgbClr val="FFFFFF"/>
                </a:solidFill>
                <a:latin typeface="Arial" pitchFamily="34" charset="0"/>
                <a:ea typeface="Arial" pitchFamily="34" charset="-122"/>
                <a:cs typeface="Arial" pitchFamily="34" charset="-120"/>
              </a:rPr>
              <a:t>Six models, one task</a:t>
            </a:r>
            <a:endParaRPr lang="en-US" sz="7200" dirty="0"/>
          </a:p>
        </p:txBody>
      </p:sp>
      <p:sp>
        <p:nvSpPr>
          <p:cNvPr id="6" name="Text 4"/>
          <p:cNvSpPr/>
          <p:nvPr/>
        </p:nvSpPr>
        <p:spPr>
          <a:xfrm>
            <a:off x="1047750" y="6356325"/>
            <a:ext cx="10267950" cy="395288"/>
          </a:xfrm>
          <a:prstGeom prst="rect">
            <a:avLst/>
          </a:prstGeom>
          <a:noFill/>
          <a:ln/>
        </p:spPr>
        <p:txBody>
          <a:bodyPr wrap="square" lIns="25400" tIns="25400" rIns="25400" bIns="25400" rtlCol="0" anchor="t">
            <a:normAutofit/>
          </a:bodyPr>
          <a:lstStyle/>
          <a:p>
            <a:pPr algn="l" indent="0" marL="0">
              <a:buNone/>
            </a:pPr>
            <a:r>
              <a:rPr lang="en-US" sz="2400" dirty="0">
                <a:solidFill>
                  <a:srgbClr val="AEB5BB"/>
                </a:solidFill>
                <a:latin typeface="Arial" pitchFamily="34" charset="0"/>
                <a:ea typeface="Arial" pitchFamily="34" charset="-122"/>
                <a:cs typeface="Arial" pitchFamily="34" charset="-120"/>
              </a:rPr>
              <a:t xml:space="preserve">Explicit models first — then the routers, with </a:t>
            </a:r>
            <a:pPr algn="l" indent="0" marL="0">
              <a:buNone/>
            </a:pPr>
            <a:r>
              <a:rPr lang="en-US" sz="2175" dirty="0">
                <a:solidFill>
                  <a:srgbClr val="4FB0CE"/>
                </a:solidFill>
                <a:latin typeface="Courier New" pitchFamily="34" charset="0"/>
                <a:ea typeface="Courier New" pitchFamily="34" charset="-122"/>
                <a:cs typeface="Courier New" pitchFamily="34" charset="-120"/>
              </a:rPr>
              <a:t xml:space="preserve">free </a:t>
            </a:r>
            <a:pPr algn="l" indent="0" marL="0">
              <a:buNone/>
            </a:pPr>
            <a:r>
              <a:rPr lang="en-US" sz="2400" dirty="0">
                <a:solidFill>
                  <a:srgbClr val="AEB5BB"/>
                </a:solidFill>
                <a:latin typeface="Arial" pitchFamily="34" charset="0"/>
                <a:ea typeface="Arial" pitchFamily="34" charset="-122"/>
                <a:cs typeface="Arial" pitchFamily="34" charset="-120"/>
              </a:rPr>
              <a:t>saved for last.</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114"/>
        </a:solidFill>
      </p:bgPr>
    </p:bg>
    <p:spTree>
      <p:nvGrpSpPr>
        <p:cNvPr id="1" name=""/>
        <p:cNvGrpSpPr/>
        <p:nvPr/>
      </p:nvGrpSpPr>
      <p:grpSpPr>
        <a:xfrm>
          <a:off x="0" y="0"/>
          <a:ext cx="0" cy="0"/>
          <a:chOff x="0" y="0"/>
          <a:chExt cx="0" cy="0"/>
        </a:xfrm>
      </p:grpSpPr>
      <p:sp>
        <p:nvSpPr>
          <p:cNvPr id="2" name="Shape 0"/>
          <p:cNvSpPr/>
          <p:nvPr/>
        </p:nvSpPr>
        <p:spPr>
          <a:xfrm>
            <a:off x="952500" y="2917403"/>
            <a:ext cx="323825" cy="28525"/>
          </a:xfrm>
          <a:prstGeom prst="rect">
            <a:avLst/>
          </a:prstGeom>
          <a:solidFill>
            <a:srgbClr val="4FB0CE"/>
          </a:solidFill>
          <a:ln/>
        </p:spPr>
      </p:sp>
      <p:sp>
        <p:nvSpPr>
          <p:cNvPr id="3" name="Text 1"/>
          <p:cNvSpPr/>
          <p:nvPr/>
        </p:nvSpPr>
        <p:spPr>
          <a:xfrm>
            <a:off x="1409650" y="2768947"/>
            <a:ext cx="2691544" cy="363537"/>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6AAEC3"/>
                </a:solidFill>
                <a:latin typeface="Courier New" pitchFamily="34" charset="0"/>
                <a:ea typeface="Courier New" pitchFamily="34" charset="-122"/>
                <a:cs typeface="Courier New" pitchFamily="34" charset="-120"/>
              </a:rPr>
              <a:t>RUNNING ORDER</a:t>
            </a:r>
            <a:endParaRPr lang="en-US" sz="1950" dirty="0"/>
          </a:p>
        </p:txBody>
      </p:sp>
      <p:sp>
        <p:nvSpPr>
          <p:cNvPr id="4" name="Text 2"/>
          <p:cNvSpPr/>
          <p:nvPr/>
        </p:nvSpPr>
        <p:spPr>
          <a:xfrm>
            <a:off x="952500" y="3265785"/>
            <a:ext cx="3194410" cy="633412"/>
          </a:xfrm>
          <a:prstGeom prst="rect">
            <a:avLst/>
          </a:prstGeom>
          <a:noFill/>
          <a:ln/>
        </p:spPr>
        <p:txBody>
          <a:bodyPr wrap="square" lIns="25400" tIns="25400" rIns="25400" bIns="25400" rtlCol="0" anchor="t">
            <a:normAutofit/>
          </a:bodyPr>
          <a:lstStyle/>
          <a:p>
            <a:pPr algn="l" indent="0" marL="0">
              <a:buNone/>
            </a:pPr>
            <a:r>
              <a:rPr lang="en-US" sz="4050" b="1" spc="-122" kern="0" dirty="0">
                <a:solidFill>
                  <a:srgbClr val="FFFFFF"/>
                </a:solidFill>
                <a:latin typeface="Arial" pitchFamily="34" charset="0"/>
                <a:ea typeface="Arial" pitchFamily="34" charset="-122"/>
                <a:cs typeface="Arial" pitchFamily="34" charset="-120"/>
              </a:rPr>
              <a:t>The lineup</a:t>
            </a:r>
            <a:endParaRPr lang="en-US" sz="4050" dirty="0"/>
          </a:p>
        </p:txBody>
      </p:sp>
      <p:sp>
        <p:nvSpPr>
          <p:cNvPr id="5" name="Text 3"/>
          <p:cNvSpPr/>
          <p:nvPr/>
        </p:nvSpPr>
        <p:spPr>
          <a:xfrm>
            <a:off x="9798719" y="3550047"/>
            <a:ext cx="2067260" cy="292100"/>
          </a:xfrm>
          <a:prstGeom prst="rect">
            <a:avLst/>
          </a:prstGeom>
          <a:noFill/>
          <a:ln/>
        </p:spPr>
        <p:txBody>
          <a:bodyPr wrap="square" lIns="25400" tIns="25400" rIns="25400" bIns="25400" rtlCol="0" anchor="t">
            <a:normAutofit/>
          </a:bodyPr>
          <a:lstStyle/>
          <a:p>
            <a:pPr algn="l" indent="0" marL="0">
              <a:buNone/>
            </a:pPr>
            <a:r>
              <a:rPr lang="en-US" sz="1725" dirty="0">
                <a:solidFill>
                  <a:srgbClr val="7E868C"/>
                </a:solidFill>
                <a:latin typeface="Arial" pitchFamily="34" charset="0"/>
                <a:ea typeface="Arial" pitchFamily="34" charset="-122"/>
                <a:cs typeface="Arial" pitchFamily="34" charset="-120"/>
              </a:rPr>
              <a:t>Watch three things:</a:t>
            </a:r>
            <a:endParaRPr lang="en-US" sz="1725" dirty="0"/>
          </a:p>
        </p:txBody>
      </p:sp>
      <p:sp>
        <p:nvSpPr>
          <p:cNvPr id="6" name="Text 4"/>
          <p:cNvSpPr/>
          <p:nvPr/>
        </p:nvSpPr>
        <p:spPr>
          <a:xfrm>
            <a:off x="11963796" y="3550047"/>
            <a:ext cx="1269553" cy="292100"/>
          </a:xfrm>
          <a:prstGeom prst="rect">
            <a:avLst/>
          </a:prstGeom>
          <a:noFill/>
          <a:ln/>
        </p:spPr>
        <p:txBody>
          <a:bodyPr wrap="square" lIns="25400" tIns="25400" rIns="25400" bIns="25400" rtlCol="0" anchor="t">
            <a:normAutofit/>
          </a:bodyPr>
          <a:lstStyle/>
          <a:p>
            <a:pPr algn="l" indent="0" marL="0">
              <a:buNone/>
            </a:pPr>
            <a:r>
              <a:rPr lang="en-US" sz="1725" b="1" dirty="0">
                <a:solidFill>
                  <a:srgbClr val="CFD4D8"/>
                </a:solidFill>
                <a:latin typeface="Arial" pitchFamily="34" charset="0"/>
                <a:ea typeface="Arial" pitchFamily="34" charset="-122"/>
                <a:cs typeface="Arial" pitchFamily="34" charset="-120"/>
              </a:rPr>
              <a:t>Did it finish?</a:t>
            </a:r>
            <a:endParaRPr lang="en-US" sz="1725" dirty="0"/>
          </a:p>
        </p:txBody>
      </p:sp>
      <p:sp>
        <p:nvSpPr>
          <p:cNvPr id="7" name="Text 5"/>
          <p:cNvSpPr/>
          <p:nvPr/>
        </p:nvSpPr>
        <p:spPr>
          <a:xfrm>
            <a:off x="13442900" y="3581797"/>
            <a:ext cx="120104" cy="228600"/>
          </a:xfrm>
          <a:prstGeom prst="rect">
            <a:avLst/>
          </a:prstGeom>
          <a:noFill/>
          <a:ln/>
        </p:spPr>
        <p:txBody>
          <a:bodyPr wrap="square" lIns="25400" tIns="25400" rIns="25400" bIns="25400" rtlCol="0" anchor="t">
            <a:normAutofit/>
          </a:bodyPr>
          <a:lstStyle/>
          <a:p>
            <a:pPr algn="l" indent="0" marL="0">
              <a:buNone/>
            </a:pPr>
            <a:r>
              <a:rPr lang="en-US" sz="1200" dirty="0">
                <a:solidFill>
                  <a:srgbClr val="4FB0CE"/>
                </a:solidFill>
                <a:latin typeface="Arial" pitchFamily="34" charset="0"/>
                <a:ea typeface="Arial" pitchFamily="34" charset="-122"/>
                <a:cs typeface="Arial" pitchFamily="34" charset="-120"/>
              </a:rPr>
              <a:t>·</a:t>
            </a:r>
            <a:endParaRPr lang="en-US" sz="1200" dirty="0"/>
          </a:p>
        </p:txBody>
      </p:sp>
      <p:sp>
        <p:nvSpPr>
          <p:cNvPr id="8" name="Text 6"/>
          <p:cNvSpPr/>
          <p:nvPr/>
        </p:nvSpPr>
        <p:spPr>
          <a:xfrm>
            <a:off x="13772555" y="3550047"/>
            <a:ext cx="1674763" cy="292100"/>
          </a:xfrm>
          <a:prstGeom prst="rect">
            <a:avLst/>
          </a:prstGeom>
          <a:noFill/>
          <a:ln/>
        </p:spPr>
        <p:txBody>
          <a:bodyPr wrap="square" lIns="25400" tIns="25400" rIns="25400" bIns="25400" rtlCol="0" anchor="t">
            <a:normAutofit/>
          </a:bodyPr>
          <a:lstStyle/>
          <a:p>
            <a:pPr algn="l" indent="0" marL="0">
              <a:buNone/>
            </a:pPr>
            <a:r>
              <a:rPr lang="en-US" sz="1725" b="1" dirty="0">
                <a:solidFill>
                  <a:srgbClr val="CFD4D8"/>
                </a:solidFill>
                <a:latin typeface="Arial" pitchFamily="34" charset="0"/>
                <a:ea typeface="Arial" pitchFamily="34" charset="-122"/>
                <a:cs typeface="Arial" pitchFamily="34" charset="-120"/>
              </a:rPr>
              <a:t>Clean tool use?</a:t>
            </a:r>
            <a:endParaRPr lang="en-US" sz="1725" dirty="0"/>
          </a:p>
        </p:txBody>
      </p:sp>
      <p:sp>
        <p:nvSpPr>
          <p:cNvPr id="9" name="Text 7"/>
          <p:cNvSpPr/>
          <p:nvPr/>
        </p:nvSpPr>
        <p:spPr>
          <a:xfrm>
            <a:off x="15580816" y="3581797"/>
            <a:ext cx="120104" cy="228600"/>
          </a:xfrm>
          <a:prstGeom prst="rect">
            <a:avLst/>
          </a:prstGeom>
          <a:noFill/>
          <a:ln/>
        </p:spPr>
        <p:txBody>
          <a:bodyPr wrap="square" lIns="25400" tIns="25400" rIns="25400" bIns="25400" rtlCol="0" anchor="t">
            <a:normAutofit/>
          </a:bodyPr>
          <a:lstStyle/>
          <a:p>
            <a:pPr algn="l" indent="0" marL="0">
              <a:buNone/>
            </a:pPr>
            <a:r>
              <a:rPr lang="en-US" sz="1200" dirty="0">
                <a:solidFill>
                  <a:srgbClr val="4FB0CE"/>
                </a:solidFill>
                <a:latin typeface="Arial" pitchFamily="34" charset="0"/>
                <a:ea typeface="Arial" pitchFamily="34" charset="-122"/>
                <a:cs typeface="Arial" pitchFamily="34" charset="-120"/>
              </a:rPr>
              <a:t>·</a:t>
            </a:r>
            <a:endParaRPr lang="en-US" sz="1200" dirty="0"/>
          </a:p>
        </p:txBody>
      </p:sp>
      <p:sp>
        <p:nvSpPr>
          <p:cNvPr id="10" name="Text 8"/>
          <p:cNvSpPr/>
          <p:nvPr/>
        </p:nvSpPr>
        <p:spPr>
          <a:xfrm>
            <a:off x="15910471" y="3550047"/>
            <a:ext cx="1567532" cy="292100"/>
          </a:xfrm>
          <a:prstGeom prst="rect">
            <a:avLst/>
          </a:prstGeom>
          <a:noFill/>
          <a:ln/>
        </p:spPr>
        <p:txBody>
          <a:bodyPr wrap="square" lIns="25400" tIns="25400" rIns="25400" bIns="25400" rtlCol="0" anchor="t">
            <a:normAutofit/>
          </a:bodyPr>
          <a:lstStyle/>
          <a:p>
            <a:pPr algn="l" indent="0" marL="0">
              <a:buNone/>
            </a:pPr>
            <a:r>
              <a:rPr lang="en-US" sz="1725" b="1" dirty="0">
                <a:solidFill>
                  <a:srgbClr val="CFD4D8"/>
                </a:solidFill>
                <a:latin typeface="Arial" pitchFamily="34" charset="0"/>
                <a:ea typeface="Arial" pitchFamily="34" charset="-122"/>
                <a:cs typeface="Arial" pitchFamily="34" charset="-120"/>
              </a:rPr>
              <a:t>Speed &amp; cost?</a:t>
            </a:r>
            <a:endParaRPr lang="en-US" sz="1725" dirty="0"/>
          </a:p>
        </p:txBody>
      </p:sp>
      <p:sp>
        <p:nvSpPr>
          <p:cNvPr id="11" name="Shape 9"/>
          <p:cNvSpPr/>
          <p:nvPr/>
        </p:nvSpPr>
        <p:spPr>
          <a:xfrm>
            <a:off x="952500" y="4184923"/>
            <a:ext cx="5321350" cy="1561827"/>
          </a:xfrm>
          <a:prstGeom prst="roundRect">
            <a:avLst>
              <a:gd name="adj" fmla="val 6708"/>
            </a:avLst>
          </a:prstGeom>
          <a:solidFill>
            <a:srgbClr val="15191D"/>
          </a:solidFill>
          <a:ln w="7937">
            <a:solidFill>
              <a:srgbClr val="242A30"/>
            </a:solidFill>
            <a:prstDash val="solid"/>
          </a:ln>
        </p:spPr>
      </p:sp>
      <p:sp>
        <p:nvSpPr>
          <p:cNvPr id="12" name="Text 10"/>
          <p:cNvSpPr/>
          <p:nvPr/>
        </p:nvSpPr>
        <p:spPr>
          <a:xfrm>
            <a:off x="1246187" y="4473773"/>
            <a:ext cx="281955" cy="260350"/>
          </a:xfrm>
          <a:prstGeom prst="rect">
            <a:avLst/>
          </a:prstGeom>
          <a:noFill/>
          <a:ln/>
        </p:spPr>
        <p:txBody>
          <a:bodyPr wrap="square" lIns="25400" tIns="25400" rIns="25400" bIns="25400" rtlCol="0" anchor="t">
            <a:normAutofit/>
          </a:bodyPr>
          <a:lstStyle/>
          <a:p>
            <a:pPr algn="l" indent="0" marL="0">
              <a:buNone/>
            </a:pPr>
            <a:r>
              <a:rPr lang="en-US" sz="1350" dirty="0">
                <a:solidFill>
                  <a:srgbClr val="5FB4D0"/>
                </a:solidFill>
                <a:latin typeface="Courier New" pitchFamily="34" charset="0"/>
                <a:ea typeface="Courier New" pitchFamily="34" charset="-122"/>
                <a:cs typeface="Courier New" pitchFamily="34" charset="-120"/>
              </a:rPr>
              <a:t>01</a:t>
            </a:r>
            <a:endParaRPr lang="en-US" sz="1350" dirty="0"/>
          </a:p>
        </p:txBody>
      </p:sp>
      <p:sp>
        <p:nvSpPr>
          <p:cNvPr id="13" name="Shape 11"/>
          <p:cNvSpPr/>
          <p:nvPr/>
        </p:nvSpPr>
        <p:spPr>
          <a:xfrm>
            <a:off x="5052839" y="4459511"/>
            <a:ext cx="927323" cy="250775"/>
          </a:xfrm>
          <a:prstGeom prst="roundRect">
            <a:avLst>
              <a:gd name="adj" fmla="val 18991"/>
            </a:avLst>
          </a:prstGeom>
          <a:solidFill>
            <a:srgbClr val="15252B"/>
          </a:solidFill>
          <a:ln w="7937">
            <a:solidFill>
              <a:srgbClr val="244049"/>
            </a:solidFill>
            <a:prstDash val="solid"/>
          </a:ln>
        </p:spPr>
      </p:sp>
      <p:sp>
        <p:nvSpPr>
          <p:cNvPr id="14" name="Text 12"/>
          <p:cNvSpPr/>
          <p:nvPr/>
        </p:nvSpPr>
        <p:spPr>
          <a:xfrm>
            <a:off x="5156026" y="4505548"/>
            <a:ext cx="797148" cy="196800"/>
          </a:xfrm>
          <a:prstGeom prst="rect">
            <a:avLst/>
          </a:prstGeom>
          <a:noFill/>
          <a:ln/>
        </p:spPr>
        <p:txBody>
          <a:bodyPr wrap="square" lIns="25400" tIns="25400" rIns="25400" bIns="25400" rtlCol="0" anchor="t">
            <a:normAutofit/>
          </a:bodyPr>
          <a:lstStyle/>
          <a:p>
            <a:pPr algn="l" indent="0" marL="0">
              <a:buNone/>
            </a:pPr>
            <a:r>
              <a:rPr lang="en-US" sz="1050" b="1" spc="126" kern="0" dirty="0">
                <a:solidFill>
                  <a:srgbClr val="6AAEC3"/>
                </a:solidFill>
                <a:latin typeface="Arial" pitchFamily="34" charset="0"/>
                <a:ea typeface="Arial" pitchFamily="34" charset="-122"/>
                <a:cs typeface="Arial" pitchFamily="34" charset="-120"/>
              </a:rPr>
              <a:t>EXPLICIT</a:t>
            </a:r>
            <a:endParaRPr lang="en-US" sz="1050" dirty="0"/>
          </a:p>
        </p:txBody>
      </p:sp>
      <p:sp>
        <p:nvSpPr>
          <p:cNvPr id="15" name="Text 13"/>
          <p:cNvSpPr/>
          <p:nvPr/>
        </p:nvSpPr>
        <p:spPr>
          <a:xfrm>
            <a:off x="1246187" y="4824512"/>
            <a:ext cx="5207372"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Arial" pitchFamily="34" charset="0"/>
                <a:ea typeface="Arial" pitchFamily="34" charset="-122"/>
                <a:cs typeface="Arial" pitchFamily="34" charset="-120"/>
              </a:rPr>
              <a:t>GLM</a:t>
            </a:r>
            <a:endParaRPr lang="en-US" sz="2250" dirty="0"/>
          </a:p>
        </p:txBody>
      </p:sp>
      <p:sp>
        <p:nvSpPr>
          <p:cNvPr id="16" name="Text 14"/>
          <p:cNvSpPr/>
          <p:nvPr/>
        </p:nvSpPr>
        <p:spPr>
          <a:xfrm>
            <a:off x="1246187" y="5234037"/>
            <a:ext cx="5207372" cy="276225"/>
          </a:xfrm>
          <a:prstGeom prst="rect">
            <a:avLst/>
          </a:prstGeom>
          <a:noFill/>
          <a:ln/>
        </p:spPr>
        <p:txBody>
          <a:bodyPr wrap="square" lIns="25400" tIns="25400" rIns="25400" bIns="25400" rtlCol="0" anchor="t">
            <a:normAutofit/>
          </a:bodyPr>
          <a:lstStyle/>
          <a:p>
            <a:pPr algn="l" indent="0" marL="0">
              <a:buNone/>
            </a:pPr>
            <a:r>
              <a:rPr lang="en-US" sz="1425" dirty="0">
                <a:solidFill>
                  <a:srgbClr val="9AA1A7"/>
                </a:solidFill>
                <a:latin typeface="Courier New" pitchFamily="34" charset="0"/>
                <a:ea typeface="Courier New" pitchFamily="34" charset="-122"/>
                <a:cs typeface="Courier New" pitchFamily="34" charset="-120"/>
              </a:rPr>
              <a:t>z-ai/glm-5.2</a:t>
            </a:r>
            <a:endParaRPr lang="en-US" sz="1425" dirty="0"/>
          </a:p>
        </p:txBody>
      </p:sp>
      <p:sp>
        <p:nvSpPr>
          <p:cNvPr id="17" name="Shape 15"/>
          <p:cNvSpPr/>
          <p:nvPr/>
        </p:nvSpPr>
        <p:spPr>
          <a:xfrm>
            <a:off x="6483325" y="4184923"/>
            <a:ext cx="5321350" cy="1561827"/>
          </a:xfrm>
          <a:prstGeom prst="roundRect">
            <a:avLst>
              <a:gd name="adj" fmla="val 6708"/>
            </a:avLst>
          </a:prstGeom>
          <a:solidFill>
            <a:srgbClr val="15191D"/>
          </a:solidFill>
          <a:ln w="7937">
            <a:solidFill>
              <a:srgbClr val="242A30"/>
            </a:solidFill>
            <a:prstDash val="solid"/>
          </a:ln>
        </p:spPr>
      </p:sp>
      <p:sp>
        <p:nvSpPr>
          <p:cNvPr id="18" name="Text 16"/>
          <p:cNvSpPr/>
          <p:nvPr/>
        </p:nvSpPr>
        <p:spPr>
          <a:xfrm>
            <a:off x="6777013" y="4473773"/>
            <a:ext cx="281955" cy="260350"/>
          </a:xfrm>
          <a:prstGeom prst="rect">
            <a:avLst/>
          </a:prstGeom>
          <a:noFill/>
          <a:ln/>
        </p:spPr>
        <p:txBody>
          <a:bodyPr wrap="square" lIns="25400" tIns="25400" rIns="25400" bIns="25400" rtlCol="0" anchor="t">
            <a:normAutofit/>
          </a:bodyPr>
          <a:lstStyle/>
          <a:p>
            <a:pPr algn="l" indent="0" marL="0">
              <a:buNone/>
            </a:pPr>
            <a:r>
              <a:rPr lang="en-US" sz="1350" dirty="0">
                <a:solidFill>
                  <a:srgbClr val="5FB4D0"/>
                </a:solidFill>
                <a:latin typeface="Courier New" pitchFamily="34" charset="0"/>
                <a:ea typeface="Courier New" pitchFamily="34" charset="-122"/>
                <a:cs typeface="Courier New" pitchFamily="34" charset="-120"/>
              </a:rPr>
              <a:t>02</a:t>
            </a:r>
            <a:endParaRPr lang="en-US" sz="1350" dirty="0"/>
          </a:p>
        </p:txBody>
      </p:sp>
      <p:sp>
        <p:nvSpPr>
          <p:cNvPr id="19" name="Shape 17"/>
          <p:cNvSpPr/>
          <p:nvPr/>
        </p:nvSpPr>
        <p:spPr>
          <a:xfrm>
            <a:off x="10583663" y="4459511"/>
            <a:ext cx="927323" cy="250775"/>
          </a:xfrm>
          <a:prstGeom prst="roundRect">
            <a:avLst>
              <a:gd name="adj" fmla="val 18991"/>
            </a:avLst>
          </a:prstGeom>
          <a:solidFill>
            <a:srgbClr val="15252B"/>
          </a:solidFill>
          <a:ln w="7937">
            <a:solidFill>
              <a:srgbClr val="244049"/>
            </a:solidFill>
            <a:prstDash val="solid"/>
          </a:ln>
        </p:spPr>
      </p:sp>
      <p:sp>
        <p:nvSpPr>
          <p:cNvPr id="20" name="Text 18"/>
          <p:cNvSpPr/>
          <p:nvPr/>
        </p:nvSpPr>
        <p:spPr>
          <a:xfrm>
            <a:off x="10686851" y="4505548"/>
            <a:ext cx="797148" cy="196800"/>
          </a:xfrm>
          <a:prstGeom prst="rect">
            <a:avLst/>
          </a:prstGeom>
          <a:noFill/>
          <a:ln/>
        </p:spPr>
        <p:txBody>
          <a:bodyPr wrap="square" lIns="25400" tIns="25400" rIns="25400" bIns="25400" rtlCol="0" anchor="t">
            <a:normAutofit/>
          </a:bodyPr>
          <a:lstStyle/>
          <a:p>
            <a:pPr algn="l" indent="0" marL="0">
              <a:buNone/>
            </a:pPr>
            <a:r>
              <a:rPr lang="en-US" sz="1050" b="1" spc="126" kern="0" dirty="0">
                <a:solidFill>
                  <a:srgbClr val="6AAEC3"/>
                </a:solidFill>
                <a:latin typeface="Arial" pitchFamily="34" charset="0"/>
                <a:ea typeface="Arial" pitchFamily="34" charset="-122"/>
                <a:cs typeface="Arial" pitchFamily="34" charset="-120"/>
              </a:rPr>
              <a:t>EXPLICIT</a:t>
            </a:r>
            <a:endParaRPr lang="en-US" sz="1050" dirty="0"/>
          </a:p>
        </p:txBody>
      </p:sp>
      <p:sp>
        <p:nvSpPr>
          <p:cNvPr id="21" name="Text 19"/>
          <p:cNvSpPr/>
          <p:nvPr/>
        </p:nvSpPr>
        <p:spPr>
          <a:xfrm>
            <a:off x="6777013" y="4824512"/>
            <a:ext cx="5207372"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Arial" pitchFamily="34" charset="0"/>
                <a:ea typeface="Arial" pitchFamily="34" charset="-122"/>
                <a:cs typeface="Arial" pitchFamily="34" charset="-120"/>
              </a:rPr>
              <a:t>DeepSeek</a:t>
            </a:r>
            <a:endParaRPr lang="en-US" sz="2250" dirty="0"/>
          </a:p>
        </p:txBody>
      </p:sp>
      <p:sp>
        <p:nvSpPr>
          <p:cNvPr id="22" name="Text 20"/>
          <p:cNvSpPr/>
          <p:nvPr/>
        </p:nvSpPr>
        <p:spPr>
          <a:xfrm>
            <a:off x="6777013" y="5234037"/>
            <a:ext cx="5207372" cy="276225"/>
          </a:xfrm>
          <a:prstGeom prst="rect">
            <a:avLst/>
          </a:prstGeom>
          <a:noFill/>
          <a:ln/>
        </p:spPr>
        <p:txBody>
          <a:bodyPr wrap="square" lIns="25400" tIns="25400" rIns="25400" bIns="25400" rtlCol="0" anchor="t">
            <a:normAutofit/>
          </a:bodyPr>
          <a:lstStyle/>
          <a:p>
            <a:pPr algn="l" indent="0" marL="0">
              <a:buNone/>
            </a:pPr>
            <a:r>
              <a:rPr lang="en-US" sz="1425" dirty="0">
                <a:solidFill>
                  <a:srgbClr val="9AA1A7"/>
                </a:solidFill>
                <a:latin typeface="Courier New" pitchFamily="34" charset="0"/>
                <a:ea typeface="Courier New" pitchFamily="34" charset="-122"/>
                <a:cs typeface="Courier New" pitchFamily="34" charset="-120"/>
              </a:rPr>
              <a:t>deepseek/deepseek-v4-flash</a:t>
            </a:r>
            <a:endParaRPr lang="en-US" sz="1425" dirty="0"/>
          </a:p>
        </p:txBody>
      </p:sp>
      <p:sp>
        <p:nvSpPr>
          <p:cNvPr id="23" name="Shape 21"/>
          <p:cNvSpPr/>
          <p:nvPr/>
        </p:nvSpPr>
        <p:spPr>
          <a:xfrm>
            <a:off x="12014150" y="4184923"/>
            <a:ext cx="5321350" cy="1561827"/>
          </a:xfrm>
          <a:prstGeom prst="roundRect">
            <a:avLst>
              <a:gd name="adj" fmla="val 6708"/>
            </a:avLst>
          </a:prstGeom>
          <a:solidFill>
            <a:srgbClr val="15191D"/>
          </a:solidFill>
          <a:ln w="7937">
            <a:solidFill>
              <a:srgbClr val="242A30"/>
            </a:solidFill>
            <a:prstDash val="solid"/>
          </a:ln>
        </p:spPr>
      </p:sp>
      <p:sp>
        <p:nvSpPr>
          <p:cNvPr id="24" name="Text 22"/>
          <p:cNvSpPr/>
          <p:nvPr/>
        </p:nvSpPr>
        <p:spPr>
          <a:xfrm>
            <a:off x="12307837" y="4473773"/>
            <a:ext cx="281955" cy="260350"/>
          </a:xfrm>
          <a:prstGeom prst="rect">
            <a:avLst/>
          </a:prstGeom>
          <a:noFill/>
          <a:ln/>
        </p:spPr>
        <p:txBody>
          <a:bodyPr wrap="square" lIns="25400" tIns="25400" rIns="25400" bIns="25400" rtlCol="0" anchor="t">
            <a:normAutofit/>
          </a:bodyPr>
          <a:lstStyle/>
          <a:p>
            <a:pPr algn="l" indent="0" marL="0">
              <a:buNone/>
            </a:pPr>
            <a:r>
              <a:rPr lang="en-US" sz="1350" dirty="0">
                <a:solidFill>
                  <a:srgbClr val="5FB4D0"/>
                </a:solidFill>
                <a:latin typeface="Courier New" pitchFamily="34" charset="0"/>
                <a:ea typeface="Courier New" pitchFamily="34" charset="-122"/>
                <a:cs typeface="Courier New" pitchFamily="34" charset="-120"/>
              </a:rPr>
              <a:t>03</a:t>
            </a:r>
            <a:endParaRPr lang="en-US" sz="1350" dirty="0"/>
          </a:p>
        </p:txBody>
      </p:sp>
      <p:sp>
        <p:nvSpPr>
          <p:cNvPr id="25" name="Shape 23"/>
          <p:cNvSpPr/>
          <p:nvPr/>
        </p:nvSpPr>
        <p:spPr>
          <a:xfrm>
            <a:off x="16114488" y="4459511"/>
            <a:ext cx="927323" cy="250775"/>
          </a:xfrm>
          <a:prstGeom prst="roundRect">
            <a:avLst>
              <a:gd name="adj" fmla="val 18991"/>
            </a:avLst>
          </a:prstGeom>
          <a:solidFill>
            <a:srgbClr val="15252B"/>
          </a:solidFill>
          <a:ln w="7937">
            <a:solidFill>
              <a:srgbClr val="244049"/>
            </a:solidFill>
            <a:prstDash val="solid"/>
          </a:ln>
        </p:spPr>
      </p:sp>
      <p:sp>
        <p:nvSpPr>
          <p:cNvPr id="26" name="Text 24"/>
          <p:cNvSpPr/>
          <p:nvPr/>
        </p:nvSpPr>
        <p:spPr>
          <a:xfrm>
            <a:off x="16217676" y="4505548"/>
            <a:ext cx="797148" cy="196800"/>
          </a:xfrm>
          <a:prstGeom prst="rect">
            <a:avLst/>
          </a:prstGeom>
          <a:noFill/>
          <a:ln/>
        </p:spPr>
        <p:txBody>
          <a:bodyPr wrap="square" lIns="25400" tIns="25400" rIns="25400" bIns="25400" rtlCol="0" anchor="t">
            <a:normAutofit/>
          </a:bodyPr>
          <a:lstStyle/>
          <a:p>
            <a:pPr algn="l" indent="0" marL="0">
              <a:buNone/>
            </a:pPr>
            <a:r>
              <a:rPr lang="en-US" sz="1050" b="1" spc="126" kern="0" dirty="0">
                <a:solidFill>
                  <a:srgbClr val="6AAEC3"/>
                </a:solidFill>
                <a:latin typeface="Arial" pitchFamily="34" charset="0"/>
                <a:ea typeface="Arial" pitchFamily="34" charset="-122"/>
                <a:cs typeface="Arial" pitchFamily="34" charset="-120"/>
              </a:rPr>
              <a:t>EXPLICIT</a:t>
            </a:r>
            <a:endParaRPr lang="en-US" sz="1050" dirty="0"/>
          </a:p>
        </p:txBody>
      </p:sp>
      <p:sp>
        <p:nvSpPr>
          <p:cNvPr id="27" name="Text 25"/>
          <p:cNvSpPr/>
          <p:nvPr/>
        </p:nvSpPr>
        <p:spPr>
          <a:xfrm>
            <a:off x="12307837" y="4824512"/>
            <a:ext cx="5207372"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Arial" pitchFamily="34" charset="0"/>
                <a:ea typeface="Arial" pitchFamily="34" charset="-122"/>
                <a:cs typeface="Arial" pitchFamily="34" charset="-120"/>
              </a:rPr>
              <a:t>Kimi</a:t>
            </a:r>
            <a:endParaRPr lang="en-US" sz="2250" dirty="0"/>
          </a:p>
        </p:txBody>
      </p:sp>
      <p:sp>
        <p:nvSpPr>
          <p:cNvPr id="28" name="Text 26"/>
          <p:cNvSpPr/>
          <p:nvPr/>
        </p:nvSpPr>
        <p:spPr>
          <a:xfrm>
            <a:off x="12307837" y="5234037"/>
            <a:ext cx="5207372" cy="276225"/>
          </a:xfrm>
          <a:prstGeom prst="rect">
            <a:avLst/>
          </a:prstGeom>
          <a:noFill/>
          <a:ln/>
        </p:spPr>
        <p:txBody>
          <a:bodyPr wrap="square" lIns="25400" tIns="25400" rIns="25400" bIns="25400" rtlCol="0" anchor="t">
            <a:normAutofit/>
          </a:bodyPr>
          <a:lstStyle/>
          <a:p>
            <a:pPr algn="l" indent="0" marL="0">
              <a:buNone/>
            </a:pPr>
            <a:r>
              <a:rPr lang="en-US" sz="1425" dirty="0">
                <a:solidFill>
                  <a:srgbClr val="9AA1A7"/>
                </a:solidFill>
                <a:latin typeface="Courier New" pitchFamily="34" charset="0"/>
                <a:ea typeface="Courier New" pitchFamily="34" charset="-122"/>
                <a:cs typeface="Courier New" pitchFamily="34" charset="-120"/>
              </a:rPr>
              <a:t>moonshotai/kimi-latest</a:t>
            </a:r>
            <a:endParaRPr lang="en-US" sz="1425" dirty="0"/>
          </a:p>
        </p:txBody>
      </p:sp>
      <p:sp>
        <p:nvSpPr>
          <p:cNvPr id="29" name="Shape 27"/>
          <p:cNvSpPr/>
          <p:nvPr/>
        </p:nvSpPr>
        <p:spPr>
          <a:xfrm>
            <a:off x="952500" y="5956225"/>
            <a:ext cx="5321350" cy="1561827"/>
          </a:xfrm>
          <a:prstGeom prst="roundRect">
            <a:avLst>
              <a:gd name="adj" fmla="val 6708"/>
            </a:avLst>
          </a:prstGeom>
          <a:solidFill>
            <a:srgbClr val="15191D"/>
          </a:solidFill>
          <a:ln w="7937">
            <a:solidFill>
              <a:srgbClr val="242A30"/>
            </a:solidFill>
            <a:prstDash val="solid"/>
          </a:ln>
        </p:spPr>
      </p:sp>
      <p:sp>
        <p:nvSpPr>
          <p:cNvPr id="30" name="Text 28"/>
          <p:cNvSpPr/>
          <p:nvPr/>
        </p:nvSpPr>
        <p:spPr>
          <a:xfrm>
            <a:off x="1246187" y="6245076"/>
            <a:ext cx="281955" cy="260350"/>
          </a:xfrm>
          <a:prstGeom prst="rect">
            <a:avLst/>
          </a:prstGeom>
          <a:noFill/>
          <a:ln/>
        </p:spPr>
        <p:txBody>
          <a:bodyPr wrap="square" lIns="25400" tIns="25400" rIns="25400" bIns="25400" rtlCol="0" anchor="t">
            <a:normAutofit/>
          </a:bodyPr>
          <a:lstStyle/>
          <a:p>
            <a:pPr algn="l" indent="0" marL="0">
              <a:buNone/>
            </a:pPr>
            <a:r>
              <a:rPr lang="en-US" sz="1350" dirty="0">
                <a:solidFill>
                  <a:srgbClr val="5FB4D0"/>
                </a:solidFill>
                <a:latin typeface="Courier New" pitchFamily="34" charset="0"/>
                <a:ea typeface="Courier New" pitchFamily="34" charset="-122"/>
                <a:cs typeface="Courier New" pitchFamily="34" charset="-120"/>
              </a:rPr>
              <a:t>04</a:t>
            </a:r>
            <a:endParaRPr lang="en-US" sz="1350" dirty="0"/>
          </a:p>
        </p:txBody>
      </p:sp>
      <p:sp>
        <p:nvSpPr>
          <p:cNvPr id="31" name="Shape 29"/>
          <p:cNvSpPr/>
          <p:nvPr/>
        </p:nvSpPr>
        <p:spPr>
          <a:xfrm>
            <a:off x="5052839" y="6230813"/>
            <a:ext cx="927323" cy="250775"/>
          </a:xfrm>
          <a:prstGeom prst="roundRect">
            <a:avLst>
              <a:gd name="adj" fmla="val 18991"/>
            </a:avLst>
          </a:prstGeom>
          <a:solidFill>
            <a:srgbClr val="15252B"/>
          </a:solidFill>
          <a:ln w="7937">
            <a:solidFill>
              <a:srgbClr val="244049"/>
            </a:solidFill>
            <a:prstDash val="solid"/>
          </a:ln>
        </p:spPr>
      </p:sp>
      <p:sp>
        <p:nvSpPr>
          <p:cNvPr id="32" name="Text 30"/>
          <p:cNvSpPr/>
          <p:nvPr/>
        </p:nvSpPr>
        <p:spPr>
          <a:xfrm>
            <a:off x="5156026" y="6276851"/>
            <a:ext cx="797148" cy="196800"/>
          </a:xfrm>
          <a:prstGeom prst="rect">
            <a:avLst/>
          </a:prstGeom>
          <a:noFill/>
          <a:ln/>
        </p:spPr>
        <p:txBody>
          <a:bodyPr wrap="square" lIns="25400" tIns="25400" rIns="25400" bIns="25400" rtlCol="0" anchor="t">
            <a:normAutofit/>
          </a:bodyPr>
          <a:lstStyle/>
          <a:p>
            <a:pPr algn="l" indent="0" marL="0">
              <a:buNone/>
            </a:pPr>
            <a:r>
              <a:rPr lang="en-US" sz="1050" b="1" spc="126" kern="0" dirty="0">
                <a:solidFill>
                  <a:srgbClr val="6AAEC3"/>
                </a:solidFill>
                <a:latin typeface="Arial" pitchFamily="34" charset="0"/>
                <a:ea typeface="Arial" pitchFamily="34" charset="-122"/>
                <a:cs typeface="Arial" pitchFamily="34" charset="-120"/>
              </a:rPr>
              <a:t>EXPLICIT</a:t>
            </a:r>
            <a:endParaRPr lang="en-US" sz="1050" dirty="0"/>
          </a:p>
        </p:txBody>
      </p:sp>
      <p:sp>
        <p:nvSpPr>
          <p:cNvPr id="33" name="Text 31"/>
          <p:cNvSpPr/>
          <p:nvPr/>
        </p:nvSpPr>
        <p:spPr>
          <a:xfrm>
            <a:off x="1246187" y="6595814"/>
            <a:ext cx="5207372"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Arial" pitchFamily="34" charset="0"/>
                <a:ea typeface="Arial" pitchFamily="34" charset="-122"/>
                <a:cs typeface="Arial" pitchFamily="34" charset="-120"/>
              </a:rPr>
              <a:t>Claude — full circle</a:t>
            </a:r>
            <a:endParaRPr lang="en-US" sz="2250" dirty="0"/>
          </a:p>
        </p:txBody>
      </p:sp>
      <p:sp>
        <p:nvSpPr>
          <p:cNvPr id="34" name="Text 32"/>
          <p:cNvSpPr/>
          <p:nvPr/>
        </p:nvSpPr>
        <p:spPr>
          <a:xfrm>
            <a:off x="1246187" y="7005340"/>
            <a:ext cx="5207372" cy="276225"/>
          </a:xfrm>
          <a:prstGeom prst="rect">
            <a:avLst/>
          </a:prstGeom>
          <a:noFill/>
          <a:ln/>
        </p:spPr>
        <p:txBody>
          <a:bodyPr wrap="square" lIns="25400" tIns="25400" rIns="25400" bIns="25400" rtlCol="0" anchor="t">
            <a:normAutofit/>
          </a:bodyPr>
          <a:lstStyle/>
          <a:p>
            <a:pPr algn="l" indent="0" marL="0">
              <a:buNone/>
            </a:pPr>
            <a:r>
              <a:rPr lang="en-US" sz="1425" dirty="0">
                <a:solidFill>
                  <a:srgbClr val="9AA1A7"/>
                </a:solidFill>
                <a:latin typeface="Courier New" pitchFamily="34" charset="0"/>
                <a:ea typeface="Courier New" pitchFamily="34" charset="-122"/>
                <a:cs typeface="Courier New" pitchFamily="34" charset="-120"/>
              </a:rPr>
              <a:t>anthropic/claude-opus-4.6</a:t>
            </a:r>
            <a:endParaRPr lang="en-US" sz="1425" dirty="0"/>
          </a:p>
        </p:txBody>
      </p:sp>
      <p:sp>
        <p:nvSpPr>
          <p:cNvPr id="35" name="Shape 33"/>
          <p:cNvSpPr/>
          <p:nvPr/>
        </p:nvSpPr>
        <p:spPr>
          <a:xfrm>
            <a:off x="6483325" y="5956225"/>
            <a:ext cx="5321350" cy="1561827"/>
          </a:xfrm>
          <a:prstGeom prst="roundRect">
            <a:avLst>
              <a:gd name="adj" fmla="val 6708"/>
            </a:avLst>
          </a:prstGeom>
          <a:solidFill>
            <a:srgbClr val="15191D"/>
          </a:solidFill>
          <a:ln w="7937">
            <a:solidFill>
              <a:srgbClr val="2E8BA8"/>
            </a:solidFill>
            <a:prstDash val="solid"/>
          </a:ln>
        </p:spPr>
      </p:sp>
      <p:sp>
        <p:nvSpPr>
          <p:cNvPr id="36" name="Text 34"/>
          <p:cNvSpPr/>
          <p:nvPr/>
        </p:nvSpPr>
        <p:spPr>
          <a:xfrm>
            <a:off x="6777013" y="6237138"/>
            <a:ext cx="281955" cy="260350"/>
          </a:xfrm>
          <a:prstGeom prst="rect">
            <a:avLst/>
          </a:prstGeom>
          <a:noFill/>
          <a:ln/>
        </p:spPr>
        <p:txBody>
          <a:bodyPr wrap="square" lIns="25400" tIns="25400" rIns="25400" bIns="25400" rtlCol="0" anchor="t">
            <a:normAutofit/>
          </a:bodyPr>
          <a:lstStyle/>
          <a:p>
            <a:pPr algn="l" indent="0" marL="0">
              <a:buNone/>
            </a:pPr>
            <a:r>
              <a:rPr lang="en-US" sz="1350" dirty="0">
                <a:solidFill>
                  <a:srgbClr val="5FB4D0"/>
                </a:solidFill>
                <a:latin typeface="Courier New" pitchFamily="34" charset="0"/>
                <a:ea typeface="Courier New" pitchFamily="34" charset="-122"/>
                <a:cs typeface="Courier New" pitchFamily="34" charset="-120"/>
              </a:rPr>
              <a:t>05</a:t>
            </a:r>
            <a:endParaRPr lang="en-US" sz="1350" dirty="0"/>
          </a:p>
        </p:txBody>
      </p:sp>
      <p:sp>
        <p:nvSpPr>
          <p:cNvPr id="37" name="Shape 35"/>
          <p:cNvSpPr/>
          <p:nvPr/>
        </p:nvSpPr>
        <p:spPr>
          <a:xfrm>
            <a:off x="10661426" y="6230813"/>
            <a:ext cx="849560" cy="234900"/>
          </a:xfrm>
          <a:prstGeom prst="roundRect">
            <a:avLst>
              <a:gd name="adj" fmla="val 20275"/>
            </a:avLst>
          </a:prstGeom>
          <a:solidFill>
            <a:srgbClr val="4FB0CE"/>
          </a:solidFill>
          <a:ln/>
        </p:spPr>
      </p:sp>
      <p:sp>
        <p:nvSpPr>
          <p:cNvPr id="38" name="Text 36"/>
          <p:cNvSpPr/>
          <p:nvPr/>
        </p:nvSpPr>
        <p:spPr>
          <a:xfrm>
            <a:off x="10756676" y="6268913"/>
            <a:ext cx="735260" cy="196800"/>
          </a:xfrm>
          <a:prstGeom prst="rect">
            <a:avLst/>
          </a:prstGeom>
          <a:noFill/>
          <a:ln/>
        </p:spPr>
        <p:txBody>
          <a:bodyPr wrap="square" lIns="25400" tIns="25400" rIns="25400" bIns="25400" rtlCol="0" anchor="t">
            <a:normAutofit/>
          </a:bodyPr>
          <a:lstStyle/>
          <a:p>
            <a:pPr algn="l" indent="0" marL="0">
              <a:buNone/>
            </a:pPr>
            <a:r>
              <a:rPr lang="en-US" sz="1050" b="1" spc="126" kern="0" dirty="0">
                <a:solidFill>
                  <a:srgbClr val="0E1114"/>
                </a:solidFill>
                <a:latin typeface="Arial" pitchFamily="34" charset="0"/>
                <a:ea typeface="Arial" pitchFamily="34" charset="-122"/>
                <a:cs typeface="Arial" pitchFamily="34" charset="-120"/>
              </a:rPr>
              <a:t>ROUTER</a:t>
            </a:r>
            <a:endParaRPr lang="en-US" sz="1050" dirty="0"/>
          </a:p>
        </p:txBody>
      </p:sp>
      <p:sp>
        <p:nvSpPr>
          <p:cNvPr id="39" name="Text 37"/>
          <p:cNvSpPr/>
          <p:nvPr/>
        </p:nvSpPr>
        <p:spPr>
          <a:xfrm>
            <a:off x="6777013" y="6579939"/>
            <a:ext cx="5207372"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Arial" pitchFamily="34" charset="0"/>
                <a:ea typeface="Arial" pitchFamily="34" charset="-122"/>
                <a:cs typeface="Arial" pitchFamily="34" charset="-120"/>
              </a:rPr>
              <a:t>Auto</a:t>
            </a:r>
            <a:endParaRPr lang="en-US" sz="2250" dirty="0"/>
          </a:p>
        </p:txBody>
      </p:sp>
      <p:sp>
        <p:nvSpPr>
          <p:cNvPr id="40" name="Text 38"/>
          <p:cNvSpPr/>
          <p:nvPr/>
        </p:nvSpPr>
        <p:spPr>
          <a:xfrm>
            <a:off x="6777013" y="6989465"/>
            <a:ext cx="5207372" cy="276225"/>
          </a:xfrm>
          <a:prstGeom prst="rect">
            <a:avLst/>
          </a:prstGeom>
          <a:noFill/>
          <a:ln/>
        </p:spPr>
        <p:txBody>
          <a:bodyPr wrap="square" lIns="25400" tIns="25400" rIns="25400" bIns="25400" rtlCol="0" anchor="t">
            <a:normAutofit/>
          </a:bodyPr>
          <a:lstStyle/>
          <a:p>
            <a:pPr algn="l" indent="0" marL="0">
              <a:buNone/>
            </a:pPr>
            <a:r>
              <a:rPr lang="en-US" sz="1425" dirty="0">
                <a:solidFill>
                  <a:srgbClr val="9AA1A7"/>
                </a:solidFill>
                <a:latin typeface="Courier New" pitchFamily="34" charset="0"/>
                <a:ea typeface="Courier New" pitchFamily="34" charset="-122"/>
                <a:cs typeface="Courier New" pitchFamily="34" charset="-120"/>
              </a:rPr>
              <a:t>openrouter/auto</a:t>
            </a:r>
            <a:endParaRPr lang="en-US" sz="1425" dirty="0"/>
          </a:p>
        </p:txBody>
      </p:sp>
      <p:sp>
        <p:nvSpPr>
          <p:cNvPr id="41" name="Shape 39"/>
          <p:cNvSpPr/>
          <p:nvPr/>
        </p:nvSpPr>
        <p:spPr>
          <a:xfrm>
            <a:off x="12014150" y="5956225"/>
            <a:ext cx="5321350" cy="1561827"/>
          </a:xfrm>
          <a:prstGeom prst="roundRect">
            <a:avLst>
              <a:gd name="adj" fmla="val 6708"/>
            </a:avLst>
          </a:prstGeom>
          <a:solidFill>
            <a:srgbClr val="15191D"/>
          </a:solidFill>
          <a:ln w="7937">
            <a:solidFill>
              <a:srgbClr val="2E8BA8"/>
            </a:solidFill>
            <a:prstDash val="solid"/>
          </a:ln>
        </p:spPr>
      </p:sp>
      <p:sp>
        <p:nvSpPr>
          <p:cNvPr id="42" name="Text 40"/>
          <p:cNvSpPr/>
          <p:nvPr/>
        </p:nvSpPr>
        <p:spPr>
          <a:xfrm>
            <a:off x="12307837" y="6237138"/>
            <a:ext cx="281955" cy="260350"/>
          </a:xfrm>
          <a:prstGeom prst="rect">
            <a:avLst/>
          </a:prstGeom>
          <a:noFill/>
          <a:ln/>
        </p:spPr>
        <p:txBody>
          <a:bodyPr wrap="square" lIns="25400" tIns="25400" rIns="25400" bIns="25400" rtlCol="0" anchor="t">
            <a:normAutofit/>
          </a:bodyPr>
          <a:lstStyle/>
          <a:p>
            <a:pPr algn="l" indent="0" marL="0">
              <a:buNone/>
            </a:pPr>
            <a:r>
              <a:rPr lang="en-US" sz="1350" dirty="0">
                <a:solidFill>
                  <a:srgbClr val="5FB4D0"/>
                </a:solidFill>
                <a:latin typeface="Courier New" pitchFamily="34" charset="0"/>
                <a:ea typeface="Courier New" pitchFamily="34" charset="-122"/>
                <a:cs typeface="Courier New" pitchFamily="34" charset="-120"/>
              </a:rPr>
              <a:t>06</a:t>
            </a:r>
            <a:endParaRPr lang="en-US" sz="1350" dirty="0"/>
          </a:p>
        </p:txBody>
      </p:sp>
      <p:sp>
        <p:nvSpPr>
          <p:cNvPr id="43" name="Shape 41"/>
          <p:cNvSpPr/>
          <p:nvPr/>
        </p:nvSpPr>
        <p:spPr>
          <a:xfrm>
            <a:off x="15958840" y="6230813"/>
            <a:ext cx="1082973" cy="234900"/>
          </a:xfrm>
          <a:prstGeom prst="roundRect">
            <a:avLst>
              <a:gd name="adj" fmla="val 20275"/>
            </a:avLst>
          </a:prstGeom>
          <a:solidFill>
            <a:srgbClr val="61C554"/>
          </a:solidFill>
          <a:ln/>
        </p:spPr>
      </p:sp>
      <p:sp>
        <p:nvSpPr>
          <p:cNvPr id="44" name="Text 42"/>
          <p:cNvSpPr/>
          <p:nvPr/>
        </p:nvSpPr>
        <p:spPr>
          <a:xfrm>
            <a:off x="16054090" y="6268913"/>
            <a:ext cx="968673" cy="196800"/>
          </a:xfrm>
          <a:prstGeom prst="rect">
            <a:avLst/>
          </a:prstGeom>
          <a:noFill/>
          <a:ln/>
        </p:spPr>
        <p:txBody>
          <a:bodyPr wrap="square" lIns="25400" tIns="25400" rIns="25400" bIns="25400" rtlCol="0" anchor="t">
            <a:normAutofit/>
          </a:bodyPr>
          <a:lstStyle/>
          <a:p>
            <a:pPr algn="l" indent="0" marL="0">
              <a:buNone/>
            </a:pPr>
            <a:r>
              <a:rPr lang="en-US" sz="1050" b="1" spc="126" kern="0" dirty="0">
                <a:solidFill>
                  <a:srgbClr val="0E1114"/>
                </a:solidFill>
                <a:latin typeface="Arial" pitchFamily="34" charset="0"/>
                <a:ea typeface="Arial" pitchFamily="34" charset="-122"/>
                <a:cs typeface="Arial" pitchFamily="34" charset="-120"/>
              </a:rPr>
              <a:t>$0 ROUTER</a:t>
            </a:r>
            <a:endParaRPr lang="en-US" sz="1050" dirty="0"/>
          </a:p>
        </p:txBody>
      </p:sp>
      <p:sp>
        <p:nvSpPr>
          <p:cNvPr id="45" name="Text 43"/>
          <p:cNvSpPr/>
          <p:nvPr/>
        </p:nvSpPr>
        <p:spPr>
          <a:xfrm>
            <a:off x="12307837" y="6579939"/>
            <a:ext cx="5207372"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Arial" pitchFamily="34" charset="0"/>
                <a:ea typeface="Arial" pitchFamily="34" charset="-122"/>
                <a:cs typeface="Arial" pitchFamily="34" charset="-120"/>
              </a:rPr>
              <a:t>Free</a:t>
            </a:r>
            <a:endParaRPr lang="en-US" sz="2250" dirty="0"/>
          </a:p>
        </p:txBody>
      </p:sp>
      <p:sp>
        <p:nvSpPr>
          <p:cNvPr id="46" name="Text 44"/>
          <p:cNvSpPr/>
          <p:nvPr/>
        </p:nvSpPr>
        <p:spPr>
          <a:xfrm>
            <a:off x="12307837" y="6989465"/>
            <a:ext cx="5207372" cy="276225"/>
          </a:xfrm>
          <a:prstGeom prst="rect">
            <a:avLst/>
          </a:prstGeom>
          <a:noFill/>
          <a:ln/>
        </p:spPr>
        <p:txBody>
          <a:bodyPr wrap="square" lIns="25400" tIns="25400" rIns="25400" bIns="25400" rtlCol="0" anchor="t">
            <a:normAutofit/>
          </a:bodyPr>
          <a:lstStyle/>
          <a:p>
            <a:pPr algn="l" indent="0" marL="0">
              <a:buNone/>
            </a:pPr>
            <a:r>
              <a:rPr lang="en-US" sz="1425" dirty="0">
                <a:solidFill>
                  <a:srgbClr val="9AA1A7"/>
                </a:solidFill>
                <a:latin typeface="Courier New" pitchFamily="34" charset="0"/>
                <a:ea typeface="Courier New" pitchFamily="34" charset="-122"/>
                <a:cs typeface="Courier New" pitchFamily="34" charset="-120"/>
              </a:rPr>
              <a:t>openrouter/free</a:t>
            </a:r>
            <a:endParaRPr lang="en-US" sz="14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114"/>
        </a:solidFill>
      </p:bgPr>
    </p:bg>
    <p:spTree>
      <p:nvGrpSpPr>
        <p:cNvPr id="1" name=""/>
        <p:cNvGrpSpPr/>
        <p:nvPr/>
      </p:nvGrpSpPr>
      <p:grpSpPr>
        <a:xfrm>
          <a:off x="0" y="0"/>
          <a:ext cx="0" cy="0"/>
          <a:chOff x="0" y="0"/>
          <a:chExt cx="0" cy="0"/>
        </a:xfrm>
      </p:grpSpPr>
      <p:sp>
        <p:nvSpPr>
          <p:cNvPr id="2" name="Text 0"/>
          <p:cNvSpPr/>
          <p:nvPr/>
        </p:nvSpPr>
        <p:spPr>
          <a:xfrm>
            <a:off x="1047750" y="3548807"/>
            <a:ext cx="1036389" cy="339725"/>
          </a:xfrm>
          <a:prstGeom prst="rect">
            <a:avLst/>
          </a:prstGeom>
          <a:noFill/>
          <a:ln/>
        </p:spPr>
        <p:txBody>
          <a:bodyPr wrap="square" lIns="25400" tIns="25400" rIns="25400" bIns="25400" rtlCol="0" anchor="t">
            <a:normAutofit/>
          </a:bodyPr>
          <a:lstStyle/>
          <a:p>
            <a:pPr algn="l" indent="0" marL="0">
              <a:buNone/>
            </a:pPr>
            <a:r>
              <a:rPr lang="en-US" sz="1800" dirty="0">
                <a:solidFill>
                  <a:srgbClr val="5FB4D0"/>
                </a:solidFill>
                <a:latin typeface="Courier New" pitchFamily="34" charset="0"/>
                <a:ea typeface="Courier New" pitchFamily="34" charset="-122"/>
                <a:cs typeface="Courier New" pitchFamily="34" charset="-120"/>
              </a:rPr>
              <a:t>01 / 06</a:t>
            </a:r>
            <a:endParaRPr lang="en-US" sz="1800" dirty="0"/>
          </a:p>
        </p:txBody>
      </p:sp>
      <p:sp>
        <p:nvSpPr>
          <p:cNvPr id="3" name="Shape 1"/>
          <p:cNvSpPr/>
          <p:nvPr/>
        </p:nvSpPr>
        <p:spPr>
          <a:xfrm>
            <a:off x="2160240" y="3551287"/>
            <a:ext cx="1743025" cy="296664"/>
          </a:xfrm>
          <a:prstGeom prst="roundRect">
            <a:avLst>
              <a:gd name="adj" fmla="val 19264"/>
            </a:avLst>
          </a:prstGeom>
          <a:solidFill>
            <a:srgbClr val="15252B"/>
          </a:solidFill>
          <a:ln w="7937">
            <a:solidFill>
              <a:srgbClr val="244049"/>
            </a:solidFill>
            <a:prstDash val="solid"/>
          </a:ln>
        </p:spPr>
      </p:sp>
      <p:sp>
        <p:nvSpPr>
          <p:cNvPr id="4" name="Text 2"/>
          <p:cNvSpPr/>
          <p:nvPr/>
        </p:nvSpPr>
        <p:spPr>
          <a:xfrm>
            <a:off x="2301528" y="3616375"/>
            <a:ext cx="1536650" cy="204589"/>
          </a:xfrm>
          <a:prstGeom prst="rect">
            <a:avLst/>
          </a:prstGeom>
          <a:noFill/>
          <a:ln/>
        </p:spPr>
        <p:txBody>
          <a:bodyPr wrap="square" lIns="25400" tIns="25400" rIns="25400" bIns="25400" rtlCol="0" anchor="t">
            <a:normAutofit/>
          </a:bodyPr>
          <a:lstStyle/>
          <a:p>
            <a:pPr algn="l" indent="0" marL="0">
              <a:buNone/>
            </a:pPr>
            <a:r>
              <a:rPr lang="en-US" sz="1125" b="1" spc="158" kern="0" dirty="0">
                <a:solidFill>
                  <a:srgbClr val="6AAEC3"/>
                </a:solidFill>
                <a:latin typeface="Arial" pitchFamily="34" charset="0"/>
                <a:ea typeface="Arial" pitchFamily="34" charset="-122"/>
                <a:cs typeface="Arial" pitchFamily="34" charset="-120"/>
              </a:rPr>
              <a:t>EXPLICIT MODEL</a:t>
            </a:r>
            <a:endParaRPr lang="en-US" sz="1125" dirty="0"/>
          </a:p>
        </p:txBody>
      </p:sp>
      <p:sp>
        <p:nvSpPr>
          <p:cNvPr id="5" name="Text 3"/>
          <p:cNvSpPr/>
          <p:nvPr/>
        </p:nvSpPr>
        <p:spPr>
          <a:xfrm>
            <a:off x="1047750" y="4136182"/>
            <a:ext cx="9429750" cy="878111"/>
          </a:xfrm>
          <a:prstGeom prst="rect">
            <a:avLst/>
          </a:prstGeom>
          <a:noFill/>
          <a:ln/>
        </p:spPr>
        <p:txBody>
          <a:bodyPr wrap="square" lIns="25400" tIns="25400" rIns="25400" bIns="25400" rtlCol="0" anchor="t">
            <a:normAutofit/>
          </a:bodyPr>
          <a:lstStyle/>
          <a:p>
            <a:pPr algn="l" indent="0" marL="0">
              <a:lnSpc>
                <a:spcPct val="98000"/>
              </a:lnSpc>
              <a:buNone/>
            </a:pPr>
            <a:r>
              <a:rPr lang="en-US" sz="6750" b="1" spc="-236" kern="0" dirty="0">
                <a:solidFill>
                  <a:srgbClr val="FFFFFF"/>
                </a:solidFill>
                <a:latin typeface="Arial" pitchFamily="34" charset="0"/>
                <a:ea typeface="Arial" pitchFamily="34" charset="-122"/>
                <a:cs typeface="Arial" pitchFamily="34" charset="-120"/>
              </a:rPr>
              <a:t>GLM</a:t>
            </a:r>
            <a:endParaRPr lang="en-US" sz="6750" dirty="0"/>
          </a:p>
        </p:txBody>
      </p:sp>
      <p:sp>
        <p:nvSpPr>
          <p:cNvPr id="6" name="Text 4"/>
          <p:cNvSpPr/>
          <p:nvPr/>
        </p:nvSpPr>
        <p:spPr>
          <a:xfrm>
            <a:off x="1047750" y="5147593"/>
            <a:ext cx="9429750" cy="419100"/>
          </a:xfrm>
          <a:prstGeom prst="rect">
            <a:avLst/>
          </a:prstGeom>
          <a:noFill/>
          <a:ln/>
        </p:spPr>
        <p:txBody>
          <a:bodyPr wrap="square" lIns="25400" tIns="25400" rIns="25400" bIns="25400" rtlCol="0" anchor="t">
            <a:normAutofit/>
          </a:bodyPr>
          <a:lstStyle/>
          <a:p>
            <a:pPr algn="l" indent="0" marL="0">
              <a:buNone/>
            </a:pPr>
            <a:r>
              <a:rPr lang="en-US" sz="2250" dirty="0">
                <a:solidFill>
                  <a:srgbClr val="4FB0CE"/>
                </a:solidFill>
                <a:latin typeface="Courier New" pitchFamily="34" charset="0"/>
                <a:ea typeface="Courier New" pitchFamily="34" charset="-122"/>
                <a:cs typeface="Courier New" pitchFamily="34" charset="-120"/>
              </a:rPr>
              <a:t>z-ai/glm-5.2</a:t>
            </a:r>
            <a:endParaRPr lang="en-US" sz="2250" dirty="0"/>
          </a:p>
        </p:txBody>
      </p:sp>
      <p:sp>
        <p:nvSpPr>
          <p:cNvPr id="7" name="Text 5"/>
          <p:cNvSpPr/>
          <p:nvPr/>
        </p:nvSpPr>
        <p:spPr>
          <a:xfrm>
            <a:off x="1047750" y="5852418"/>
            <a:ext cx="6671310" cy="923875"/>
          </a:xfrm>
          <a:prstGeom prst="rect">
            <a:avLst/>
          </a:prstGeom>
          <a:noFill/>
          <a:ln/>
        </p:spPr>
        <p:txBody>
          <a:bodyPr wrap="square" lIns="25400" tIns="25400" rIns="25400" bIns="25400" rtlCol="0" anchor="t">
            <a:normAutofit/>
          </a:bodyPr>
          <a:lstStyle/>
          <a:p>
            <a:pPr algn="l" indent="0" marL="0">
              <a:lnSpc>
                <a:spcPct val="150000"/>
              </a:lnSpc>
              <a:buNone/>
            </a:pPr>
            <a:r>
              <a:rPr lang="en-US" sz="2325" dirty="0">
                <a:solidFill>
                  <a:srgbClr val="AEB5BB"/>
                </a:solidFill>
                <a:latin typeface="Arial" pitchFamily="34" charset="0"/>
                <a:ea typeface="Arial" pitchFamily="34" charset="-122"/>
                <a:cs typeface="Arial" pitchFamily="34" charset="-120"/>
              </a:rPr>
              <a:t>A strong open model, and one in my regular rotation. We start here so the rest has a baseline.</a:t>
            </a:r>
            <a:endParaRPr lang="en-US" sz="2325" dirty="0"/>
          </a:p>
        </p:txBody>
      </p:sp>
      <p:sp>
        <p:nvSpPr>
          <p:cNvPr id="8" name="Shape 6"/>
          <p:cNvSpPr/>
          <p:nvPr/>
        </p:nvSpPr>
        <p:spPr>
          <a:xfrm>
            <a:off x="10382250" y="3685976"/>
            <a:ext cx="6858000" cy="2915047"/>
          </a:xfrm>
          <a:prstGeom prst="roundRect">
            <a:avLst>
              <a:gd name="adj" fmla="val 3921"/>
            </a:avLst>
          </a:prstGeom>
          <a:solidFill>
            <a:srgbClr val="15191D"/>
          </a:solidFill>
          <a:ln w="7937">
            <a:solidFill>
              <a:srgbClr val="2A3036"/>
            </a:solidFill>
            <a:prstDash val="solid"/>
          </a:ln>
          <a:effectLst>
            <a:outerShdw sx="100000" sy="100000" kx="0" ky="0" algn="bl" rotWithShape="0" blurRad="666750" dist="285750" dir="5400000">
              <a:srgbClr val="000000">
                <a:alpha val="50000"/>
              </a:srgbClr>
            </a:outerShdw>
          </a:effectLst>
        </p:spPr>
      </p:sp>
      <p:sp>
        <p:nvSpPr>
          <p:cNvPr id="9" name="Shape 7"/>
          <p:cNvSpPr/>
          <p:nvPr/>
        </p:nvSpPr>
        <p:spPr>
          <a:xfrm>
            <a:off x="10390187" y="3693914"/>
            <a:ext cx="6842125" cy="518914"/>
          </a:xfrm>
          <a:prstGeom prst="rect">
            <a:avLst/>
          </a:prstGeom>
          <a:solidFill>
            <a:srgbClr val="1B2025"/>
          </a:solidFill>
          <a:ln/>
        </p:spPr>
      </p:sp>
      <p:sp>
        <p:nvSpPr>
          <p:cNvPr id="10" name="Shape 8"/>
          <p:cNvSpPr/>
          <p:nvPr/>
        </p:nvSpPr>
        <p:spPr>
          <a:xfrm>
            <a:off x="10390187" y="4204891"/>
            <a:ext cx="6842125" cy="9525"/>
          </a:xfrm>
          <a:prstGeom prst="rect">
            <a:avLst/>
          </a:prstGeom>
          <a:solidFill>
            <a:srgbClr val="2A3036"/>
          </a:solidFill>
          <a:ln/>
        </p:spPr>
      </p:sp>
      <p:sp>
        <p:nvSpPr>
          <p:cNvPr id="11" name="Shape 9"/>
          <p:cNvSpPr/>
          <p:nvPr/>
        </p:nvSpPr>
        <p:spPr>
          <a:xfrm>
            <a:off x="10599662" y="3887514"/>
            <a:ext cx="123775" cy="123775"/>
          </a:xfrm>
          <a:prstGeom prst="ellipse">
            <a:avLst/>
          </a:prstGeom>
          <a:solidFill>
            <a:srgbClr val="ED6A5E"/>
          </a:solidFill>
          <a:ln/>
        </p:spPr>
      </p:sp>
      <p:sp>
        <p:nvSpPr>
          <p:cNvPr id="12" name="Shape 10"/>
          <p:cNvSpPr/>
          <p:nvPr/>
        </p:nvSpPr>
        <p:spPr>
          <a:xfrm>
            <a:off x="10809138" y="3887514"/>
            <a:ext cx="123775" cy="123775"/>
          </a:xfrm>
          <a:prstGeom prst="ellipse">
            <a:avLst/>
          </a:prstGeom>
          <a:solidFill>
            <a:srgbClr val="F4BF4F"/>
          </a:solidFill>
          <a:ln/>
        </p:spPr>
      </p:sp>
      <p:sp>
        <p:nvSpPr>
          <p:cNvPr id="13" name="Shape 11"/>
          <p:cNvSpPr/>
          <p:nvPr/>
        </p:nvSpPr>
        <p:spPr>
          <a:xfrm>
            <a:off x="11018613" y="3887514"/>
            <a:ext cx="123775" cy="123775"/>
          </a:xfrm>
          <a:prstGeom prst="ellipse">
            <a:avLst/>
          </a:prstGeom>
          <a:solidFill>
            <a:srgbClr val="61C554"/>
          </a:solidFill>
          <a:ln/>
        </p:spPr>
      </p:sp>
      <p:sp>
        <p:nvSpPr>
          <p:cNvPr id="14" name="Text 12"/>
          <p:cNvSpPr/>
          <p:nvPr/>
        </p:nvSpPr>
        <p:spPr>
          <a:xfrm>
            <a:off x="11342315" y="3846215"/>
            <a:ext cx="350540" cy="244475"/>
          </a:xfrm>
          <a:prstGeom prst="rect">
            <a:avLst/>
          </a:prstGeom>
          <a:noFill/>
          <a:ln/>
        </p:spPr>
        <p:txBody>
          <a:bodyPr wrap="square" lIns="25400" tIns="25400" rIns="25400" bIns="25400" rtlCol="0" anchor="t">
            <a:normAutofit/>
          </a:bodyPr>
          <a:lstStyle/>
          <a:p>
            <a:pPr algn="l" indent="0" marL="0">
              <a:buNone/>
            </a:pPr>
            <a:r>
              <a:rPr lang="en-US" sz="1200" dirty="0">
                <a:solidFill>
                  <a:srgbClr val="7E868C"/>
                </a:solidFill>
                <a:latin typeface="Courier New" pitchFamily="34" charset="0"/>
                <a:ea typeface="Courier New" pitchFamily="34" charset="-122"/>
                <a:cs typeface="Courier New" pitchFamily="34" charset="-120"/>
              </a:rPr>
              <a:t>zsh</a:t>
            </a:r>
            <a:endParaRPr lang="en-US" sz="1200" dirty="0"/>
          </a:p>
        </p:txBody>
      </p:sp>
      <p:sp>
        <p:nvSpPr>
          <p:cNvPr id="15" name="Text 13"/>
          <p:cNvSpPr/>
          <p:nvPr/>
        </p:nvSpPr>
        <p:spPr>
          <a:xfrm>
            <a:off x="10714012" y="4536653"/>
            <a:ext cx="6380308" cy="526752"/>
          </a:xfrm>
          <a:prstGeom prst="rect">
            <a:avLst/>
          </a:prstGeom>
          <a:noFill/>
          <a:ln/>
        </p:spPr>
        <p:txBody>
          <a:bodyPr wrap="square" lIns="25400" tIns="25400" rIns="25400" bIns="25400" rtlCol="0" anchor="t">
            <a:normAutofit/>
          </a:bodyPr>
          <a:lstStyle/>
          <a:p>
            <a:pPr algn="l" indent="0" marL="0">
              <a:lnSpc>
                <a:spcPct val="190000"/>
              </a:lnSpc>
              <a:buNone/>
            </a:pPr>
            <a:r>
              <a:rPr lang="en-US" sz="2025" dirty="0">
                <a:solidFill>
                  <a:srgbClr val="4FB0CE"/>
                </a:solidFill>
                <a:latin typeface="Courier New" pitchFamily="34" charset="0"/>
                <a:ea typeface="Courier New" pitchFamily="34" charset="-122"/>
                <a:cs typeface="Courier New" pitchFamily="34" charset="-120"/>
              </a:rPr>
              <a:t xml:space="preserve">❯ </a:t>
            </a:r>
            <a:pPr algn="l" indent="0" marL="0">
              <a:lnSpc>
                <a:spcPct val="190000"/>
              </a:lnSpc>
              <a:buNone/>
            </a:pPr>
            <a:r>
              <a:rPr lang="en-US" sz="2025" dirty="0">
                <a:solidFill>
                  <a:srgbClr val="E8ECEF"/>
                </a:solidFill>
                <a:latin typeface="Courier New" pitchFamily="34" charset="0"/>
                <a:ea typeface="Courier New" pitchFamily="34" charset="-122"/>
                <a:cs typeface="Courier New" pitchFamily="34" charset="-120"/>
              </a:rPr>
              <a:t>orclaude z-ai/glm-5.2</a:t>
            </a:r>
            <a:endParaRPr lang="en-US" sz="2025" dirty="0"/>
          </a:p>
        </p:txBody>
      </p:sp>
      <p:sp>
        <p:nvSpPr>
          <p:cNvPr id="16" name="Text 14"/>
          <p:cNvSpPr/>
          <p:nvPr/>
        </p:nvSpPr>
        <p:spPr>
          <a:xfrm>
            <a:off x="10714012" y="5215805"/>
            <a:ext cx="6380308" cy="526752"/>
          </a:xfrm>
          <a:prstGeom prst="rect">
            <a:avLst/>
          </a:prstGeom>
          <a:noFill/>
          <a:ln/>
        </p:spPr>
        <p:txBody>
          <a:bodyPr wrap="square" lIns="25400" tIns="25400" rIns="25400" bIns="25400" rtlCol="0" anchor="t">
            <a:normAutofit/>
          </a:bodyPr>
          <a:lstStyle/>
          <a:p>
            <a:pPr algn="l" indent="0" marL="0">
              <a:lnSpc>
                <a:spcPct val="190000"/>
              </a:lnSpc>
              <a:buNone/>
            </a:pPr>
            <a:r>
              <a:rPr lang="en-US" sz="2025" dirty="0">
                <a:solidFill>
                  <a:srgbClr val="7E868C"/>
                </a:solidFill>
                <a:latin typeface="Courier New" pitchFamily="34" charset="0"/>
                <a:ea typeface="Courier New" pitchFamily="34" charset="-122"/>
                <a:cs typeface="Courier New" pitchFamily="34" charset="-120"/>
              </a:rPr>
              <a:t>model z-ai/glm-5.2</a:t>
            </a:r>
            <a:endParaRPr lang="en-US" sz="2025" dirty="0"/>
          </a:p>
        </p:txBody>
      </p:sp>
      <p:sp>
        <p:nvSpPr>
          <p:cNvPr id="17" name="Text 15"/>
          <p:cNvSpPr/>
          <p:nvPr/>
        </p:nvSpPr>
        <p:spPr>
          <a:xfrm>
            <a:off x="10714012" y="5852046"/>
            <a:ext cx="231105" cy="379412"/>
          </a:xfrm>
          <a:prstGeom prst="rect">
            <a:avLst/>
          </a:prstGeom>
          <a:noFill/>
          <a:ln/>
        </p:spPr>
        <p:txBody>
          <a:bodyPr wrap="square" lIns="25400" tIns="25400" rIns="25400" bIns="25400" rtlCol="0" anchor="t">
            <a:normAutofit/>
          </a:bodyPr>
          <a:lstStyle/>
          <a:p>
            <a:pPr algn="l" indent="0" marL="0">
              <a:lnSpc>
                <a:spcPct val="190000"/>
              </a:lnSpc>
              <a:buNone/>
            </a:pPr>
            <a:r>
              <a:rPr lang="en-US" sz="2025" dirty="0">
                <a:solidFill>
                  <a:srgbClr val="4FB0CE"/>
                </a:solidFill>
                <a:latin typeface="Courier New" pitchFamily="34" charset="0"/>
                <a:ea typeface="Courier New" pitchFamily="34" charset="-122"/>
                <a:cs typeface="Courier New" pitchFamily="34" charset="-120"/>
              </a:rPr>
              <a:t>❯</a:t>
            </a:r>
            <a:endParaRPr lang="en-US" sz="20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114"/>
        </a:solidFill>
      </p:bgPr>
    </p:bg>
    <p:spTree>
      <p:nvGrpSpPr>
        <p:cNvPr id="1" name=""/>
        <p:cNvGrpSpPr/>
        <p:nvPr/>
      </p:nvGrpSpPr>
      <p:grpSpPr>
        <a:xfrm>
          <a:off x="0" y="0"/>
          <a:ext cx="0" cy="0"/>
          <a:chOff x="0" y="0"/>
          <a:chExt cx="0" cy="0"/>
        </a:xfrm>
      </p:grpSpPr>
      <p:sp>
        <p:nvSpPr>
          <p:cNvPr id="2" name="Text 0"/>
          <p:cNvSpPr/>
          <p:nvPr/>
        </p:nvSpPr>
        <p:spPr>
          <a:xfrm>
            <a:off x="1047750" y="3327301"/>
            <a:ext cx="1036389" cy="339725"/>
          </a:xfrm>
          <a:prstGeom prst="rect">
            <a:avLst/>
          </a:prstGeom>
          <a:noFill/>
          <a:ln/>
        </p:spPr>
        <p:txBody>
          <a:bodyPr wrap="square" lIns="25400" tIns="25400" rIns="25400" bIns="25400" rtlCol="0" anchor="t">
            <a:normAutofit/>
          </a:bodyPr>
          <a:lstStyle/>
          <a:p>
            <a:pPr algn="l" indent="0" marL="0">
              <a:buNone/>
            </a:pPr>
            <a:r>
              <a:rPr lang="en-US" sz="1800" dirty="0">
                <a:solidFill>
                  <a:srgbClr val="5FB4D0"/>
                </a:solidFill>
                <a:latin typeface="Courier New" pitchFamily="34" charset="0"/>
                <a:ea typeface="Courier New" pitchFamily="34" charset="-122"/>
                <a:cs typeface="Courier New" pitchFamily="34" charset="-120"/>
              </a:rPr>
              <a:t>02 / 06</a:t>
            </a:r>
            <a:endParaRPr lang="en-US" sz="1800" dirty="0"/>
          </a:p>
        </p:txBody>
      </p:sp>
      <p:sp>
        <p:nvSpPr>
          <p:cNvPr id="3" name="Shape 1"/>
          <p:cNvSpPr/>
          <p:nvPr/>
        </p:nvSpPr>
        <p:spPr>
          <a:xfrm>
            <a:off x="2160240" y="3329781"/>
            <a:ext cx="1743025" cy="296664"/>
          </a:xfrm>
          <a:prstGeom prst="roundRect">
            <a:avLst>
              <a:gd name="adj" fmla="val 19264"/>
            </a:avLst>
          </a:prstGeom>
          <a:solidFill>
            <a:srgbClr val="15252B"/>
          </a:solidFill>
          <a:ln w="7937">
            <a:solidFill>
              <a:srgbClr val="244049"/>
            </a:solidFill>
            <a:prstDash val="solid"/>
          </a:ln>
        </p:spPr>
      </p:sp>
      <p:sp>
        <p:nvSpPr>
          <p:cNvPr id="4" name="Text 2"/>
          <p:cNvSpPr/>
          <p:nvPr/>
        </p:nvSpPr>
        <p:spPr>
          <a:xfrm>
            <a:off x="2301528" y="3394869"/>
            <a:ext cx="1536650" cy="204589"/>
          </a:xfrm>
          <a:prstGeom prst="rect">
            <a:avLst/>
          </a:prstGeom>
          <a:noFill/>
          <a:ln/>
        </p:spPr>
        <p:txBody>
          <a:bodyPr wrap="square" lIns="25400" tIns="25400" rIns="25400" bIns="25400" rtlCol="0" anchor="t">
            <a:normAutofit/>
          </a:bodyPr>
          <a:lstStyle/>
          <a:p>
            <a:pPr algn="l" indent="0" marL="0">
              <a:buNone/>
            </a:pPr>
            <a:r>
              <a:rPr lang="en-US" sz="1125" b="1" spc="158" kern="0" dirty="0">
                <a:solidFill>
                  <a:srgbClr val="6AAEC3"/>
                </a:solidFill>
                <a:latin typeface="Arial" pitchFamily="34" charset="0"/>
                <a:ea typeface="Arial" pitchFamily="34" charset="-122"/>
                <a:cs typeface="Arial" pitchFamily="34" charset="-120"/>
              </a:rPr>
              <a:t>EXPLICIT MODEL</a:t>
            </a:r>
            <a:endParaRPr lang="en-US" sz="1125" dirty="0"/>
          </a:p>
        </p:txBody>
      </p:sp>
      <p:sp>
        <p:nvSpPr>
          <p:cNvPr id="5" name="Text 3"/>
          <p:cNvSpPr/>
          <p:nvPr/>
        </p:nvSpPr>
        <p:spPr>
          <a:xfrm>
            <a:off x="1047750" y="3914676"/>
            <a:ext cx="9429750" cy="878111"/>
          </a:xfrm>
          <a:prstGeom prst="rect">
            <a:avLst/>
          </a:prstGeom>
          <a:noFill/>
          <a:ln/>
        </p:spPr>
        <p:txBody>
          <a:bodyPr wrap="square" lIns="25400" tIns="25400" rIns="25400" bIns="25400" rtlCol="0" anchor="t">
            <a:normAutofit/>
          </a:bodyPr>
          <a:lstStyle/>
          <a:p>
            <a:pPr algn="l" indent="0" marL="0">
              <a:lnSpc>
                <a:spcPct val="98000"/>
              </a:lnSpc>
              <a:buNone/>
            </a:pPr>
            <a:r>
              <a:rPr lang="en-US" sz="6750" b="1" spc="-236" kern="0" dirty="0">
                <a:solidFill>
                  <a:srgbClr val="FFFFFF"/>
                </a:solidFill>
                <a:latin typeface="Arial" pitchFamily="34" charset="0"/>
                <a:ea typeface="Arial" pitchFamily="34" charset="-122"/>
                <a:cs typeface="Arial" pitchFamily="34" charset="-120"/>
              </a:rPr>
              <a:t>DeepSeek</a:t>
            </a:r>
            <a:endParaRPr lang="en-US" sz="6750" dirty="0"/>
          </a:p>
        </p:txBody>
      </p:sp>
      <p:sp>
        <p:nvSpPr>
          <p:cNvPr id="6" name="Text 4"/>
          <p:cNvSpPr/>
          <p:nvPr/>
        </p:nvSpPr>
        <p:spPr>
          <a:xfrm>
            <a:off x="1047750" y="4926087"/>
            <a:ext cx="9429750" cy="419100"/>
          </a:xfrm>
          <a:prstGeom prst="rect">
            <a:avLst/>
          </a:prstGeom>
          <a:noFill/>
          <a:ln/>
        </p:spPr>
        <p:txBody>
          <a:bodyPr wrap="square" lIns="25400" tIns="25400" rIns="25400" bIns="25400" rtlCol="0" anchor="t">
            <a:normAutofit/>
          </a:bodyPr>
          <a:lstStyle/>
          <a:p>
            <a:pPr algn="l" indent="0" marL="0">
              <a:buNone/>
            </a:pPr>
            <a:r>
              <a:rPr lang="en-US" sz="2250" dirty="0">
                <a:solidFill>
                  <a:srgbClr val="4FB0CE"/>
                </a:solidFill>
                <a:latin typeface="Courier New" pitchFamily="34" charset="0"/>
                <a:ea typeface="Courier New" pitchFamily="34" charset="-122"/>
                <a:cs typeface="Courier New" pitchFamily="34" charset="-120"/>
              </a:rPr>
              <a:t>deepseek/deepseek-v4-flash</a:t>
            </a:r>
            <a:endParaRPr lang="en-US" sz="2250" dirty="0"/>
          </a:p>
        </p:txBody>
      </p:sp>
      <p:sp>
        <p:nvSpPr>
          <p:cNvPr id="7" name="Text 5"/>
          <p:cNvSpPr/>
          <p:nvPr/>
        </p:nvSpPr>
        <p:spPr>
          <a:xfrm>
            <a:off x="1047750" y="5630912"/>
            <a:ext cx="6671310" cy="1366763"/>
          </a:xfrm>
          <a:prstGeom prst="rect">
            <a:avLst/>
          </a:prstGeom>
          <a:noFill/>
          <a:ln/>
        </p:spPr>
        <p:txBody>
          <a:bodyPr wrap="square" lIns="25400" tIns="25400" rIns="25400" bIns="25400" rtlCol="0" anchor="t">
            <a:normAutofit/>
          </a:bodyPr>
          <a:lstStyle/>
          <a:p>
            <a:pPr algn="l" indent="0" marL="0">
              <a:lnSpc>
                <a:spcPct val="150000"/>
              </a:lnSpc>
              <a:buNone/>
            </a:pPr>
            <a:r>
              <a:rPr lang="en-US" sz="2325" dirty="0">
                <a:solidFill>
                  <a:srgbClr val="AEB5BB"/>
                </a:solidFill>
                <a:latin typeface="Arial" pitchFamily="34" charset="0"/>
                <a:ea typeface="Arial" pitchFamily="34" charset="-122"/>
                <a:cs typeface="Arial" pitchFamily="34" charset="-120"/>
              </a:rPr>
              <a:t>The flash model — built to be fast and cheap. The kind you’d actually leave running on routine edits.</a:t>
            </a:r>
            <a:endParaRPr lang="en-US" sz="2325" dirty="0"/>
          </a:p>
        </p:txBody>
      </p:sp>
      <p:sp>
        <p:nvSpPr>
          <p:cNvPr id="8" name="Shape 6"/>
          <p:cNvSpPr/>
          <p:nvPr/>
        </p:nvSpPr>
        <p:spPr>
          <a:xfrm>
            <a:off x="10382250" y="3740299"/>
            <a:ext cx="6858000" cy="2806402"/>
          </a:xfrm>
          <a:prstGeom prst="roundRect">
            <a:avLst>
              <a:gd name="adj" fmla="val 4073"/>
            </a:avLst>
          </a:prstGeom>
          <a:solidFill>
            <a:srgbClr val="15191D"/>
          </a:solidFill>
          <a:ln w="7937">
            <a:solidFill>
              <a:srgbClr val="2A3036"/>
            </a:solidFill>
            <a:prstDash val="solid"/>
          </a:ln>
          <a:effectLst>
            <a:outerShdw sx="100000" sy="100000" kx="0" ky="0" algn="bl" rotWithShape="0" blurRad="666750" dist="285750" dir="5400000">
              <a:srgbClr val="000000">
                <a:alpha val="50000"/>
              </a:srgbClr>
            </a:outerShdw>
          </a:effectLst>
        </p:spPr>
      </p:sp>
      <p:sp>
        <p:nvSpPr>
          <p:cNvPr id="9" name="Shape 7"/>
          <p:cNvSpPr/>
          <p:nvPr/>
        </p:nvSpPr>
        <p:spPr>
          <a:xfrm>
            <a:off x="10390187" y="3748236"/>
            <a:ext cx="6842125" cy="518914"/>
          </a:xfrm>
          <a:prstGeom prst="rect">
            <a:avLst/>
          </a:prstGeom>
          <a:solidFill>
            <a:srgbClr val="1B2025"/>
          </a:solidFill>
          <a:ln/>
        </p:spPr>
      </p:sp>
      <p:sp>
        <p:nvSpPr>
          <p:cNvPr id="10" name="Shape 8"/>
          <p:cNvSpPr/>
          <p:nvPr/>
        </p:nvSpPr>
        <p:spPr>
          <a:xfrm>
            <a:off x="10390187" y="4259213"/>
            <a:ext cx="6842125" cy="9525"/>
          </a:xfrm>
          <a:prstGeom prst="rect">
            <a:avLst/>
          </a:prstGeom>
          <a:solidFill>
            <a:srgbClr val="2A3036"/>
          </a:solidFill>
          <a:ln/>
        </p:spPr>
      </p:sp>
      <p:sp>
        <p:nvSpPr>
          <p:cNvPr id="11" name="Shape 9"/>
          <p:cNvSpPr/>
          <p:nvPr/>
        </p:nvSpPr>
        <p:spPr>
          <a:xfrm>
            <a:off x="10599662" y="3941837"/>
            <a:ext cx="123775" cy="123775"/>
          </a:xfrm>
          <a:prstGeom prst="ellipse">
            <a:avLst/>
          </a:prstGeom>
          <a:solidFill>
            <a:srgbClr val="ED6A5E"/>
          </a:solidFill>
          <a:ln/>
        </p:spPr>
      </p:sp>
      <p:sp>
        <p:nvSpPr>
          <p:cNvPr id="12" name="Shape 10"/>
          <p:cNvSpPr/>
          <p:nvPr/>
        </p:nvSpPr>
        <p:spPr>
          <a:xfrm>
            <a:off x="10809138" y="3941837"/>
            <a:ext cx="123775" cy="123775"/>
          </a:xfrm>
          <a:prstGeom prst="ellipse">
            <a:avLst/>
          </a:prstGeom>
          <a:solidFill>
            <a:srgbClr val="F4BF4F"/>
          </a:solidFill>
          <a:ln/>
        </p:spPr>
      </p:sp>
      <p:sp>
        <p:nvSpPr>
          <p:cNvPr id="13" name="Shape 11"/>
          <p:cNvSpPr/>
          <p:nvPr/>
        </p:nvSpPr>
        <p:spPr>
          <a:xfrm>
            <a:off x="11018613" y="3941837"/>
            <a:ext cx="123775" cy="123775"/>
          </a:xfrm>
          <a:prstGeom prst="ellipse">
            <a:avLst/>
          </a:prstGeom>
          <a:solidFill>
            <a:srgbClr val="61C554"/>
          </a:solidFill>
          <a:ln/>
        </p:spPr>
      </p:sp>
      <p:sp>
        <p:nvSpPr>
          <p:cNvPr id="14" name="Text 12"/>
          <p:cNvSpPr/>
          <p:nvPr/>
        </p:nvSpPr>
        <p:spPr>
          <a:xfrm>
            <a:off x="11342315" y="3900537"/>
            <a:ext cx="350540" cy="244475"/>
          </a:xfrm>
          <a:prstGeom prst="rect">
            <a:avLst/>
          </a:prstGeom>
          <a:noFill/>
          <a:ln/>
        </p:spPr>
        <p:txBody>
          <a:bodyPr wrap="square" lIns="25400" tIns="25400" rIns="25400" bIns="25400" rtlCol="0" anchor="t">
            <a:normAutofit/>
          </a:bodyPr>
          <a:lstStyle/>
          <a:p>
            <a:pPr algn="l" indent="0" marL="0">
              <a:buNone/>
            </a:pPr>
            <a:r>
              <a:rPr lang="en-US" sz="1200" dirty="0">
                <a:solidFill>
                  <a:srgbClr val="7E868C"/>
                </a:solidFill>
                <a:latin typeface="Courier New" pitchFamily="34" charset="0"/>
                <a:ea typeface="Courier New" pitchFamily="34" charset="-122"/>
                <a:cs typeface="Courier New" pitchFamily="34" charset="-120"/>
              </a:rPr>
              <a:t>zsh</a:t>
            </a:r>
            <a:endParaRPr lang="en-US" sz="1200" dirty="0"/>
          </a:p>
        </p:txBody>
      </p:sp>
      <p:sp>
        <p:nvSpPr>
          <p:cNvPr id="15" name="Text 13"/>
          <p:cNvSpPr/>
          <p:nvPr/>
        </p:nvSpPr>
        <p:spPr>
          <a:xfrm>
            <a:off x="10714012" y="4590976"/>
            <a:ext cx="6380308" cy="490538"/>
          </a:xfrm>
          <a:prstGeom prst="rect">
            <a:avLst/>
          </a:prstGeom>
          <a:noFill/>
          <a:ln/>
        </p:spPr>
        <p:txBody>
          <a:bodyPr wrap="square" lIns="25400" tIns="25400" rIns="25400" bIns="25400" rtlCol="0" anchor="t">
            <a:normAutofit/>
          </a:bodyPr>
          <a:lstStyle/>
          <a:p>
            <a:pPr algn="l" indent="0" marL="0">
              <a:lnSpc>
                <a:spcPct val="190000"/>
              </a:lnSpc>
              <a:buNone/>
            </a:pPr>
            <a:r>
              <a:rPr lang="en-US" sz="1875" dirty="0">
                <a:solidFill>
                  <a:srgbClr val="4FB0CE"/>
                </a:solidFill>
                <a:latin typeface="Courier New" pitchFamily="34" charset="0"/>
                <a:ea typeface="Courier New" pitchFamily="34" charset="-122"/>
                <a:cs typeface="Courier New" pitchFamily="34" charset="-120"/>
              </a:rPr>
              <a:t xml:space="preserve">❯ </a:t>
            </a:r>
            <a:pPr algn="l" indent="0" marL="0">
              <a:lnSpc>
                <a:spcPct val="190000"/>
              </a:lnSpc>
              <a:buNone/>
            </a:pPr>
            <a:r>
              <a:rPr lang="en-US" sz="1875" dirty="0">
                <a:solidFill>
                  <a:srgbClr val="E8ECEF"/>
                </a:solidFill>
                <a:latin typeface="Courier New" pitchFamily="34" charset="0"/>
                <a:ea typeface="Courier New" pitchFamily="34" charset="-122"/>
                <a:cs typeface="Courier New" pitchFamily="34" charset="-120"/>
              </a:rPr>
              <a:t>orclaude deepseek/deepseek-v4-flash</a:t>
            </a:r>
            <a:endParaRPr lang="en-US" sz="1875" dirty="0"/>
          </a:p>
        </p:txBody>
      </p:sp>
      <p:sp>
        <p:nvSpPr>
          <p:cNvPr id="16" name="Text 14"/>
          <p:cNvSpPr/>
          <p:nvPr/>
        </p:nvSpPr>
        <p:spPr>
          <a:xfrm>
            <a:off x="10714012" y="5233913"/>
            <a:ext cx="6380308" cy="490538"/>
          </a:xfrm>
          <a:prstGeom prst="rect">
            <a:avLst/>
          </a:prstGeom>
          <a:noFill/>
          <a:ln/>
        </p:spPr>
        <p:txBody>
          <a:bodyPr wrap="square" lIns="25400" tIns="25400" rIns="25400" bIns="25400" rtlCol="0" anchor="t">
            <a:normAutofit/>
          </a:bodyPr>
          <a:lstStyle/>
          <a:p>
            <a:pPr algn="l" indent="0" marL="0">
              <a:lnSpc>
                <a:spcPct val="190000"/>
              </a:lnSpc>
              <a:buNone/>
            </a:pPr>
            <a:r>
              <a:rPr lang="en-US" sz="1875" dirty="0">
                <a:solidFill>
                  <a:srgbClr val="7E868C"/>
                </a:solidFill>
                <a:latin typeface="Courier New" pitchFamily="34" charset="0"/>
                <a:ea typeface="Courier New" pitchFamily="34" charset="-122"/>
                <a:cs typeface="Courier New" pitchFamily="34" charset="-120"/>
              </a:rPr>
              <a:t>model deepseek-v4-flash</a:t>
            </a:r>
            <a:endParaRPr lang="en-US" sz="1875" dirty="0"/>
          </a:p>
        </p:txBody>
      </p:sp>
      <p:sp>
        <p:nvSpPr>
          <p:cNvPr id="17" name="Text 15"/>
          <p:cNvSpPr/>
          <p:nvPr/>
        </p:nvSpPr>
        <p:spPr>
          <a:xfrm>
            <a:off x="10714012" y="5826001"/>
            <a:ext cx="219571" cy="355600"/>
          </a:xfrm>
          <a:prstGeom prst="rect">
            <a:avLst/>
          </a:prstGeom>
          <a:noFill/>
          <a:ln/>
        </p:spPr>
        <p:txBody>
          <a:bodyPr wrap="square" lIns="25400" tIns="25400" rIns="25400" bIns="25400" rtlCol="0" anchor="t">
            <a:normAutofit/>
          </a:bodyPr>
          <a:lstStyle/>
          <a:p>
            <a:pPr algn="l" indent="0" marL="0">
              <a:lnSpc>
                <a:spcPct val="190000"/>
              </a:lnSpc>
              <a:buNone/>
            </a:pPr>
            <a:r>
              <a:rPr lang="en-US" sz="1875" dirty="0">
                <a:solidFill>
                  <a:srgbClr val="4FB0CE"/>
                </a:solidFill>
                <a:latin typeface="Courier New" pitchFamily="34" charset="0"/>
                <a:ea typeface="Courier New" pitchFamily="34" charset="-122"/>
                <a:cs typeface="Courier New" pitchFamily="34" charset="-120"/>
              </a:rPr>
              <a:t>❯</a:t>
            </a:r>
            <a:endParaRPr lang="en-US" sz="1875" dirty="0"/>
          </a:p>
        </p:txBody>
      </p:sp>
      <p:sp>
        <p:nvSpPr>
          <p:cNvPr id="18" name="Shape 16"/>
          <p:cNvSpPr/>
          <p:nvPr/>
        </p:nvSpPr>
        <p:spPr>
          <a:xfrm>
            <a:off x="11000259" y="5862588"/>
            <a:ext cx="133325" cy="247551"/>
          </a:xfrm>
          <a:prstGeom prst="rect">
            <a:avLst/>
          </a:prstGeom>
          <a:solidFill>
            <a:srgbClr val="4FB0CE"/>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114"/>
        </a:solidFill>
      </p:bgPr>
    </p:bg>
    <p:spTree>
      <p:nvGrpSpPr>
        <p:cNvPr id="1" name=""/>
        <p:cNvGrpSpPr/>
        <p:nvPr/>
      </p:nvGrpSpPr>
      <p:grpSpPr>
        <a:xfrm>
          <a:off x="0" y="0"/>
          <a:ext cx="0" cy="0"/>
          <a:chOff x="0" y="0"/>
          <a:chExt cx="0" cy="0"/>
        </a:xfrm>
      </p:grpSpPr>
      <p:sp>
        <p:nvSpPr>
          <p:cNvPr id="2" name="Text 0"/>
          <p:cNvSpPr/>
          <p:nvPr/>
        </p:nvSpPr>
        <p:spPr>
          <a:xfrm>
            <a:off x="1047750" y="3327301"/>
            <a:ext cx="1036389" cy="339725"/>
          </a:xfrm>
          <a:prstGeom prst="rect">
            <a:avLst/>
          </a:prstGeom>
          <a:noFill/>
          <a:ln/>
        </p:spPr>
        <p:txBody>
          <a:bodyPr wrap="square" lIns="25400" tIns="25400" rIns="25400" bIns="25400" rtlCol="0" anchor="t">
            <a:normAutofit/>
          </a:bodyPr>
          <a:lstStyle/>
          <a:p>
            <a:pPr algn="l" indent="0" marL="0">
              <a:buNone/>
            </a:pPr>
            <a:r>
              <a:rPr lang="en-US" sz="1800" dirty="0">
                <a:solidFill>
                  <a:srgbClr val="5FB4D0"/>
                </a:solidFill>
                <a:latin typeface="Courier New" pitchFamily="34" charset="0"/>
                <a:ea typeface="Courier New" pitchFamily="34" charset="-122"/>
                <a:cs typeface="Courier New" pitchFamily="34" charset="-120"/>
              </a:rPr>
              <a:t>03 / 06</a:t>
            </a:r>
            <a:endParaRPr lang="en-US" sz="1800" dirty="0"/>
          </a:p>
        </p:txBody>
      </p:sp>
      <p:sp>
        <p:nvSpPr>
          <p:cNvPr id="3" name="Shape 1"/>
          <p:cNvSpPr/>
          <p:nvPr/>
        </p:nvSpPr>
        <p:spPr>
          <a:xfrm>
            <a:off x="2160240" y="3329781"/>
            <a:ext cx="1743025" cy="296664"/>
          </a:xfrm>
          <a:prstGeom prst="roundRect">
            <a:avLst>
              <a:gd name="adj" fmla="val 19264"/>
            </a:avLst>
          </a:prstGeom>
          <a:solidFill>
            <a:srgbClr val="15252B"/>
          </a:solidFill>
          <a:ln w="7937">
            <a:solidFill>
              <a:srgbClr val="244049"/>
            </a:solidFill>
            <a:prstDash val="solid"/>
          </a:ln>
        </p:spPr>
      </p:sp>
      <p:sp>
        <p:nvSpPr>
          <p:cNvPr id="4" name="Text 2"/>
          <p:cNvSpPr/>
          <p:nvPr/>
        </p:nvSpPr>
        <p:spPr>
          <a:xfrm>
            <a:off x="2301528" y="3394869"/>
            <a:ext cx="1536650" cy="204589"/>
          </a:xfrm>
          <a:prstGeom prst="rect">
            <a:avLst/>
          </a:prstGeom>
          <a:noFill/>
          <a:ln/>
        </p:spPr>
        <p:txBody>
          <a:bodyPr wrap="square" lIns="25400" tIns="25400" rIns="25400" bIns="25400" rtlCol="0" anchor="t">
            <a:normAutofit/>
          </a:bodyPr>
          <a:lstStyle/>
          <a:p>
            <a:pPr algn="l" indent="0" marL="0">
              <a:buNone/>
            </a:pPr>
            <a:r>
              <a:rPr lang="en-US" sz="1125" b="1" spc="158" kern="0" dirty="0">
                <a:solidFill>
                  <a:srgbClr val="6AAEC3"/>
                </a:solidFill>
                <a:latin typeface="Arial" pitchFamily="34" charset="0"/>
                <a:ea typeface="Arial" pitchFamily="34" charset="-122"/>
                <a:cs typeface="Arial" pitchFamily="34" charset="-120"/>
              </a:rPr>
              <a:t>EXPLICIT MODEL</a:t>
            </a:r>
            <a:endParaRPr lang="en-US" sz="1125" dirty="0"/>
          </a:p>
        </p:txBody>
      </p:sp>
      <p:sp>
        <p:nvSpPr>
          <p:cNvPr id="5" name="Text 3"/>
          <p:cNvSpPr/>
          <p:nvPr/>
        </p:nvSpPr>
        <p:spPr>
          <a:xfrm>
            <a:off x="1047750" y="3914676"/>
            <a:ext cx="9429750" cy="878111"/>
          </a:xfrm>
          <a:prstGeom prst="rect">
            <a:avLst/>
          </a:prstGeom>
          <a:noFill/>
          <a:ln/>
        </p:spPr>
        <p:txBody>
          <a:bodyPr wrap="square" lIns="25400" tIns="25400" rIns="25400" bIns="25400" rtlCol="0" anchor="t">
            <a:normAutofit/>
          </a:bodyPr>
          <a:lstStyle/>
          <a:p>
            <a:pPr algn="l" indent="0" marL="0">
              <a:lnSpc>
                <a:spcPct val="98000"/>
              </a:lnSpc>
              <a:buNone/>
            </a:pPr>
            <a:r>
              <a:rPr lang="en-US" sz="6750" b="1" spc="-236" kern="0" dirty="0">
                <a:solidFill>
                  <a:srgbClr val="FFFFFF"/>
                </a:solidFill>
                <a:latin typeface="Arial" pitchFamily="34" charset="0"/>
                <a:ea typeface="Arial" pitchFamily="34" charset="-122"/>
                <a:cs typeface="Arial" pitchFamily="34" charset="-120"/>
              </a:rPr>
              <a:t>Kimi</a:t>
            </a:r>
            <a:endParaRPr lang="en-US" sz="6750" dirty="0"/>
          </a:p>
        </p:txBody>
      </p:sp>
      <p:sp>
        <p:nvSpPr>
          <p:cNvPr id="6" name="Text 4"/>
          <p:cNvSpPr/>
          <p:nvPr/>
        </p:nvSpPr>
        <p:spPr>
          <a:xfrm>
            <a:off x="1047750" y="4926087"/>
            <a:ext cx="9429750" cy="419100"/>
          </a:xfrm>
          <a:prstGeom prst="rect">
            <a:avLst/>
          </a:prstGeom>
          <a:noFill/>
          <a:ln/>
        </p:spPr>
        <p:txBody>
          <a:bodyPr wrap="square" lIns="25400" tIns="25400" rIns="25400" bIns="25400" rtlCol="0" anchor="t">
            <a:normAutofit/>
          </a:bodyPr>
          <a:lstStyle/>
          <a:p>
            <a:pPr algn="l" indent="0" marL="0">
              <a:buNone/>
            </a:pPr>
            <a:r>
              <a:rPr lang="en-US" sz="2250" dirty="0">
                <a:solidFill>
                  <a:srgbClr val="4FB0CE"/>
                </a:solidFill>
                <a:latin typeface="Courier New" pitchFamily="34" charset="0"/>
                <a:ea typeface="Courier New" pitchFamily="34" charset="-122"/>
                <a:cs typeface="Courier New" pitchFamily="34" charset="-120"/>
              </a:rPr>
              <a:t>moonshotai/kimi-latest</a:t>
            </a:r>
            <a:endParaRPr lang="en-US" sz="2250" dirty="0"/>
          </a:p>
        </p:txBody>
      </p:sp>
      <p:sp>
        <p:nvSpPr>
          <p:cNvPr id="7" name="Text 5"/>
          <p:cNvSpPr/>
          <p:nvPr/>
        </p:nvSpPr>
        <p:spPr>
          <a:xfrm>
            <a:off x="1047750" y="5630912"/>
            <a:ext cx="6671310" cy="1366763"/>
          </a:xfrm>
          <a:prstGeom prst="rect">
            <a:avLst/>
          </a:prstGeom>
          <a:noFill/>
          <a:ln/>
        </p:spPr>
        <p:txBody>
          <a:bodyPr wrap="square" lIns="25400" tIns="25400" rIns="25400" bIns="25400" rtlCol="0" anchor="t">
            <a:normAutofit/>
          </a:bodyPr>
          <a:lstStyle/>
          <a:p>
            <a:pPr algn="l" indent="0" marL="0">
              <a:lnSpc>
                <a:spcPct val="150000"/>
              </a:lnSpc>
              <a:buNone/>
            </a:pPr>
            <a:r>
              <a:rPr lang="en-US" sz="2325" dirty="0">
                <a:solidFill>
                  <a:srgbClr val="AEB5BB"/>
                </a:solidFill>
                <a:latin typeface="Arial" pitchFamily="34" charset="0"/>
                <a:ea typeface="Arial" pitchFamily="34" charset="-122"/>
                <a:cs typeface="Arial" pitchFamily="34" charset="-120"/>
              </a:rPr>
              <a:t>Moonshot’s models are tuned for coding work — so the real question is how cleanly it drives the tools.</a:t>
            </a:r>
            <a:endParaRPr lang="en-US" sz="2325" dirty="0"/>
          </a:p>
        </p:txBody>
      </p:sp>
      <p:sp>
        <p:nvSpPr>
          <p:cNvPr id="8" name="Shape 6"/>
          <p:cNvSpPr/>
          <p:nvPr/>
        </p:nvSpPr>
        <p:spPr>
          <a:xfrm>
            <a:off x="10382250" y="3713138"/>
            <a:ext cx="6858000" cy="2860725"/>
          </a:xfrm>
          <a:prstGeom prst="roundRect">
            <a:avLst>
              <a:gd name="adj" fmla="val 3995"/>
            </a:avLst>
          </a:prstGeom>
          <a:solidFill>
            <a:srgbClr val="15191D"/>
          </a:solidFill>
          <a:ln w="7937">
            <a:solidFill>
              <a:srgbClr val="2A3036"/>
            </a:solidFill>
            <a:prstDash val="solid"/>
          </a:ln>
          <a:effectLst>
            <a:outerShdw sx="100000" sy="100000" kx="0" ky="0" algn="bl" rotWithShape="0" blurRad="666750" dist="285750" dir="5400000">
              <a:srgbClr val="000000">
                <a:alpha val="50000"/>
              </a:srgbClr>
            </a:outerShdw>
          </a:effectLst>
        </p:spPr>
      </p:sp>
      <p:sp>
        <p:nvSpPr>
          <p:cNvPr id="9" name="Shape 7"/>
          <p:cNvSpPr/>
          <p:nvPr/>
        </p:nvSpPr>
        <p:spPr>
          <a:xfrm>
            <a:off x="10390187" y="3721075"/>
            <a:ext cx="6842125" cy="518914"/>
          </a:xfrm>
          <a:prstGeom prst="rect">
            <a:avLst/>
          </a:prstGeom>
          <a:solidFill>
            <a:srgbClr val="1B2025"/>
          </a:solidFill>
          <a:ln/>
        </p:spPr>
      </p:sp>
      <p:sp>
        <p:nvSpPr>
          <p:cNvPr id="10" name="Shape 8"/>
          <p:cNvSpPr/>
          <p:nvPr/>
        </p:nvSpPr>
        <p:spPr>
          <a:xfrm>
            <a:off x="10390187" y="4232052"/>
            <a:ext cx="6842125" cy="9525"/>
          </a:xfrm>
          <a:prstGeom prst="rect">
            <a:avLst/>
          </a:prstGeom>
          <a:solidFill>
            <a:srgbClr val="2A3036"/>
          </a:solidFill>
          <a:ln/>
        </p:spPr>
      </p:sp>
      <p:sp>
        <p:nvSpPr>
          <p:cNvPr id="11" name="Shape 9"/>
          <p:cNvSpPr/>
          <p:nvPr/>
        </p:nvSpPr>
        <p:spPr>
          <a:xfrm>
            <a:off x="10599662" y="3914676"/>
            <a:ext cx="123775" cy="123775"/>
          </a:xfrm>
          <a:prstGeom prst="ellipse">
            <a:avLst/>
          </a:prstGeom>
          <a:solidFill>
            <a:srgbClr val="ED6A5E"/>
          </a:solidFill>
          <a:ln/>
        </p:spPr>
      </p:sp>
      <p:sp>
        <p:nvSpPr>
          <p:cNvPr id="12" name="Shape 10"/>
          <p:cNvSpPr/>
          <p:nvPr/>
        </p:nvSpPr>
        <p:spPr>
          <a:xfrm>
            <a:off x="10809138" y="3914676"/>
            <a:ext cx="123775" cy="123775"/>
          </a:xfrm>
          <a:prstGeom prst="ellipse">
            <a:avLst/>
          </a:prstGeom>
          <a:solidFill>
            <a:srgbClr val="F4BF4F"/>
          </a:solidFill>
          <a:ln/>
        </p:spPr>
      </p:sp>
      <p:sp>
        <p:nvSpPr>
          <p:cNvPr id="13" name="Shape 11"/>
          <p:cNvSpPr/>
          <p:nvPr/>
        </p:nvSpPr>
        <p:spPr>
          <a:xfrm>
            <a:off x="11018613" y="3914676"/>
            <a:ext cx="123775" cy="123775"/>
          </a:xfrm>
          <a:prstGeom prst="ellipse">
            <a:avLst/>
          </a:prstGeom>
          <a:solidFill>
            <a:srgbClr val="61C554"/>
          </a:solidFill>
          <a:ln/>
        </p:spPr>
      </p:sp>
      <p:sp>
        <p:nvSpPr>
          <p:cNvPr id="14" name="Text 12"/>
          <p:cNvSpPr/>
          <p:nvPr/>
        </p:nvSpPr>
        <p:spPr>
          <a:xfrm>
            <a:off x="11342315" y="3873376"/>
            <a:ext cx="350540" cy="244475"/>
          </a:xfrm>
          <a:prstGeom prst="rect">
            <a:avLst/>
          </a:prstGeom>
          <a:noFill/>
          <a:ln/>
        </p:spPr>
        <p:txBody>
          <a:bodyPr wrap="square" lIns="25400" tIns="25400" rIns="25400" bIns="25400" rtlCol="0" anchor="t">
            <a:normAutofit/>
          </a:bodyPr>
          <a:lstStyle/>
          <a:p>
            <a:pPr algn="l" indent="0" marL="0">
              <a:buNone/>
            </a:pPr>
            <a:r>
              <a:rPr lang="en-US" sz="1200" dirty="0">
                <a:solidFill>
                  <a:srgbClr val="7E868C"/>
                </a:solidFill>
                <a:latin typeface="Courier New" pitchFamily="34" charset="0"/>
                <a:ea typeface="Courier New" pitchFamily="34" charset="-122"/>
                <a:cs typeface="Courier New" pitchFamily="34" charset="-120"/>
              </a:rPr>
              <a:t>zsh</a:t>
            </a:r>
            <a:endParaRPr lang="en-US" sz="1200" dirty="0"/>
          </a:p>
        </p:txBody>
      </p:sp>
      <p:sp>
        <p:nvSpPr>
          <p:cNvPr id="15" name="Text 13"/>
          <p:cNvSpPr/>
          <p:nvPr/>
        </p:nvSpPr>
        <p:spPr>
          <a:xfrm>
            <a:off x="10714012" y="4563814"/>
            <a:ext cx="6380308" cy="508645"/>
          </a:xfrm>
          <a:prstGeom prst="rect">
            <a:avLst/>
          </a:prstGeom>
          <a:noFill/>
          <a:ln/>
        </p:spPr>
        <p:txBody>
          <a:bodyPr wrap="square" lIns="25400" tIns="25400" rIns="25400" bIns="25400" rtlCol="0" anchor="t">
            <a:normAutofit/>
          </a:bodyPr>
          <a:lstStyle/>
          <a:p>
            <a:pPr algn="l" indent="0" marL="0">
              <a:lnSpc>
                <a:spcPct val="190000"/>
              </a:lnSpc>
              <a:buNone/>
            </a:pPr>
            <a:r>
              <a:rPr lang="en-US" sz="1950" dirty="0">
                <a:solidFill>
                  <a:srgbClr val="4FB0CE"/>
                </a:solidFill>
                <a:latin typeface="Courier New" pitchFamily="34" charset="0"/>
                <a:ea typeface="Courier New" pitchFamily="34" charset="-122"/>
                <a:cs typeface="Courier New" pitchFamily="34" charset="-120"/>
              </a:rPr>
              <a:t xml:space="preserve">❯ </a:t>
            </a:r>
            <a:pPr algn="l" indent="0" marL="0">
              <a:lnSpc>
                <a:spcPct val="190000"/>
              </a:lnSpc>
              <a:buNone/>
            </a:pPr>
            <a:r>
              <a:rPr lang="en-US" sz="1950" dirty="0">
                <a:solidFill>
                  <a:srgbClr val="E8ECEF"/>
                </a:solidFill>
                <a:latin typeface="Courier New" pitchFamily="34" charset="0"/>
                <a:ea typeface="Courier New" pitchFamily="34" charset="-122"/>
                <a:cs typeface="Courier New" pitchFamily="34" charset="-120"/>
              </a:rPr>
              <a:t>orclaude moonshotai/kimi-latest</a:t>
            </a:r>
            <a:endParaRPr lang="en-US" sz="1950" dirty="0"/>
          </a:p>
        </p:txBody>
      </p:sp>
      <p:sp>
        <p:nvSpPr>
          <p:cNvPr id="16" name="Text 14"/>
          <p:cNvSpPr/>
          <p:nvPr/>
        </p:nvSpPr>
        <p:spPr>
          <a:xfrm>
            <a:off x="10714012" y="5224859"/>
            <a:ext cx="6380308" cy="508645"/>
          </a:xfrm>
          <a:prstGeom prst="rect">
            <a:avLst/>
          </a:prstGeom>
          <a:noFill/>
          <a:ln/>
        </p:spPr>
        <p:txBody>
          <a:bodyPr wrap="square" lIns="25400" tIns="25400" rIns="25400" bIns="25400" rtlCol="0" anchor="t">
            <a:normAutofit/>
          </a:bodyPr>
          <a:lstStyle/>
          <a:p>
            <a:pPr algn="l" indent="0" marL="0">
              <a:lnSpc>
                <a:spcPct val="190000"/>
              </a:lnSpc>
              <a:buNone/>
            </a:pPr>
            <a:r>
              <a:rPr lang="en-US" sz="1950" dirty="0">
                <a:solidFill>
                  <a:srgbClr val="7E868C"/>
                </a:solidFill>
                <a:latin typeface="Courier New" pitchFamily="34" charset="0"/>
                <a:ea typeface="Courier New" pitchFamily="34" charset="-122"/>
                <a:cs typeface="Courier New" pitchFamily="34" charset="-120"/>
              </a:rPr>
              <a:t>model kimi-latest</a:t>
            </a:r>
            <a:endParaRPr lang="en-US" sz="1950" dirty="0"/>
          </a:p>
        </p:txBody>
      </p:sp>
      <p:sp>
        <p:nvSpPr>
          <p:cNvPr id="17" name="Text 15"/>
          <p:cNvSpPr/>
          <p:nvPr/>
        </p:nvSpPr>
        <p:spPr>
          <a:xfrm>
            <a:off x="10714012" y="5842992"/>
            <a:ext cx="225400" cy="363537"/>
          </a:xfrm>
          <a:prstGeom prst="rect">
            <a:avLst/>
          </a:prstGeom>
          <a:noFill/>
          <a:ln/>
        </p:spPr>
        <p:txBody>
          <a:bodyPr wrap="square" lIns="25400" tIns="25400" rIns="25400" bIns="25400" rtlCol="0" anchor="t">
            <a:normAutofit/>
          </a:bodyPr>
          <a:lstStyle/>
          <a:p>
            <a:pPr algn="l" indent="0" marL="0">
              <a:lnSpc>
                <a:spcPct val="190000"/>
              </a:lnSpc>
              <a:buNone/>
            </a:pPr>
            <a:r>
              <a:rPr lang="en-US" sz="1950" dirty="0">
                <a:solidFill>
                  <a:srgbClr val="4FB0CE"/>
                </a:solidFill>
                <a:latin typeface="Courier New" pitchFamily="34" charset="0"/>
                <a:ea typeface="Courier New" pitchFamily="34" charset="-122"/>
                <a:cs typeface="Courier New" pitchFamily="34" charset="-120"/>
              </a:rPr>
              <a:t>❯</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114"/>
        </a:solidFill>
      </p:bgPr>
    </p:bg>
    <p:spTree>
      <p:nvGrpSpPr>
        <p:cNvPr id="1" name=""/>
        <p:cNvGrpSpPr/>
        <p:nvPr/>
      </p:nvGrpSpPr>
      <p:grpSpPr>
        <a:xfrm>
          <a:off x="0" y="0"/>
          <a:ext cx="0" cy="0"/>
          <a:chOff x="0" y="0"/>
          <a:chExt cx="0" cy="0"/>
        </a:xfrm>
      </p:grpSpPr>
      <p:sp>
        <p:nvSpPr>
          <p:cNvPr id="2" name="Text 0"/>
          <p:cNvSpPr/>
          <p:nvPr/>
        </p:nvSpPr>
        <p:spPr>
          <a:xfrm>
            <a:off x="1047750" y="3056681"/>
            <a:ext cx="1036389" cy="339725"/>
          </a:xfrm>
          <a:prstGeom prst="rect">
            <a:avLst/>
          </a:prstGeom>
          <a:noFill/>
          <a:ln/>
        </p:spPr>
        <p:txBody>
          <a:bodyPr wrap="square" lIns="25400" tIns="25400" rIns="25400" bIns="25400" rtlCol="0" anchor="t">
            <a:normAutofit/>
          </a:bodyPr>
          <a:lstStyle/>
          <a:p>
            <a:pPr algn="l" indent="0" marL="0">
              <a:buNone/>
            </a:pPr>
            <a:r>
              <a:rPr lang="en-US" sz="1800" dirty="0">
                <a:solidFill>
                  <a:srgbClr val="5FB4D0"/>
                </a:solidFill>
                <a:latin typeface="Courier New" pitchFamily="34" charset="0"/>
                <a:ea typeface="Courier New" pitchFamily="34" charset="-122"/>
                <a:cs typeface="Courier New" pitchFamily="34" charset="-120"/>
              </a:rPr>
              <a:t>04 / 06</a:t>
            </a:r>
            <a:endParaRPr lang="en-US" sz="1800" dirty="0"/>
          </a:p>
        </p:txBody>
      </p:sp>
      <p:sp>
        <p:nvSpPr>
          <p:cNvPr id="3" name="Shape 1"/>
          <p:cNvSpPr/>
          <p:nvPr/>
        </p:nvSpPr>
        <p:spPr>
          <a:xfrm>
            <a:off x="2160240" y="3059162"/>
            <a:ext cx="1410394" cy="296664"/>
          </a:xfrm>
          <a:prstGeom prst="roundRect">
            <a:avLst>
              <a:gd name="adj" fmla="val 19264"/>
            </a:avLst>
          </a:prstGeom>
          <a:solidFill>
            <a:srgbClr val="15252B"/>
          </a:solidFill>
          <a:ln w="7937">
            <a:solidFill>
              <a:srgbClr val="244049"/>
            </a:solidFill>
            <a:prstDash val="solid"/>
          </a:ln>
        </p:spPr>
      </p:sp>
      <p:sp>
        <p:nvSpPr>
          <p:cNvPr id="4" name="Text 2"/>
          <p:cNvSpPr/>
          <p:nvPr/>
        </p:nvSpPr>
        <p:spPr>
          <a:xfrm>
            <a:off x="2301528" y="3124250"/>
            <a:ext cx="1204019" cy="204589"/>
          </a:xfrm>
          <a:prstGeom prst="rect">
            <a:avLst/>
          </a:prstGeom>
          <a:noFill/>
          <a:ln/>
        </p:spPr>
        <p:txBody>
          <a:bodyPr wrap="square" lIns="25400" tIns="25400" rIns="25400" bIns="25400" rtlCol="0" anchor="t">
            <a:normAutofit/>
          </a:bodyPr>
          <a:lstStyle/>
          <a:p>
            <a:pPr algn="l" indent="0" marL="0">
              <a:buNone/>
            </a:pPr>
            <a:r>
              <a:rPr lang="en-US" sz="1125" b="1" spc="158" kern="0" dirty="0">
                <a:solidFill>
                  <a:srgbClr val="6AAEC3"/>
                </a:solidFill>
                <a:latin typeface="Arial" pitchFamily="34" charset="0"/>
                <a:ea typeface="Arial" pitchFamily="34" charset="-122"/>
                <a:cs typeface="Arial" pitchFamily="34" charset="-120"/>
              </a:rPr>
              <a:t>FULL CIRCLE</a:t>
            </a:r>
            <a:endParaRPr lang="en-US" sz="1125" dirty="0"/>
          </a:p>
        </p:txBody>
      </p:sp>
      <p:sp>
        <p:nvSpPr>
          <p:cNvPr id="5" name="Text 3"/>
          <p:cNvSpPr/>
          <p:nvPr/>
        </p:nvSpPr>
        <p:spPr>
          <a:xfrm>
            <a:off x="1047750" y="3644057"/>
            <a:ext cx="8829675" cy="1419473"/>
          </a:xfrm>
          <a:prstGeom prst="rect">
            <a:avLst/>
          </a:prstGeom>
          <a:noFill/>
          <a:ln/>
        </p:spPr>
        <p:txBody>
          <a:bodyPr wrap="square" lIns="25400" tIns="25400" rIns="25400" bIns="25400" rtlCol="0" anchor="t">
            <a:normAutofit/>
          </a:bodyPr>
          <a:lstStyle/>
          <a:p>
            <a:pPr algn="l" indent="0" marL="0">
              <a:lnSpc>
                <a:spcPct val="98000"/>
              </a:lnSpc>
              <a:buNone/>
            </a:pPr>
            <a:r>
              <a:rPr lang="en-US" sz="5550" b="1" spc="-194" kern="0" dirty="0">
                <a:solidFill>
                  <a:srgbClr val="FFFFFF"/>
                </a:solidFill>
                <a:latin typeface="Arial" pitchFamily="34" charset="0"/>
                <a:ea typeface="Arial" pitchFamily="34" charset="-122"/>
                <a:cs typeface="Arial" pitchFamily="34" charset="-120"/>
              </a:rPr>
              <a:t>Claude, through the same script</a:t>
            </a:r>
            <a:endParaRPr lang="en-US" sz="5550" dirty="0"/>
          </a:p>
        </p:txBody>
      </p:sp>
      <p:sp>
        <p:nvSpPr>
          <p:cNvPr id="6" name="Text 4"/>
          <p:cNvSpPr/>
          <p:nvPr/>
        </p:nvSpPr>
        <p:spPr>
          <a:xfrm>
            <a:off x="1047750" y="5196830"/>
            <a:ext cx="9429750" cy="419100"/>
          </a:xfrm>
          <a:prstGeom prst="rect">
            <a:avLst/>
          </a:prstGeom>
          <a:noFill/>
          <a:ln/>
        </p:spPr>
        <p:txBody>
          <a:bodyPr wrap="square" lIns="25400" tIns="25400" rIns="25400" bIns="25400" rtlCol="0" anchor="t">
            <a:normAutofit/>
          </a:bodyPr>
          <a:lstStyle/>
          <a:p>
            <a:pPr algn="l" indent="0" marL="0">
              <a:buNone/>
            </a:pPr>
            <a:r>
              <a:rPr lang="en-US" sz="2250" dirty="0">
                <a:solidFill>
                  <a:srgbClr val="4FB0CE"/>
                </a:solidFill>
                <a:latin typeface="Courier New" pitchFamily="34" charset="0"/>
                <a:ea typeface="Courier New" pitchFamily="34" charset="-122"/>
                <a:cs typeface="Courier New" pitchFamily="34" charset="-120"/>
              </a:rPr>
              <a:t>anthropic/claude-opus-4.6</a:t>
            </a:r>
            <a:endParaRPr lang="en-US" sz="2250" dirty="0"/>
          </a:p>
        </p:txBody>
      </p:sp>
      <p:sp>
        <p:nvSpPr>
          <p:cNvPr id="7" name="Text 5"/>
          <p:cNvSpPr/>
          <p:nvPr/>
        </p:nvSpPr>
        <p:spPr>
          <a:xfrm>
            <a:off x="1047750" y="5901655"/>
            <a:ext cx="6671310" cy="1366763"/>
          </a:xfrm>
          <a:prstGeom prst="rect">
            <a:avLst/>
          </a:prstGeom>
          <a:noFill/>
          <a:ln/>
        </p:spPr>
        <p:txBody>
          <a:bodyPr wrap="square" lIns="25400" tIns="25400" rIns="25400" bIns="25400" rtlCol="0" anchor="t">
            <a:normAutofit/>
          </a:bodyPr>
          <a:lstStyle/>
          <a:p>
            <a:pPr algn="l" indent="0" marL="0">
              <a:lnSpc>
                <a:spcPct val="150000"/>
              </a:lnSpc>
              <a:buNone/>
            </a:pPr>
            <a:r>
              <a:rPr lang="en-US" sz="2325" dirty="0">
                <a:solidFill>
                  <a:srgbClr val="AEB5BB"/>
                </a:solidFill>
                <a:latin typeface="Arial" pitchFamily="34" charset="0"/>
                <a:ea typeface="Arial" pitchFamily="34" charset="-122"/>
                <a:cs typeface="Arial" pitchFamily="34" charset="-120"/>
              </a:rPr>
              <a:t>Route real Claude back through OpenRouter to make the point land: the harness doesn’t care who’s behind the curtain.</a:t>
            </a:r>
            <a:endParaRPr lang="en-US" sz="2325" dirty="0"/>
          </a:p>
        </p:txBody>
      </p:sp>
      <p:sp>
        <p:nvSpPr>
          <p:cNvPr id="8" name="Shape 6"/>
          <p:cNvSpPr/>
          <p:nvPr/>
        </p:nvSpPr>
        <p:spPr>
          <a:xfrm>
            <a:off x="10382250" y="3514080"/>
            <a:ext cx="6858000" cy="3258840"/>
          </a:xfrm>
          <a:prstGeom prst="roundRect">
            <a:avLst>
              <a:gd name="adj" fmla="val 3507"/>
            </a:avLst>
          </a:prstGeom>
          <a:solidFill>
            <a:srgbClr val="15191D"/>
          </a:solidFill>
          <a:ln w="7937">
            <a:solidFill>
              <a:srgbClr val="2A3036"/>
            </a:solidFill>
            <a:prstDash val="solid"/>
          </a:ln>
          <a:effectLst>
            <a:outerShdw sx="100000" sy="100000" kx="0" ky="0" algn="bl" rotWithShape="0" blurRad="666750" dist="285750" dir="5400000">
              <a:srgbClr val="000000">
                <a:alpha val="50000"/>
              </a:srgbClr>
            </a:outerShdw>
          </a:effectLst>
        </p:spPr>
      </p:sp>
      <p:sp>
        <p:nvSpPr>
          <p:cNvPr id="9" name="Shape 7"/>
          <p:cNvSpPr/>
          <p:nvPr/>
        </p:nvSpPr>
        <p:spPr>
          <a:xfrm>
            <a:off x="10390187" y="3522018"/>
            <a:ext cx="6842125" cy="518914"/>
          </a:xfrm>
          <a:prstGeom prst="rect">
            <a:avLst/>
          </a:prstGeom>
          <a:solidFill>
            <a:srgbClr val="1B2025"/>
          </a:solidFill>
          <a:ln/>
        </p:spPr>
      </p:sp>
      <p:sp>
        <p:nvSpPr>
          <p:cNvPr id="10" name="Shape 8"/>
          <p:cNvSpPr/>
          <p:nvPr/>
        </p:nvSpPr>
        <p:spPr>
          <a:xfrm>
            <a:off x="10390187" y="4032994"/>
            <a:ext cx="6842125" cy="9525"/>
          </a:xfrm>
          <a:prstGeom prst="rect">
            <a:avLst/>
          </a:prstGeom>
          <a:solidFill>
            <a:srgbClr val="2A3036"/>
          </a:solidFill>
          <a:ln/>
        </p:spPr>
      </p:sp>
      <p:sp>
        <p:nvSpPr>
          <p:cNvPr id="11" name="Shape 9"/>
          <p:cNvSpPr/>
          <p:nvPr/>
        </p:nvSpPr>
        <p:spPr>
          <a:xfrm>
            <a:off x="10599662" y="3715618"/>
            <a:ext cx="123775" cy="123775"/>
          </a:xfrm>
          <a:prstGeom prst="ellipse">
            <a:avLst/>
          </a:prstGeom>
          <a:solidFill>
            <a:srgbClr val="ED6A5E"/>
          </a:solidFill>
          <a:ln/>
        </p:spPr>
      </p:sp>
      <p:sp>
        <p:nvSpPr>
          <p:cNvPr id="12" name="Shape 10"/>
          <p:cNvSpPr/>
          <p:nvPr/>
        </p:nvSpPr>
        <p:spPr>
          <a:xfrm>
            <a:off x="10809138" y="3715618"/>
            <a:ext cx="123775" cy="123775"/>
          </a:xfrm>
          <a:prstGeom prst="ellipse">
            <a:avLst/>
          </a:prstGeom>
          <a:solidFill>
            <a:srgbClr val="F4BF4F"/>
          </a:solidFill>
          <a:ln/>
        </p:spPr>
      </p:sp>
      <p:sp>
        <p:nvSpPr>
          <p:cNvPr id="13" name="Shape 11"/>
          <p:cNvSpPr/>
          <p:nvPr/>
        </p:nvSpPr>
        <p:spPr>
          <a:xfrm>
            <a:off x="11018613" y="3715618"/>
            <a:ext cx="123775" cy="123775"/>
          </a:xfrm>
          <a:prstGeom prst="ellipse">
            <a:avLst/>
          </a:prstGeom>
          <a:solidFill>
            <a:srgbClr val="61C554"/>
          </a:solidFill>
          <a:ln/>
        </p:spPr>
      </p:sp>
      <p:sp>
        <p:nvSpPr>
          <p:cNvPr id="14" name="Text 12"/>
          <p:cNvSpPr/>
          <p:nvPr/>
        </p:nvSpPr>
        <p:spPr>
          <a:xfrm>
            <a:off x="11342315" y="3674318"/>
            <a:ext cx="350540" cy="244475"/>
          </a:xfrm>
          <a:prstGeom prst="rect">
            <a:avLst/>
          </a:prstGeom>
          <a:noFill/>
          <a:ln/>
        </p:spPr>
        <p:txBody>
          <a:bodyPr wrap="square" lIns="25400" tIns="25400" rIns="25400" bIns="25400" rtlCol="0" anchor="t">
            <a:normAutofit/>
          </a:bodyPr>
          <a:lstStyle/>
          <a:p>
            <a:pPr algn="l" indent="0" marL="0">
              <a:buNone/>
            </a:pPr>
            <a:r>
              <a:rPr lang="en-US" sz="1200" dirty="0">
                <a:solidFill>
                  <a:srgbClr val="7E868C"/>
                </a:solidFill>
                <a:latin typeface="Courier New" pitchFamily="34" charset="0"/>
                <a:ea typeface="Courier New" pitchFamily="34" charset="-122"/>
                <a:cs typeface="Courier New" pitchFamily="34" charset="-120"/>
              </a:rPr>
              <a:t>zsh</a:t>
            </a:r>
            <a:endParaRPr lang="en-US" sz="1200" dirty="0"/>
          </a:p>
        </p:txBody>
      </p:sp>
      <p:sp>
        <p:nvSpPr>
          <p:cNvPr id="15" name="Text 13"/>
          <p:cNvSpPr/>
          <p:nvPr/>
        </p:nvSpPr>
        <p:spPr>
          <a:xfrm>
            <a:off x="10714012" y="4364757"/>
            <a:ext cx="6380308" cy="490538"/>
          </a:xfrm>
          <a:prstGeom prst="rect">
            <a:avLst/>
          </a:prstGeom>
          <a:noFill/>
          <a:ln/>
        </p:spPr>
        <p:txBody>
          <a:bodyPr wrap="square" lIns="25400" tIns="25400" rIns="25400" bIns="25400" rtlCol="0" anchor="t">
            <a:normAutofit/>
          </a:bodyPr>
          <a:lstStyle/>
          <a:p>
            <a:pPr algn="l" indent="0" marL="0">
              <a:lnSpc>
                <a:spcPct val="190000"/>
              </a:lnSpc>
              <a:buNone/>
            </a:pPr>
            <a:r>
              <a:rPr lang="en-US" sz="1875" dirty="0">
                <a:solidFill>
                  <a:srgbClr val="4FB0CE"/>
                </a:solidFill>
                <a:latin typeface="Courier New" pitchFamily="34" charset="0"/>
                <a:ea typeface="Courier New" pitchFamily="34" charset="-122"/>
                <a:cs typeface="Courier New" pitchFamily="34" charset="-120"/>
              </a:rPr>
              <a:t xml:space="preserve">❯ </a:t>
            </a:r>
            <a:pPr algn="l" indent="0" marL="0">
              <a:lnSpc>
                <a:spcPct val="190000"/>
              </a:lnSpc>
              <a:buNone/>
            </a:pPr>
            <a:r>
              <a:rPr lang="en-US" sz="1875" dirty="0">
                <a:solidFill>
                  <a:srgbClr val="E8ECEF"/>
                </a:solidFill>
                <a:latin typeface="Courier New" pitchFamily="34" charset="0"/>
                <a:ea typeface="Courier New" pitchFamily="34" charset="-122"/>
                <a:cs typeface="Courier New" pitchFamily="34" charset="-120"/>
              </a:rPr>
              <a:t>orclaude anthropic/claude-opus-4.6</a:t>
            </a:r>
            <a:endParaRPr lang="en-US" sz="1875" dirty="0"/>
          </a:p>
        </p:txBody>
      </p:sp>
      <p:sp>
        <p:nvSpPr>
          <p:cNvPr id="16" name="Text 14"/>
          <p:cNvSpPr/>
          <p:nvPr/>
        </p:nvSpPr>
        <p:spPr>
          <a:xfrm>
            <a:off x="10714012" y="5007694"/>
            <a:ext cx="6380308" cy="490538"/>
          </a:xfrm>
          <a:prstGeom prst="rect">
            <a:avLst/>
          </a:prstGeom>
          <a:noFill/>
          <a:ln/>
        </p:spPr>
        <p:txBody>
          <a:bodyPr wrap="square" lIns="25400" tIns="25400" rIns="25400" bIns="25400" rtlCol="0" anchor="t">
            <a:normAutofit/>
          </a:bodyPr>
          <a:lstStyle/>
          <a:p>
            <a:pPr algn="l" indent="0" marL="0">
              <a:lnSpc>
                <a:spcPct val="190000"/>
              </a:lnSpc>
              <a:buNone/>
            </a:pPr>
            <a:r>
              <a:rPr lang="en-US" sz="1875" dirty="0">
                <a:solidFill>
                  <a:srgbClr val="7E868C"/>
                </a:solidFill>
                <a:latin typeface="Courier New" pitchFamily="34" charset="0"/>
                <a:ea typeface="Courier New" pitchFamily="34" charset="-122"/>
                <a:cs typeface="Courier New" pitchFamily="34" charset="-120"/>
              </a:rPr>
              <a:t>model claude-opus-4.6</a:t>
            </a:r>
            <a:endParaRPr lang="en-US" sz="1875" dirty="0"/>
          </a:p>
        </p:txBody>
      </p:sp>
      <p:sp>
        <p:nvSpPr>
          <p:cNvPr id="17" name="Text 15"/>
          <p:cNvSpPr/>
          <p:nvPr/>
        </p:nvSpPr>
        <p:spPr>
          <a:xfrm>
            <a:off x="10714012" y="5460132"/>
            <a:ext cx="6380308" cy="490538"/>
          </a:xfrm>
          <a:prstGeom prst="rect">
            <a:avLst/>
          </a:prstGeom>
          <a:noFill/>
          <a:ln/>
        </p:spPr>
        <p:txBody>
          <a:bodyPr wrap="square" lIns="25400" tIns="25400" rIns="25400" bIns="25400" rtlCol="0" anchor="t">
            <a:normAutofit/>
          </a:bodyPr>
          <a:lstStyle/>
          <a:p>
            <a:pPr algn="l" indent="0" marL="0">
              <a:lnSpc>
                <a:spcPct val="190000"/>
              </a:lnSpc>
              <a:buNone/>
            </a:pPr>
            <a:r>
              <a:rPr lang="en-US" sz="1875" dirty="0">
                <a:solidFill>
                  <a:srgbClr val="7E868C"/>
                </a:solidFill>
                <a:latin typeface="Courier New" pitchFamily="34" charset="0"/>
                <a:ea typeface="Courier New" pitchFamily="34" charset="-122"/>
                <a:cs typeface="Courier New" pitchFamily="34" charset="-120"/>
              </a:rPr>
              <a:t>route Anthropic via OpenRouter</a:t>
            </a:r>
            <a:endParaRPr lang="en-US" sz="1875" dirty="0"/>
          </a:p>
        </p:txBody>
      </p:sp>
      <p:sp>
        <p:nvSpPr>
          <p:cNvPr id="18" name="Text 16"/>
          <p:cNvSpPr/>
          <p:nvPr/>
        </p:nvSpPr>
        <p:spPr>
          <a:xfrm>
            <a:off x="10714012" y="6052220"/>
            <a:ext cx="219571" cy="355600"/>
          </a:xfrm>
          <a:prstGeom prst="rect">
            <a:avLst/>
          </a:prstGeom>
          <a:noFill/>
          <a:ln/>
        </p:spPr>
        <p:txBody>
          <a:bodyPr wrap="square" lIns="25400" tIns="25400" rIns="25400" bIns="25400" rtlCol="0" anchor="t">
            <a:normAutofit/>
          </a:bodyPr>
          <a:lstStyle/>
          <a:p>
            <a:pPr algn="l" indent="0" marL="0">
              <a:lnSpc>
                <a:spcPct val="190000"/>
              </a:lnSpc>
              <a:buNone/>
            </a:pPr>
            <a:r>
              <a:rPr lang="en-US" sz="1875" dirty="0">
                <a:solidFill>
                  <a:srgbClr val="4FB0CE"/>
                </a:solidFill>
                <a:latin typeface="Courier New" pitchFamily="34" charset="0"/>
                <a:ea typeface="Courier New" pitchFamily="34" charset="-122"/>
                <a:cs typeface="Courier New" pitchFamily="34" charset="-120"/>
              </a:rPr>
              <a:t>❯</a:t>
            </a:r>
            <a:endParaRPr lang="en-US" sz="1875" dirty="0"/>
          </a:p>
        </p:txBody>
      </p:sp>
      <p:sp>
        <p:nvSpPr>
          <p:cNvPr id="19" name="Shape 17"/>
          <p:cNvSpPr/>
          <p:nvPr/>
        </p:nvSpPr>
        <p:spPr>
          <a:xfrm>
            <a:off x="11000259" y="6088806"/>
            <a:ext cx="133325" cy="247551"/>
          </a:xfrm>
          <a:prstGeom prst="rect">
            <a:avLst/>
          </a:prstGeom>
          <a:solidFill>
            <a:srgbClr val="4FB0CE"/>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61A"/>
        </a:solidFill>
      </p:bgPr>
    </p:bg>
    <p:spTree>
      <p:nvGrpSpPr>
        <p:cNvPr id="1" name=""/>
        <p:cNvGrpSpPr/>
        <p:nvPr/>
      </p:nvGrpSpPr>
      <p:grpSpPr>
        <a:xfrm>
          <a:off x="0" y="0"/>
          <a:ext cx="0" cy="0"/>
          <a:chOff x="0" y="0"/>
          <a:chExt cx="0" cy="0"/>
        </a:xfrm>
      </p:grpSpPr>
      <p:sp>
        <p:nvSpPr>
          <p:cNvPr id="2" name="Shape 0"/>
          <p:cNvSpPr/>
          <p:nvPr/>
        </p:nvSpPr>
        <p:spPr>
          <a:xfrm>
            <a:off x="1143000" y="3558853"/>
            <a:ext cx="323825" cy="28525"/>
          </a:xfrm>
          <a:prstGeom prst="rect">
            <a:avLst/>
          </a:prstGeom>
          <a:solidFill>
            <a:srgbClr val="4FB0CE"/>
          </a:solidFill>
          <a:ln/>
        </p:spPr>
      </p:sp>
      <p:sp>
        <p:nvSpPr>
          <p:cNvPr id="3" name="Text 1"/>
          <p:cNvSpPr/>
          <p:nvPr/>
        </p:nvSpPr>
        <p:spPr>
          <a:xfrm>
            <a:off x="1600150" y="3410396"/>
            <a:ext cx="1863440" cy="363537"/>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6AAEC3"/>
                </a:solidFill>
                <a:latin typeface="Courier New" pitchFamily="34" charset="0"/>
                <a:ea typeface="Courier New" pitchFamily="34" charset="-122"/>
                <a:cs typeface="Courier New" pitchFamily="34" charset="-120"/>
              </a:rPr>
              <a:t>THE PIVOT</a:t>
            </a:r>
            <a:endParaRPr lang="en-US" sz="1950" dirty="0"/>
          </a:p>
        </p:txBody>
      </p:sp>
      <p:sp>
        <p:nvSpPr>
          <p:cNvPr id="4" name="Text 2"/>
          <p:cNvSpPr/>
          <p:nvPr/>
        </p:nvSpPr>
        <p:spPr>
          <a:xfrm>
            <a:off x="1143000" y="3983385"/>
            <a:ext cx="14225588" cy="1592362"/>
          </a:xfrm>
          <a:prstGeom prst="rect">
            <a:avLst/>
          </a:prstGeom>
          <a:noFill/>
          <a:ln/>
        </p:spPr>
        <p:txBody>
          <a:bodyPr wrap="square" lIns="25400" tIns="25400" rIns="25400" bIns="25400" rtlCol="0" anchor="t">
            <a:normAutofit/>
          </a:bodyPr>
          <a:lstStyle/>
          <a:p>
            <a:pPr algn="l" indent="0" marL="0">
              <a:lnSpc>
                <a:spcPct val="102000"/>
              </a:lnSpc>
              <a:buNone/>
            </a:pPr>
            <a:r>
              <a:rPr lang="en-US" sz="6000" b="1" spc="-210" kern="0" dirty="0">
                <a:solidFill>
                  <a:srgbClr val="FFFFFF"/>
                </a:solidFill>
                <a:latin typeface="Arial" pitchFamily="34" charset="0"/>
                <a:ea typeface="Arial" pitchFamily="34" charset="-122"/>
                <a:cs typeface="Arial" pitchFamily="34" charset="-120"/>
              </a:rPr>
              <a:t xml:space="preserve">Now you don’t even </a:t>
            </a:r>
            <a:pPr algn="l" indent="0" marL="0">
              <a:lnSpc>
                <a:spcPct val="102000"/>
              </a:lnSpc>
              <a:buNone/>
            </a:pPr>
            <a:r>
              <a:rPr lang="en-US" sz="6000" b="1" spc="-210" kern="0" dirty="0">
                <a:solidFill>
                  <a:srgbClr val="4FB0CE"/>
                </a:solidFill>
                <a:latin typeface="Arial" pitchFamily="34" charset="0"/>
                <a:ea typeface="Arial" pitchFamily="34" charset="-122"/>
                <a:cs typeface="Arial" pitchFamily="34" charset="-120"/>
              </a:rPr>
              <a:t>pick the model</a:t>
            </a:r>
            <a:endParaRPr lang="en-US" sz="6000" dirty="0"/>
          </a:p>
        </p:txBody>
      </p:sp>
      <p:sp>
        <p:nvSpPr>
          <p:cNvPr id="5" name="Text 3"/>
          <p:cNvSpPr/>
          <p:nvPr/>
        </p:nvSpPr>
        <p:spPr>
          <a:xfrm>
            <a:off x="1143000" y="5937622"/>
            <a:ext cx="11576685" cy="976957"/>
          </a:xfrm>
          <a:prstGeom prst="rect">
            <a:avLst/>
          </a:prstGeom>
          <a:noFill/>
          <a:ln/>
        </p:spPr>
        <p:txBody>
          <a:bodyPr wrap="square" lIns="25400" tIns="25400" rIns="25400" bIns="25400" rtlCol="0" anchor="t">
            <a:normAutofit/>
          </a:bodyPr>
          <a:lstStyle/>
          <a:p>
            <a:pPr algn="l" indent="0" marL="0">
              <a:lnSpc>
                <a:spcPct val="145000"/>
              </a:lnSpc>
              <a:buNone/>
            </a:pPr>
            <a:r>
              <a:rPr lang="en-US" sz="2550" dirty="0">
                <a:solidFill>
                  <a:srgbClr val="AEB5BB"/>
                </a:solidFill>
                <a:latin typeface="Arial" pitchFamily="34" charset="0"/>
                <a:ea typeface="Arial" pitchFamily="34" charset="-122"/>
                <a:cs typeface="Arial" pitchFamily="34" charset="-120"/>
              </a:rPr>
              <a:t xml:space="preserve">Up to now I’ve </a:t>
            </a:r>
            <a:pPr algn="l" indent="0" marL="0">
              <a:lnSpc>
                <a:spcPct val="145000"/>
              </a:lnSpc>
              <a:buNone/>
            </a:pPr>
            <a:r>
              <a:rPr lang="en-US" sz="2550" dirty="0">
                <a:solidFill>
                  <a:srgbClr val="E8ECEF"/>
                </a:solidFill>
                <a:latin typeface="Arial" pitchFamily="34" charset="0"/>
                <a:ea typeface="Arial" pitchFamily="34" charset="-122"/>
                <a:cs typeface="Arial" pitchFamily="34" charset="-120"/>
              </a:rPr>
              <a:t xml:space="preserve">named </a:t>
            </a:r>
            <a:pPr algn="l" indent="0" marL="0">
              <a:lnSpc>
                <a:spcPct val="145000"/>
              </a:lnSpc>
              <a:buNone/>
            </a:pPr>
            <a:r>
              <a:rPr lang="en-US" sz="2550" dirty="0">
                <a:solidFill>
                  <a:srgbClr val="AEB5BB"/>
                </a:solidFill>
                <a:latin typeface="Arial" pitchFamily="34" charset="0"/>
                <a:ea typeface="Arial" pitchFamily="34" charset="-122"/>
                <a:cs typeface="Arial" pitchFamily="34" charset="-120"/>
              </a:rPr>
              <a:t xml:space="preserve">the model every time. OpenRouter has routers — where </a:t>
            </a:r>
            <a:pPr algn="l" indent="0" marL="0">
              <a:lnSpc>
                <a:spcPct val="145000"/>
              </a:lnSpc>
              <a:buNone/>
            </a:pPr>
            <a:r>
              <a:rPr lang="en-US" sz="2550" dirty="0">
                <a:solidFill>
                  <a:srgbClr val="E8ECEF"/>
                </a:solidFill>
                <a:latin typeface="Arial" pitchFamily="34" charset="0"/>
                <a:ea typeface="Arial" pitchFamily="34" charset="-122"/>
                <a:cs typeface="Arial" pitchFamily="34" charset="-120"/>
              </a:rPr>
              <a:t xml:space="preserve">it </a:t>
            </a:r>
            <a:pPr algn="l" indent="0" marL="0">
              <a:lnSpc>
                <a:spcPct val="145000"/>
              </a:lnSpc>
              <a:buNone/>
            </a:pPr>
            <a:r>
              <a:rPr lang="en-US" sz="2550" dirty="0">
                <a:solidFill>
                  <a:srgbClr val="AEB5BB"/>
                </a:solidFill>
                <a:latin typeface="Arial" pitchFamily="34" charset="0"/>
                <a:ea typeface="Arial" pitchFamily="34" charset="-122"/>
                <a:cs typeface="Arial" pitchFamily="34" charset="-120"/>
              </a:rPr>
              <a:t>picks the model for you.</a:t>
            </a:r>
            <a:endParaRPr lang="en-US" sz="2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114"/>
        </a:solidFill>
      </p:bgPr>
    </p:bg>
    <p:spTree>
      <p:nvGrpSpPr>
        <p:cNvPr id="1" name=""/>
        <p:cNvGrpSpPr/>
        <p:nvPr/>
      </p:nvGrpSpPr>
      <p:grpSpPr>
        <a:xfrm>
          <a:off x="0" y="0"/>
          <a:ext cx="0" cy="0"/>
          <a:chOff x="0" y="0"/>
          <a:chExt cx="0" cy="0"/>
        </a:xfrm>
      </p:grpSpPr>
      <p:sp>
        <p:nvSpPr>
          <p:cNvPr id="2" name="Text 0"/>
          <p:cNvSpPr/>
          <p:nvPr/>
        </p:nvSpPr>
        <p:spPr>
          <a:xfrm>
            <a:off x="1047750" y="3586014"/>
            <a:ext cx="1036389" cy="339725"/>
          </a:xfrm>
          <a:prstGeom prst="rect">
            <a:avLst/>
          </a:prstGeom>
          <a:noFill/>
          <a:ln/>
        </p:spPr>
        <p:txBody>
          <a:bodyPr wrap="square" lIns="25400" tIns="25400" rIns="25400" bIns="25400" rtlCol="0" anchor="t">
            <a:normAutofit/>
          </a:bodyPr>
          <a:lstStyle/>
          <a:p>
            <a:pPr algn="l" indent="0" marL="0">
              <a:buNone/>
            </a:pPr>
            <a:r>
              <a:rPr lang="en-US" sz="1800" dirty="0">
                <a:solidFill>
                  <a:srgbClr val="5FB4D0"/>
                </a:solidFill>
                <a:latin typeface="Courier New" pitchFamily="34" charset="0"/>
                <a:ea typeface="Courier New" pitchFamily="34" charset="-122"/>
                <a:cs typeface="Courier New" pitchFamily="34" charset="-120"/>
              </a:rPr>
              <a:t>05 / 06</a:t>
            </a:r>
            <a:endParaRPr lang="en-US" sz="1800" dirty="0"/>
          </a:p>
        </p:txBody>
      </p:sp>
      <p:sp>
        <p:nvSpPr>
          <p:cNvPr id="3" name="Shape 1"/>
          <p:cNvSpPr/>
          <p:nvPr/>
        </p:nvSpPr>
        <p:spPr>
          <a:xfrm>
            <a:off x="2160240" y="3596432"/>
            <a:ext cx="989955" cy="280789"/>
          </a:xfrm>
          <a:prstGeom prst="roundRect">
            <a:avLst>
              <a:gd name="adj" fmla="val 20353"/>
            </a:avLst>
          </a:prstGeom>
          <a:solidFill>
            <a:srgbClr val="4FB0CE"/>
          </a:solidFill>
          <a:ln/>
        </p:spPr>
      </p:sp>
      <p:sp>
        <p:nvSpPr>
          <p:cNvPr id="4" name="Text 2"/>
          <p:cNvSpPr/>
          <p:nvPr/>
        </p:nvSpPr>
        <p:spPr>
          <a:xfrm>
            <a:off x="2293590" y="3653582"/>
            <a:ext cx="799455" cy="204589"/>
          </a:xfrm>
          <a:prstGeom prst="rect">
            <a:avLst/>
          </a:prstGeom>
          <a:noFill/>
          <a:ln/>
        </p:spPr>
        <p:txBody>
          <a:bodyPr wrap="square" lIns="25400" tIns="25400" rIns="25400" bIns="25400" rtlCol="0" anchor="t">
            <a:normAutofit/>
          </a:bodyPr>
          <a:lstStyle/>
          <a:p>
            <a:pPr algn="l" indent="0" marL="0">
              <a:buNone/>
            </a:pPr>
            <a:r>
              <a:rPr lang="en-US" sz="1125" b="1" spc="158" kern="0" dirty="0">
                <a:solidFill>
                  <a:srgbClr val="0E1114"/>
                </a:solidFill>
                <a:latin typeface="Arial" pitchFamily="34" charset="0"/>
                <a:ea typeface="Arial" pitchFamily="34" charset="-122"/>
                <a:cs typeface="Arial" pitchFamily="34" charset="-120"/>
              </a:rPr>
              <a:t>ROUTER</a:t>
            </a:r>
            <a:endParaRPr lang="en-US" sz="1125" dirty="0"/>
          </a:p>
        </p:txBody>
      </p:sp>
      <p:sp>
        <p:nvSpPr>
          <p:cNvPr id="5" name="Text 3"/>
          <p:cNvSpPr/>
          <p:nvPr/>
        </p:nvSpPr>
        <p:spPr>
          <a:xfrm>
            <a:off x="1047750" y="4173389"/>
            <a:ext cx="9429750" cy="803573"/>
          </a:xfrm>
          <a:prstGeom prst="rect">
            <a:avLst/>
          </a:prstGeom>
          <a:noFill/>
          <a:ln/>
        </p:spPr>
        <p:txBody>
          <a:bodyPr wrap="square" lIns="25400" tIns="25400" rIns="25400" bIns="25400" rtlCol="0" anchor="t">
            <a:normAutofit/>
          </a:bodyPr>
          <a:lstStyle/>
          <a:p>
            <a:pPr algn="l" indent="0" marL="0">
              <a:lnSpc>
                <a:spcPct val="98000"/>
              </a:lnSpc>
              <a:buNone/>
            </a:pPr>
            <a:r>
              <a:rPr lang="en-US" sz="6150" b="1" spc="-215" kern="0" dirty="0">
                <a:solidFill>
                  <a:srgbClr val="FFFFFF"/>
                </a:solidFill>
                <a:latin typeface="Arial" pitchFamily="34" charset="0"/>
                <a:ea typeface="Arial" pitchFamily="34" charset="-122"/>
                <a:cs typeface="Arial" pitchFamily="34" charset="-120"/>
              </a:rPr>
              <a:t>Auto</a:t>
            </a:r>
            <a:endParaRPr lang="en-US" sz="6150" dirty="0"/>
          </a:p>
        </p:txBody>
      </p:sp>
      <p:sp>
        <p:nvSpPr>
          <p:cNvPr id="6" name="Text 4"/>
          <p:cNvSpPr/>
          <p:nvPr/>
        </p:nvSpPr>
        <p:spPr>
          <a:xfrm>
            <a:off x="1047750" y="5110261"/>
            <a:ext cx="9429750" cy="419100"/>
          </a:xfrm>
          <a:prstGeom prst="rect">
            <a:avLst/>
          </a:prstGeom>
          <a:noFill/>
          <a:ln/>
        </p:spPr>
        <p:txBody>
          <a:bodyPr wrap="square" lIns="25400" tIns="25400" rIns="25400" bIns="25400" rtlCol="0" anchor="t">
            <a:normAutofit/>
          </a:bodyPr>
          <a:lstStyle/>
          <a:p>
            <a:pPr algn="l" indent="0" marL="0">
              <a:buNone/>
            </a:pPr>
            <a:r>
              <a:rPr lang="en-US" sz="2250" dirty="0">
                <a:solidFill>
                  <a:srgbClr val="4FB0CE"/>
                </a:solidFill>
                <a:latin typeface="Courier New" pitchFamily="34" charset="0"/>
                <a:ea typeface="Courier New" pitchFamily="34" charset="-122"/>
                <a:cs typeface="Courier New" pitchFamily="34" charset="-120"/>
              </a:rPr>
              <a:t>openrouter/auto</a:t>
            </a:r>
            <a:endParaRPr lang="en-US" sz="2250" dirty="0"/>
          </a:p>
        </p:txBody>
      </p:sp>
      <p:sp>
        <p:nvSpPr>
          <p:cNvPr id="7" name="Text 5"/>
          <p:cNvSpPr/>
          <p:nvPr/>
        </p:nvSpPr>
        <p:spPr>
          <a:xfrm>
            <a:off x="1047750" y="5815087"/>
            <a:ext cx="6671310" cy="923875"/>
          </a:xfrm>
          <a:prstGeom prst="rect">
            <a:avLst/>
          </a:prstGeom>
          <a:noFill/>
          <a:ln/>
        </p:spPr>
        <p:txBody>
          <a:bodyPr wrap="square" lIns="25400" tIns="25400" rIns="25400" bIns="25400" rtlCol="0" anchor="t">
            <a:normAutofit/>
          </a:bodyPr>
          <a:lstStyle/>
          <a:p>
            <a:pPr algn="l" indent="0" marL="0">
              <a:lnSpc>
                <a:spcPct val="150000"/>
              </a:lnSpc>
              <a:buNone/>
            </a:pPr>
            <a:r>
              <a:rPr lang="en-US" sz="2325" dirty="0">
                <a:solidFill>
                  <a:srgbClr val="AEB5BB"/>
                </a:solidFill>
                <a:latin typeface="Arial" pitchFamily="34" charset="0"/>
                <a:ea typeface="Arial" pitchFamily="34" charset="-122"/>
                <a:cs typeface="Arial" pitchFamily="34" charset="-120"/>
              </a:rPr>
              <a:t>OpenRouter analyzes the prompt and chooses a model for me. I don’t pick anything.</a:t>
            </a:r>
            <a:endParaRPr lang="en-US" sz="2325" dirty="0"/>
          </a:p>
        </p:txBody>
      </p:sp>
      <p:sp>
        <p:nvSpPr>
          <p:cNvPr id="8" name="Shape 6"/>
          <p:cNvSpPr/>
          <p:nvPr/>
        </p:nvSpPr>
        <p:spPr>
          <a:xfrm>
            <a:off x="10382250" y="3477865"/>
            <a:ext cx="6858000" cy="3331269"/>
          </a:xfrm>
          <a:prstGeom prst="roundRect">
            <a:avLst>
              <a:gd name="adj" fmla="val 3431"/>
            </a:avLst>
          </a:prstGeom>
          <a:solidFill>
            <a:srgbClr val="15191D"/>
          </a:solidFill>
          <a:ln w="7937">
            <a:solidFill>
              <a:srgbClr val="2A3036"/>
            </a:solidFill>
            <a:prstDash val="solid"/>
          </a:ln>
          <a:effectLst>
            <a:outerShdw sx="100000" sy="100000" kx="0" ky="0" algn="bl" rotWithShape="0" blurRad="666750" dist="285750" dir="5400000">
              <a:srgbClr val="000000">
                <a:alpha val="50000"/>
              </a:srgbClr>
            </a:outerShdw>
          </a:effectLst>
        </p:spPr>
      </p:sp>
      <p:sp>
        <p:nvSpPr>
          <p:cNvPr id="9" name="Shape 7"/>
          <p:cNvSpPr/>
          <p:nvPr/>
        </p:nvSpPr>
        <p:spPr>
          <a:xfrm>
            <a:off x="10390187" y="3485803"/>
            <a:ext cx="6842125" cy="518914"/>
          </a:xfrm>
          <a:prstGeom prst="rect">
            <a:avLst/>
          </a:prstGeom>
          <a:solidFill>
            <a:srgbClr val="1B2025"/>
          </a:solidFill>
          <a:ln/>
        </p:spPr>
      </p:sp>
      <p:sp>
        <p:nvSpPr>
          <p:cNvPr id="10" name="Shape 8"/>
          <p:cNvSpPr/>
          <p:nvPr/>
        </p:nvSpPr>
        <p:spPr>
          <a:xfrm>
            <a:off x="10390187" y="3996779"/>
            <a:ext cx="6842125" cy="9525"/>
          </a:xfrm>
          <a:prstGeom prst="rect">
            <a:avLst/>
          </a:prstGeom>
          <a:solidFill>
            <a:srgbClr val="2A3036"/>
          </a:solidFill>
          <a:ln/>
        </p:spPr>
      </p:sp>
      <p:sp>
        <p:nvSpPr>
          <p:cNvPr id="11" name="Shape 9"/>
          <p:cNvSpPr/>
          <p:nvPr/>
        </p:nvSpPr>
        <p:spPr>
          <a:xfrm>
            <a:off x="10599662" y="3679403"/>
            <a:ext cx="123775" cy="123775"/>
          </a:xfrm>
          <a:prstGeom prst="ellipse">
            <a:avLst/>
          </a:prstGeom>
          <a:solidFill>
            <a:srgbClr val="ED6A5E"/>
          </a:solidFill>
          <a:ln/>
        </p:spPr>
      </p:sp>
      <p:sp>
        <p:nvSpPr>
          <p:cNvPr id="12" name="Shape 10"/>
          <p:cNvSpPr/>
          <p:nvPr/>
        </p:nvSpPr>
        <p:spPr>
          <a:xfrm>
            <a:off x="10809138" y="3679403"/>
            <a:ext cx="123775" cy="123775"/>
          </a:xfrm>
          <a:prstGeom prst="ellipse">
            <a:avLst/>
          </a:prstGeom>
          <a:solidFill>
            <a:srgbClr val="F4BF4F"/>
          </a:solidFill>
          <a:ln/>
        </p:spPr>
      </p:sp>
      <p:sp>
        <p:nvSpPr>
          <p:cNvPr id="13" name="Shape 11"/>
          <p:cNvSpPr/>
          <p:nvPr/>
        </p:nvSpPr>
        <p:spPr>
          <a:xfrm>
            <a:off x="11018613" y="3679403"/>
            <a:ext cx="123775" cy="123775"/>
          </a:xfrm>
          <a:prstGeom prst="ellipse">
            <a:avLst/>
          </a:prstGeom>
          <a:solidFill>
            <a:srgbClr val="61C554"/>
          </a:solidFill>
          <a:ln/>
        </p:spPr>
      </p:sp>
      <p:sp>
        <p:nvSpPr>
          <p:cNvPr id="14" name="Text 12"/>
          <p:cNvSpPr/>
          <p:nvPr/>
        </p:nvSpPr>
        <p:spPr>
          <a:xfrm>
            <a:off x="11342315" y="3638104"/>
            <a:ext cx="350540" cy="244475"/>
          </a:xfrm>
          <a:prstGeom prst="rect">
            <a:avLst/>
          </a:prstGeom>
          <a:noFill/>
          <a:ln/>
        </p:spPr>
        <p:txBody>
          <a:bodyPr wrap="square" lIns="25400" tIns="25400" rIns="25400" bIns="25400" rtlCol="0" anchor="t">
            <a:normAutofit/>
          </a:bodyPr>
          <a:lstStyle/>
          <a:p>
            <a:pPr algn="l" indent="0" marL="0">
              <a:buNone/>
            </a:pPr>
            <a:r>
              <a:rPr lang="en-US" sz="1200" dirty="0">
                <a:solidFill>
                  <a:srgbClr val="7E868C"/>
                </a:solidFill>
                <a:latin typeface="Courier New" pitchFamily="34" charset="0"/>
                <a:ea typeface="Courier New" pitchFamily="34" charset="-122"/>
                <a:cs typeface="Courier New" pitchFamily="34" charset="-120"/>
              </a:rPr>
              <a:t>zsh</a:t>
            </a:r>
            <a:endParaRPr lang="en-US" sz="1200" dirty="0"/>
          </a:p>
        </p:txBody>
      </p:sp>
      <p:sp>
        <p:nvSpPr>
          <p:cNvPr id="15" name="Text 13"/>
          <p:cNvSpPr/>
          <p:nvPr/>
        </p:nvSpPr>
        <p:spPr>
          <a:xfrm>
            <a:off x="10714012" y="4328542"/>
            <a:ext cx="6380308" cy="508645"/>
          </a:xfrm>
          <a:prstGeom prst="rect">
            <a:avLst/>
          </a:prstGeom>
          <a:noFill/>
          <a:ln/>
        </p:spPr>
        <p:txBody>
          <a:bodyPr wrap="square" lIns="25400" tIns="25400" rIns="25400" bIns="25400" rtlCol="0" anchor="t">
            <a:normAutofit/>
          </a:bodyPr>
          <a:lstStyle/>
          <a:p>
            <a:pPr algn="l" indent="0" marL="0">
              <a:lnSpc>
                <a:spcPct val="190000"/>
              </a:lnSpc>
              <a:buNone/>
            </a:pPr>
            <a:r>
              <a:rPr lang="en-US" sz="1950" dirty="0">
                <a:solidFill>
                  <a:srgbClr val="4FB0CE"/>
                </a:solidFill>
                <a:latin typeface="Courier New" pitchFamily="34" charset="0"/>
                <a:ea typeface="Courier New" pitchFamily="34" charset="-122"/>
                <a:cs typeface="Courier New" pitchFamily="34" charset="-120"/>
              </a:rPr>
              <a:t xml:space="preserve">❯ </a:t>
            </a:r>
            <a:pPr algn="l" indent="0" marL="0">
              <a:lnSpc>
                <a:spcPct val="190000"/>
              </a:lnSpc>
              <a:buNone/>
            </a:pPr>
            <a:r>
              <a:rPr lang="en-US" sz="1950" dirty="0">
                <a:solidFill>
                  <a:srgbClr val="E8ECEF"/>
                </a:solidFill>
                <a:latin typeface="Courier New" pitchFamily="34" charset="0"/>
                <a:ea typeface="Courier New" pitchFamily="34" charset="-122"/>
                <a:cs typeface="Courier New" pitchFamily="34" charset="-120"/>
              </a:rPr>
              <a:t>orclaude openrouter/auto</a:t>
            </a:r>
            <a:endParaRPr lang="en-US" sz="1950" dirty="0"/>
          </a:p>
        </p:txBody>
      </p:sp>
      <p:sp>
        <p:nvSpPr>
          <p:cNvPr id="16" name="Text 14"/>
          <p:cNvSpPr/>
          <p:nvPr/>
        </p:nvSpPr>
        <p:spPr>
          <a:xfrm>
            <a:off x="10714012" y="4989587"/>
            <a:ext cx="6380308" cy="508645"/>
          </a:xfrm>
          <a:prstGeom prst="rect">
            <a:avLst/>
          </a:prstGeom>
          <a:noFill/>
          <a:ln/>
        </p:spPr>
        <p:txBody>
          <a:bodyPr wrap="square" lIns="25400" tIns="25400" rIns="25400" bIns="25400" rtlCol="0" anchor="t">
            <a:normAutofit/>
          </a:bodyPr>
          <a:lstStyle/>
          <a:p>
            <a:pPr algn="l" indent="0" marL="0">
              <a:lnSpc>
                <a:spcPct val="190000"/>
              </a:lnSpc>
              <a:buNone/>
            </a:pPr>
            <a:r>
              <a:rPr lang="en-US" sz="1950" dirty="0">
                <a:solidFill>
                  <a:srgbClr val="7E868C"/>
                </a:solidFill>
                <a:latin typeface="Courier New" pitchFamily="34" charset="0"/>
                <a:ea typeface="Courier New" pitchFamily="34" charset="-122"/>
                <a:cs typeface="Courier New" pitchFamily="34" charset="-120"/>
              </a:rPr>
              <a:t>model openrouter/auto</a:t>
            </a:r>
            <a:endParaRPr lang="en-US" sz="1950" dirty="0"/>
          </a:p>
        </p:txBody>
      </p:sp>
      <p:sp>
        <p:nvSpPr>
          <p:cNvPr id="17" name="Text 15"/>
          <p:cNvSpPr/>
          <p:nvPr/>
        </p:nvSpPr>
        <p:spPr>
          <a:xfrm>
            <a:off x="10714012" y="5460132"/>
            <a:ext cx="6380308" cy="508645"/>
          </a:xfrm>
          <a:prstGeom prst="rect">
            <a:avLst/>
          </a:prstGeom>
          <a:noFill/>
          <a:ln/>
        </p:spPr>
        <p:txBody>
          <a:bodyPr wrap="square" lIns="25400" tIns="25400" rIns="25400" bIns="25400" rtlCol="0" anchor="t">
            <a:normAutofit/>
          </a:bodyPr>
          <a:lstStyle/>
          <a:p>
            <a:pPr algn="l" indent="0" marL="0">
              <a:lnSpc>
                <a:spcPct val="190000"/>
              </a:lnSpc>
              <a:buNone/>
            </a:pPr>
            <a:r>
              <a:rPr lang="en-US" sz="1950" dirty="0">
                <a:solidFill>
                  <a:srgbClr val="C98A6A"/>
                </a:solidFill>
                <a:latin typeface="Courier New" pitchFamily="34" charset="0"/>
                <a:ea typeface="Courier New" pitchFamily="34" charset="-122"/>
                <a:cs typeface="Courier New" pitchFamily="34" charset="-120"/>
              </a:rPr>
              <a:t xml:space="preserve">picked </a:t>
            </a:r>
            <a:pPr algn="l" indent="0" marL="0">
              <a:lnSpc>
                <a:spcPct val="190000"/>
              </a:lnSpc>
              <a:buNone/>
            </a:pPr>
            <a:r>
              <a:rPr lang="en-US" sz="1950" dirty="0">
                <a:solidFill>
                  <a:srgbClr val="5C656C"/>
                </a:solidFill>
                <a:latin typeface="Courier New" pitchFamily="34" charset="0"/>
                <a:ea typeface="Courier New" pitchFamily="34" charset="-122"/>
                <a:cs typeface="Courier New" pitchFamily="34" charset="-120"/>
              </a:rPr>
              <a:t>??? — not shown</a:t>
            </a:r>
            <a:endParaRPr lang="en-US" sz="1950" dirty="0"/>
          </a:p>
        </p:txBody>
      </p:sp>
      <p:sp>
        <p:nvSpPr>
          <p:cNvPr id="18" name="Text 16"/>
          <p:cNvSpPr/>
          <p:nvPr/>
        </p:nvSpPr>
        <p:spPr>
          <a:xfrm>
            <a:off x="10714012" y="6078264"/>
            <a:ext cx="225400" cy="363537"/>
          </a:xfrm>
          <a:prstGeom prst="rect">
            <a:avLst/>
          </a:prstGeom>
          <a:noFill/>
          <a:ln/>
        </p:spPr>
        <p:txBody>
          <a:bodyPr wrap="square" lIns="25400" tIns="25400" rIns="25400" bIns="25400" rtlCol="0" anchor="t">
            <a:normAutofit/>
          </a:bodyPr>
          <a:lstStyle/>
          <a:p>
            <a:pPr algn="l" indent="0" marL="0">
              <a:lnSpc>
                <a:spcPct val="190000"/>
              </a:lnSpc>
              <a:buNone/>
            </a:pPr>
            <a:r>
              <a:rPr lang="en-US" sz="1950" dirty="0">
                <a:solidFill>
                  <a:srgbClr val="4FB0CE"/>
                </a:solidFill>
                <a:latin typeface="Courier New" pitchFamily="34" charset="0"/>
                <a:ea typeface="Courier New" pitchFamily="34" charset="-122"/>
                <a:cs typeface="Courier New" pitchFamily="34" charset="-120"/>
              </a:rPr>
              <a:t>❯</a:t>
            </a:r>
            <a:endParaRPr lang="en-US" sz="1950" dirty="0"/>
          </a:p>
        </p:txBody>
      </p:sp>
      <p:sp>
        <p:nvSpPr>
          <p:cNvPr id="19" name="Shape 17"/>
          <p:cNvSpPr/>
          <p:nvPr/>
        </p:nvSpPr>
        <p:spPr>
          <a:xfrm>
            <a:off x="11011916" y="6113239"/>
            <a:ext cx="133325" cy="257101"/>
          </a:xfrm>
          <a:prstGeom prst="rect">
            <a:avLst/>
          </a:prstGeom>
          <a:solidFill>
            <a:srgbClr val="4FB0CE"/>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114"/>
        </a:solidFill>
      </p:bgPr>
    </p:bg>
    <p:spTree>
      <p:nvGrpSpPr>
        <p:cNvPr id="1" name=""/>
        <p:cNvGrpSpPr/>
        <p:nvPr/>
      </p:nvGrpSpPr>
      <p:grpSpPr>
        <a:xfrm>
          <a:off x="0" y="0"/>
          <a:ext cx="0" cy="0"/>
          <a:chOff x="0" y="0"/>
          <a:chExt cx="0" cy="0"/>
        </a:xfrm>
      </p:grpSpPr>
      <p:sp>
        <p:nvSpPr>
          <p:cNvPr id="2" name="Shape 0"/>
          <p:cNvSpPr/>
          <p:nvPr/>
        </p:nvSpPr>
        <p:spPr>
          <a:xfrm>
            <a:off x="1047750" y="2756917"/>
            <a:ext cx="323825" cy="28525"/>
          </a:xfrm>
          <a:prstGeom prst="rect">
            <a:avLst/>
          </a:prstGeom>
          <a:solidFill>
            <a:srgbClr val="4FB0CE"/>
          </a:solidFill>
          <a:ln/>
        </p:spPr>
      </p:sp>
      <p:sp>
        <p:nvSpPr>
          <p:cNvPr id="3" name="Text 1"/>
          <p:cNvSpPr/>
          <p:nvPr/>
        </p:nvSpPr>
        <p:spPr>
          <a:xfrm>
            <a:off x="1504900" y="2608461"/>
            <a:ext cx="3726743" cy="363537"/>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6AAEC3"/>
                </a:solidFill>
                <a:latin typeface="Courier New" pitchFamily="34" charset="0"/>
                <a:ea typeface="Courier New" pitchFamily="34" charset="-122"/>
                <a:cs typeface="Courier New" pitchFamily="34" charset="-120"/>
              </a:rPr>
              <a:t>THE ONE REAL CATCH</a:t>
            </a:r>
            <a:endParaRPr lang="en-US" sz="1950" dirty="0"/>
          </a:p>
        </p:txBody>
      </p:sp>
      <p:sp>
        <p:nvSpPr>
          <p:cNvPr id="4" name="Text 2"/>
          <p:cNvSpPr/>
          <p:nvPr/>
        </p:nvSpPr>
        <p:spPr>
          <a:xfrm>
            <a:off x="1047750" y="3143374"/>
            <a:ext cx="13620750" cy="618034"/>
          </a:xfrm>
          <a:prstGeom prst="rect">
            <a:avLst/>
          </a:prstGeom>
          <a:noFill/>
          <a:ln/>
        </p:spPr>
        <p:txBody>
          <a:bodyPr wrap="square" lIns="25400" tIns="25400" rIns="25400" bIns="25400" rtlCol="0" anchor="t">
            <a:normAutofit/>
          </a:bodyPr>
          <a:lstStyle/>
          <a:p>
            <a:pPr algn="l" indent="0" marL="0">
              <a:lnSpc>
                <a:spcPct val="105000"/>
              </a:lnSpc>
              <a:buNone/>
            </a:pPr>
            <a:r>
              <a:rPr lang="en-US" sz="4350" b="1" spc="-130" kern="0" dirty="0">
                <a:solidFill>
                  <a:srgbClr val="FFFFFF"/>
                </a:solidFill>
                <a:latin typeface="Arial" pitchFamily="34" charset="0"/>
                <a:ea typeface="Arial" pitchFamily="34" charset="-122"/>
                <a:cs typeface="Arial" pitchFamily="34" charset="-120"/>
              </a:rPr>
              <a:t>A router won’t tell you which model it picked</a:t>
            </a:r>
            <a:endParaRPr lang="en-US" sz="4350" dirty="0"/>
          </a:p>
        </p:txBody>
      </p:sp>
      <p:sp>
        <p:nvSpPr>
          <p:cNvPr id="5" name="Shape 3"/>
          <p:cNvSpPr/>
          <p:nvPr/>
        </p:nvSpPr>
        <p:spPr>
          <a:xfrm>
            <a:off x="1047750" y="4180458"/>
            <a:ext cx="5245075" cy="2724671"/>
          </a:xfrm>
          <a:prstGeom prst="roundRect">
            <a:avLst>
              <a:gd name="adj" fmla="val 4195"/>
            </a:avLst>
          </a:prstGeom>
          <a:solidFill>
            <a:srgbClr val="15191D"/>
          </a:solidFill>
          <a:ln w="7937">
            <a:solidFill>
              <a:srgbClr val="242A30"/>
            </a:solidFill>
            <a:prstDash val="solid"/>
          </a:ln>
        </p:spPr>
      </p:sp>
      <p:sp>
        <p:nvSpPr>
          <p:cNvPr id="6" name="Text 4"/>
          <p:cNvSpPr/>
          <p:nvPr/>
        </p:nvSpPr>
        <p:spPr>
          <a:xfrm>
            <a:off x="1379513" y="4550296"/>
            <a:ext cx="5039705" cy="342950"/>
          </a:xfrm>
          <a:prstGeom prst="rect">
            <a:avLst/>
          </a:prstGeom>
          <a:noFill/>
          <a:ln/>
        </p:spPr>
        <p:txBody>
          <a:bodyPr wrap="square" lIns="25400" tIns="25400" rIns="25400" bIns="25400" rtlCol="0" anchor="t">
            <a:normAutofit/>
          </a:bodyPr>
          <a:lstStyle/>
          <a:p>
            <a:pPr algn="l" indent="0" marL="0">
              <a:lnSpc>
                <a:spcPct val="100000"/>
              </a:lnSpc>
              <a:buNone/>
            </a:pPr>
            <a:r>
              <a:rPr lang="en-US" sz="2400" dirty="0">
                <a:solidFill>
                  <a:srgbClr val="F2F4F5"/>
                </a:solidFill>
                <a:latin typeface="Arial" pitchFamily="34" charset="0"/>
                <a:ea typeface="Arial" pitchFamily="34" charset="-122"/>
                <a:cs typeface="Arial" pitchFamily="34" charset="-120"/>
              </a:rPr>
              <a:t>🔒</a:t>
            </a:r>
            <a:endParaRPr lang="en-US" sz="2400" dirty="0"/>
          </a:p>
        </p:txBody>
      </p:sp>
      <p:sp>
        <p:nvSpPr>
          <p:cNvPr id="7" name="Text 5"/>
          <p:cNvSpPr/>
          <p:nvPr/>
        </p:nvSpPr>
        <p:spPr>
          <a:xfrm>
            <a:off x="1379513" y="5026546"/>
            <a:ext cx="5039705"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Arial" pitchFamily="34" charset="0"/>
                <a:ea typeface="Arial" pitchFamily="34" charset="-122"/>
                <a:cs typeface="Arial" pitchFamily="34" charset="-120"/>
              </a:rPr>
              <a:t>The harness hides it</a:t>
            </a:r>
            <a:endParaRPr lang="en-US" sz="2250" dirty="0"/>
          </a:p>
        </p:txBody>
      </p:sp>
      <p:sp>
        <p:nvSpPr>
          <p:cNvPr id="8" name="Text 6"/>
          <p:cNvSpPr/>
          <p:nvPr/>
        </p:nvSpPr>
        <p:spPr>
          <a:xfrm>
            <a:off x="1379513" y="5493246"/>
            <a:ext cx="4718996" cy="1080145"/>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AEB5BB"/>
                </a:solidFill>
                <a:latin typeface="Arial" pitchFamily="34" charset="0"/>
                <a:ea typeface="Arial" pitchFamily="34" charset="-122"/>
                <a:cs typeface="Arial" pitchFamily="34" charset="-120"/>
              </a:rPr>
              <a:t xml:space="preserve">Claude Code’s terminal just echoes </a:t>
            </a:r>
            <a:pPr algn="l" indent="0" marL="0">
              <a:lnSpc>
                <a:spcPct val="145000"/>
              </a:lnSpc>
              <a:buNone/>
            </a:pPr>
            <a:r>
              <a:rPr lang="en-US" sz="1650" dirty="0">
                <a:solidFill>
                  <a:srgbClr val="9AA1A7"/>
                </a:solidFill>
                <a:latin typeface="Courier New" pitchFamily="34" charset="0"/>
                <a:ea typeface="Courier New" pitchFamily="34" charset="-122"/>
                <a:cs typeface="Courier New" pitchFamily="34" charset="-120"/>
              </a:rPr>
              <a:t xml:space="preserve">openrouter/auto </a:t>
            </a:r>
            <a:pPr algn="l" indent="0" marL="0">
              <a:lnSpc>
                <a:spcPct val="145000"/>
              </a:lnSpc>
              <a:buNone/>
            </a:pPr>
            <a:r>
              <a:rPr lang="en-US" sz="1875" dirty="0">
                <a:solidFill>
                  <a:srgbClr val="AEB5BB"/>
                </a:solidFill>
                <a:latin typeface="Arial" pitchFamily="34" charset="0"/>
                <a:ea typeface="Arial" pitchFamily="34" charset="-122"/>
                <a:cs typeface="Arial" pitchFamily="34" charset="-120"/>
              </a:rPr>
              <a:t>— never the model that actually served you.</a:t>
            </a:r>
            <a:endParaRPr lang="en-US" sz="1875" dirty="0"/>
          </a:p>
        </p:txBody>
      </p:sp>
      <p:sp>
        <p:nvSpPr>
          <p:cNvPr id="9" name="Shape 7"/>
          <p:cNvSpPr/>
          <p:nvPr/>
        </p:nvSpPr>
        <p:spPr>
          <a:xfrm>
            <a:off x="6521400" y="4180458"/>
            <a:ext cx="5245075" cy="2724671"/>
          </a:xfrm>
          <a:prstGeom prst="roundRect">
            <a:avLst>
              <a:gd name="adj" fmla="val 4195"/>
            </a:avLst>
          </a:prstGeom>
          <a:solidFill>
            <a:srgbClr val="15191D"/>
          </a:solidFill>
          <a:ln w="7937">
            <a:solidFill>
              <a:srgbClr val="242A30"/>
            </a:solidFill>
            <a:prstDash val="solid"/>
          </a:ln>
        </p:spPr>
      </p:sp>
      <p:sp>
        <p:nvSpPr>
          <p:cNvPr id="10" name="Text 8"/>
          <p:cNvSpPr/>
          <p:nvPr/>
        </p:nvSpPr>
        <p:spPr>
          <a:xfrm>
            <a:off x="6853163" y="4550296"/>
            <a:ext cx="5039705" cy="342950"/>
          </a:xfrm>
          <a:prstGeom prst="rect">
            <a:avLst/>
          </a:prstGeom>
          <a:noFill/>
          <a:ln/>
        </p:spPr>
        <p:txBody>
          <a:bodyPr wrap="square" lIns="25400" tIns="25400" rIns="25400" bIns="25400" rtlCol="0" anchor="t">
            <a:normAutofit/>
          </a:bodyPr>
          <a:lstStyle/>
          <a:p>
            <a:pPr algn="l" indent="0" marL="0">
              <a:lnSpc>
                <a:spcPct val="100000"/>
              </a:lnSpc>
              <a:buNone/>
            </a:pPr>
            <a:r>
              <a:rPr lang="en-US" sz="2400" dirty="0">
                <a:solidFill>
                  <a:srgbClr val="F2F4F5"/>
                </a:solidFill>
                <a:latin typeface="Arial" pitchFamily="34" charset="0"/>
                <a:ea typeface="Arial" pitchFamily="34" charset="-122"/>
                <a:cs typeface="Arial" pitchFamily="34" charset="-120"/>
              </a:rPr>
              <a:t>🔍</a:t>
            </a:r>
            <a:endParaRPr lang="en-US" sz="2400" dirty="0"/>
          </a:p>
        </p:txBody>
      </p:sp>
      <p:sp>
        <p:nvSpPr>
          <p:cNvPr id="11" name="Text 9"/>
          <p:cNvSpPr/>
          <p:nvPr/>
        </p:nvSpPr>
        <p:spPr>
          <a:xfrm>
            <a:off x="6853163" y="5026546"/>
            <a:ext cx="5039705"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Arial" pitchFamily="34" charset="0"/>
                <a:ea typeface="Arial" pitchFamily="34" charset="-122"/>
                <a:cs typeface="Arial" pitchFamily="34" charset="-120"/>
              </a:rPr>
              <a:t>The API doesn’t</a:t>
            </a:r>
            <a:endParaRPr lang="en-US" sz="2250" dirty="0"/>
          </a:p>
        </p:txBody>
      </p:sp>
      <p:sp>
        <p:nvSpPr>
          <p:cNvPr id="12" name="Text 10"/>
          <p:cNvSpPr/>
          <p:nvPr/>
        </p:nvSpPr>
        <p:spPr>
          <a:xfrm>
            <a:off x="6853163" y="5493246"/>
            <a:ext cx="4718996" cy="1080145"/>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AEB5BB"/>
                </a:solidFill>
                <a:latin typeface="Arial" pitchFamily="34" charset="0"/>
                <a:ea typeface="Arial" pitchFamily="34" charset="-122"/>
                <a:cs typeface="Arial" pitchFamily="34" charset="-120"/>
              </a:rPr>
              <a:t xml:space="preserve">The response includes a </a:t>
            </a:r>
            <a:pPr algn="l" indent="0" marL="0">
              <a:lnSpc>
                <a:spcPct val="145000"/>
              </a:lnSpc>
              <a:buNone/>
            </a:pPr>
            <a:r>
              <a:rPr lang="en-US" sz="1650" dirty="0">
                <a:solidFill>
                  <a:srgbClr val="8FD08A"/>
                </a:solidFill>
                <a:latin typeface="Courier New" pitchFamily="34" charset="0"/>
                <a:ea typeface="Courier New" pitchFamily="34" charset="-122"/>
                <a:cs typeface="Courier New" pitchFamily="34" charset="-120"/>
              </a:rPr>
              <a:t xml:space="preserve">model </a:t>
            </a:r>
            <a:pPr algn="l" indent="0" marL="0">
              <a:lnSpc>
                <a:spcPct val="145000"/>
              </a:lnSpc>
              <a:buNone/>
            </a:pPr>
            <a:r>
              <a:rPr lang="en-US" sz="1875" dirty="0">
                <a:solidFill>
                  <a:srgbClr val="AEB5BB"/>
                </a:solidFill>
                <a:latin typeface="Arial" pitchFamily="34" charset="0"/>
                <a:ea typeface="Arial" pitchFamily="34" charset="-122"/>
                <a:cs typeface="Arial" pitchFamily="34" charset="-120"/>
              </a:rPr>
              <a:t>field naming the choice. Not missing data — hidden data.</a:t>
            </a:r>
            <a:endParaRPr lang="en-US" sz="1875" dirty="0"/>
          </a:p>
        </p:txBody>
      </p:sp>
      <p:sp>
        <p:nvSpPr>
          <p:cNvPr id="13" name="Shape 11"/>
          <p:cNvSpPr/>
          <p:nvPr/>
        </p:nvSpPr>
        <p:spPr>
          <a:xfrm>
            <a:off x="11995050" y="4180458"/>
            <a:ext cx="5245075" cy="2724671"/>
          </a:xfrm>
          <a:prstGeom prst="roundRect">
            <a:avLst>
              <a:gd name="adj" fmla="val 4195"/>
            </a:avLst>
          </a:prstGeom>
          <a:solidFill>
            <a:srgbClr val="15191D"/>
          </a:solidFill>
          <a:ln w="7937">
            <a:solidFill>
              <a:srgbClr val="2E8BA8"/>
            </a:solidFill>
            <a:prstDash val="solid"/>
          </a:ln>
        </p:spPr>
      </p:sp>
      <p:sp>
        <p:nvSpPr>
          <p:cNvPr id="14" name="Text 12"/>
          <p:cNvSpPr/>
          <p:nvPr/>
        </p:nvSpPr>
        <p:spPr>
          <a:xfrm>
            <a:off x="12326813" y="4550296"/>
            <a:ext cx="5039705" cy="342950"/>
          </a:xfrm>
          <a:prstGeom prst="rect">
            <a:avLst/>
          </a:prstGeom>
          <a:noFill/>
          <a:ln/>
        </p:spPr>
        <p:txBody>
          <a:bodyPr wrap="square" lIns="25400" tIns="25400" rIns="25400" bIns="25400" rtlCol="0" anchor="t">
            <a:normAutofit/>
          </a:bodyPr>
          <a:lstStyle/>
          <a:p>
            <a:pPr algn="l" indent="0" marL="0">
              <a:lnSpc>
                <a:spcPct val="100000"/>
              </a:lnSpc>
              <a:buNone/>
            </a:pPr>
            <a:r>
              <a:rPr lang="en-US" sz="2400" dirty="0">
                <a:solidFill>
                  <a:srgbClr val="F2F4F5"/>
                </a:solidFill>
                <a:latin typeface="Arial" pitchFamily="34" charset="0"/>
                <a:ea typeface="Arial" pitchFamily="34" charset="-122"/>
                <a:cs typeface="Arial" pitchFamily="34" charset="-120"/>
              </a:rPr>
              <a:t>📊</a:t>
            </a:r>
            <a:endParaRPr lang="en-US" sz="2400" dirty="0"/>
          </a:p>
        </p:txBody>
      </p:sp>
      <p:sp>
        <p:nvSpPr>
          <p:cNvPr id="15" name="Text 13"/>
          <p:cNvSpPr/>
          <p:nvPr/>
        </p:nvSpPr>
        <p:spPr>
          <a:xfrm>
            <a:off x="12326813" y="5026546"/>
            <a:ext cx="5039705"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4FB0CE"/>
                </a:solidFill>
                <a:latin typeface="Arial" pitchFamily="34" charset="0"/>
                <a:ea typeface="Arial" pitchFamily="34" charset="-122"/>
                <a:cs typeface="Arial" pitchFamily="34" charset="-120"/>
              </a:rPr>
              <a:t>Where to look</a:t>
            </a:r>
            <a:endParaRPr lang="en-US" sz="2250" dirty="0"/>
          </a:p>
        </p:txBody>
      </p:sp>
      <p:sp>
        <p:nvSpPr>
          <p:cNvPr id="16" name="Text 14"/>
          <p:cNvSpPr/>
          <p:nvPr/>
        </p:nvSpPr>
        <p:spPr>
          <a:xfrm>
            <a:off x="12326813" y="5493246"/>
            <a:ext cx="4718996" cy="1073944"/>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AEB5BB"/>
                </a:solidFill>
                <a:latin typeface="Arial" pitchFamily="34" charset="0"/>
                <a:ea typeface="Arial" pitchFamily="34" charset="-122"/>
                <a:cs typeface="Arial" pitchFamily="34" charset="-120"/>
              </a:rPr>
              <a:t>OpenRouter’s Activity dashboard logs the real model behind every request. Your peek behind the curtain.</a:t>
            </a:r>
            <a:endParaRPr lang="en-US" sz="1875" dirty="0"/>
          </a:p>
        </p:txBody>
      </p:sp>
      <p:sp>
        <p:nvSpPr>
          <p:cNvPr id="17" name="Text 15"/>
          <p:cNvSpPr/>
          <p:nvPr/>
        </p:nvSpPr>
        <p:spPr>
          <a:xfrm>
            <a:off x="238125" y="7305104"/>
            <a:ext cx="17811750" cy="411411"/>
          </a:xfrm>
          <a:prstGeom prst="rect">
            <a:avLst/>
          </a:prstGeom>
          <a:noFill/>
          <a:ln/>
        </p:spPr>
        <p:txBody>
          <a:bodyPr wrap="square" lIns="25400" tIns="25400" rIns="25400" bIns="25400" rtlCol="0" anchor="t">
            <a:normAutofit/>
          </a:bodyPr>
          <a:lstStyle/>
          <a:p>
            <a:pPr algn="ctr" indent="0" marL="0">
              <a:lnSpc>
                <a:spcPct val="140000"/>
              </a:lnSpc>
              <a:buNone/>
            </a:pPr>
            <a:r>
              <a:rPr lang="en-US" sz="2100" dirty="0">
                <a:solidFill>
                  <a:srgbClr val="E8ECEF"/>
                </a:solidFill>
                <a:latin typeface="Arial" pitchFamily="34" charset="0"/>
                <a:ea typeface="Arial" pitchFamily="34" charset="-122"/>
                <a:cs typeface="Arial" pitchFamily="34" charset="-120"/>
              </a:rPr>
              <a:t xml:space="preserve">That gap </a:t>
            </a:r>
            <a:pPr algn="ctr" indent="0" marL="0">
              <a:lnSpc>
                <a:spcPct val="140000"/>
              </a:lnSpc>
              <a:buNone/>
            </a:pPr>
            <a:r>
              <a:rPr lang="en-US" sz="2100" dirty="0">
                <a:solidFill>
                  <a:srgbClr val="4FB0CE"/>
                </a:solidFill>
                <a:latin typeface="Arial" pitchFamily="34" charset="0"/>
                <a:ea typeface="Arial" pitchFamily="34" charset="-122"/>
                <a:cs typeface="Arial" pitchFamily="34" charset="-120"/>
              </a:rPr>
              <a:t xml:space="preserve">is </a:t>
            </a:r>
            <a:pPr algn="ctr" indent="0" marL="0">
              <a:lnSpc>
                <a:spcPct val="140000"/>
              </a:lnSpc>
              <a:buNone/>
            </a:pPr>
            <a:r>
              <a:rPr lang="en-US" sz="2100" dirty="0">
                <a:solidFill>
                  <a:srgbClr val="E8ECEF"/>
                </a:solidFill>
                <a:latin typeface="Arial" pitchFamily="34" charset="0"/>
                <a:ea typeface="Arial" pitchFamily="34" charset="-122"/>
                <a:cs typeface="Arial" pitchFamily="34" charset="-120"/>
              </a:rPr>
              <a:t>the lesson — the harness and the model are separate layers, and here you can feel the seam.</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114"/>
        </a:solidFill>
      </p:bgPr>
    </p:bg>
    <p:spTree>
      <p:nvGrpSpPr>
        <p:cNvPr id="1" name=""/>
        <p:cNvGrpSpPr/>
        <p:nvPr/>
      </p:nvGrpSpPr>
      <p:grpSpPr>
        <a:xfrm>
          <a:off x="0" y="0"/>
          <a:ext cx="0" cy="0"/>
          <a:chOff x="0" y="0"/>
          <a:chExt cx="0" cy="0"/>
        </a:xfrm>
      </p:grpSpPr>
      <p:sp>
        <p:nvSpPr>
          <p:cNvPr id="2" name="Text 0"/>
          <p:cNvSpPr/>
          <p:nvPr/>
        </p:nvSpPr>
        <p:spPr>
          <a:xfrm>
            <a:off x="1047750" y="2580928"/>
            <a:ext cx="1036389" cy="339725"/>
          </a:xfrm>
          <a:prstGeom prst="rect">
            <a:avLst/>
          </a:prstGeom>
          <a:noFill/>
          <a:ln/>
        </p:spPr>
        <p:txBody>
          <a:bodyPr wrap="square" lIns="25400" tIns="25400" rIns="25400" bIns="25400" rtlCol="0" anchor="t">
            <a:normAutofit/>
          </a:bodyPr>
          <a:lstStyle/>
          <a:p>
            <a:pPr algn="l" indent="0" marL="0">
              <a:buNone/>
            </a:pPr>
            <a:r>
              <a:rPr lang="en-US" sz="1800" dirty="0">
                <a:solidFill>
                  <a:srgbClr val="5FB4D0"/>
                </a:solidFill>
                <a:latin typeface="Courier New" pitchFamily="34" charset="0"/>
                <a:ea typeface="Courier New" pitchFamily="34" charset="-122"/>
                <a:cs typeface="Courier New" pitchFamily="34" charset="-120"/>
              </a:rPr>
              <a:t>06 / 06</a:t>
            </a:r>
            <a:endParaRPr lang="en-US" sz="1800" dirty="0"/>
          </a:p>
        </p:txBody>
      </p:sp>
      <p:sp>
        <p:nvSpPr>
          <p:cNvPr id="3" name="Shape 1"/>
          <p:cNvSpPr/>
          <p:nvPr/>
        </p:nvSpPr>
        <p:spPr>
          <a:xfrm>
            <a:off x="2160240" y="2591346"/>
            <a:ext cx="1292324" cy="280789"/>
          </a:xfrm>
          <a:prstGeom prst="roundRect">
            <a:avLst>
              <a:gd name="adj" fmla="val 20353"/>
            </a:avLst>
          </a:prstGeom>
          <a:solidFill>
            <a:srgbClr val="61C554"/>
          </a:solidFill>
          <a:ln/>
        </p:spPr>
      </p:sp>
      <p:sp>
        <p:nvSpPr>
          <p:cNvPr id="4" name="Text 2"/>
          <p:cNvSpPr/>
          <p:nvPr/>
        </p:nvSpPr>
        <p:spPr>
          <a:xfrm>
            <a:off x="2293590" y="2648496"/>
            <a:ext cx="1101824" cy="204589"/>
          </a:xfrm>
          <a:prstGeom prst="rect">
            <a:avLst/>
          </a:prstGeom>
          <a:noFill/>
          <a:ln/>
        </p:spPr>
        <p:txBody>
          <a:bodyPr wrap="square" lIns="25400" tIns="25400" rIns="25400" bIns="25400" rtlCol="0" anchor="t">
            <a:normAutofit/>
          </a:bodyPr>
          <a:lstStyle/>
          <a:p>
            <a:pPr algn="l" indent="0" marL="0">
              <a:buNone/>
            </a:pPr>
            <a:r>
              <a:rPr lang="en-US" sz="1125" b="1" spc="158" kern="0" dirty="0">
                <a:solidFill>
                  <a:srgbClr val="0E1114"/>
                </a:solidFill>
                <a:latin typeface="Arial" pitchFamily="34" charset="0"/>
                <a:ea typeface="Arial" pitchFamily="34" charset="-122"/>
                <a:cs typeface="Arial" pitchFamily="34" charset="-120"/>
              </a:rPr>
              <a:t>THE FINALE</a:t>
            </a:r>
            <a:endParaRPr lang="en-US" sz="1125" dirty="0"/>
          </a:p>
        </p:txBody>
      </p:sp>
      <p:sp>
        <p:nvSpPr>
          <p:cNvPr id="5" name="Text 3"/>
          <p:cNvSpPr/>
          <p:nvPr/>
        </p:nvSpPr>
        <p:spPr>
          <a:xfrm>
            <a:off x="1047750" y="3130103"/>
            <a:ext cx="2163304" cy="1562100"/>
          </a:xfrm>
          <a:prstGeom prst="rect">
            <a:avLst/>
          </a:prstGeom>
          <a:noFill/>
          <a:ln/>
        </p:spPr>
        <p:txBody>
          <a:bodyPr wrap="square" lIns="25400" tIns="25400" rIns="25400" bIns="25400" rtlCol="0" anchor="t">
            <a:normAutofit/>
          </a:bodyPr>
          <a:lstStyle/>
          <a:p>
            <a:pPr algn="l" indent="0" marL="0">
              <a:lnSpc>
                <a:spcPct val="80000"/>
              </a:lnSpc>
              <a:buNone/>
            </a:pPr>
            <a:r>
              <a:rPr lang="en-US" sz="15000" b="1" spc="-600" kern="0" dirty="0">
                <a:solidFill>
                  <a:srgbClr val="61C554"/>
                </a:solidFill>
                <a:latin typeface="Arial" pitchFamily="34" charset="0"/>
                <a:ea typeface="Arial" pitchFamily="34" charset="-122"/>
                <a:cs typeface="Arial" pitchFamily="34" charset="-120"/>
              </a:rPr>
              <a:t>$0</a:t>
            </a:r>
            <a:endParaRPr lang="en-US" sz="15000" dirty="0"/>
          </a:p>
        </p:txBody>
      </p:sp>
      <p:sp>
        <p:nvSpPr>
          <p:cNvPr id="6" name="Text 4"/>
          <p:cNvSpPr/>
          <p:nvPr/>
        </p:nvSpPr>
        <p:spPr>
          <a:xfrm>
            <a:off x="1047750" y="4787429"/>
            <a:ext cx="9320213" cy="1104950"/>
          </a:xfrm>
          <a:prstGeom prst="rect">
            <a:avLst/>
          </a:prstGeom>
          <a:noFill/>
          <a:ln/>
        </p:spPr>
        <p:txBody>
          <a:bodyPr wrap="square" lIns="25400" tIns="25400" rIns="25400" bIns="25400" rtlCol="0" anchor="t">
            <a:normAutofit/>
          </a:bodyPr>
          <a:lstStyle/>
          <a:p>
            <a:pPr algn="l" indent="0" marL="0">
              <a:lnSpc>
                <a:spcPct val="100000"/>
              </a:lnSpc>
              <a:buNone/>
            </a:pPr>
            <a:r>
              <a:rPr lang="en-US" sz="4200" b="1" spc="-126" kern="0" dirty="0">
                <a:solidFill>
                  <a:srgbClr val="FFFFFF"/>
                </a:solidFill>
                <a:latin typeface="Arial" pitchFamily="34" charset="0"/>
                <a:ea typeface="Arial" pitchFamily="34" charset="-122"/>
                <a:cs typeface="Arial" pitchFamily="34" charset="-120"/>
              </a:rPr>
              <a:t>A real coding task, for nothing</a:t>
            </a:r>
            <a:endParaRPr lang="en-US" sz="4200" dirty="0"/>
          </a:p>
        </p:txBody>
      </p:sp>
      <p:sp>
        <p:nvSpPr>
          <p:cNvPr id="7" name="Text 5"/>
          <p:cNvSpPr/>
          <p:nvPr/>
        </p:nvSpPr>
        <p:spPr>
          <a:xfrm>
            <a:off x="1047750" y="5987603"/>
            <a:ext cx="9953625" cy="387350"/>
          </a:xfrm>
          <a:prstGeom prst="rect">
            <a:avLst/>
          </a:prstGeom>
          <a:noFill/>
          <a:ln/>
        </p:spPr>
        <p:txBody>
          <a:bodyPr wrap="square" lIns="25400" tIns="25400" rIns="25400" bIns="25400" rtlCol="0" anchor="t">
            <a:normAutofit/>
          </a:bodyPr>
          <a:lstStyle/>
          <a:p>
            <a:pPr algn="l" indent="0" marL="0">
              <a:buNone/>
            </a:pPr>
            <a:r>
              <a:rPr lang="en-US" sz="2100" dirty="0">
                <a:solidFill>
                  <a:srgbClr val="4FB0CE"/>
                </a:solidFill>
                <a:latin typeface="Courier New" pitchFamily="34" charset="0"/>
                <a:ea typeface="Courier New" pitchFamily="34" charset="-122"/>
                <a:cs typeface="Courier New" pitchFamily="34" charset="-120"/>
              </a:rPr>
              <a:t>openrouter/free</a:t>
            </a:r>
            <a:endParaRPr lang="en-US" sz="2100" dirty="0"/>
          </a:p>
        </p:txBody>
      </p:sp>
      <p:sp>
        <p:nvSpPr>
          <p:cNvPr id="8" name="Text 6"/>
          <p:cNvSpPr/>
          <p:nvPr/>
        </p:nvSpPr>
        <p:spPr>
          <a:xfrm>
            <a:off x="1047750" y="6546329"/>
            <a:ext cx="6278880" cy="1197843"/>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AEB5BB"/>
                </a:solidFill>
                <a:latin typeface="Arial" pitchFamily="34" charset="0"/>
                <a:ea typeface="Arial" pitchFamily="34" charset="-122"/>
                <a:cs typeface="Arial" pitchFamily="34" charset="-120"/>
              </a:rPr>
              <a:t>Same idea as auto, restricted to free models. You trade something — speed, rate limits — but the agent still runs.</a:t>
            </a:r>
            <a:endParaRPr lang="en-US" sz="2100" dirty="0"/>
          </a:p>
        </p:txBody>
      </p:sp>
      <p:sp>
        <p:nvSpPr>
          <p:cNvPr id="9" name="Shape 7"/>
          <p:cNvSpPr/>
          <p:nvPr/>
        </p:nvSpPr>
        <p:spPr>
          <a:xfrm>
            <a:off x="10763250" y="3477865"/>
            <a:ext cx="6477000" cy="3331269"/>
          </a:xfrm>
          <a:prstGeom prst="roundRect">
            <a:avLst>
              <a:gd name="adj" fmla="val 3431"/>
            </a:avLst>
          </a:prstGeom>
          <a:solidFill>
            <a:srgbClr val="15191D"/>
          </a:solidFill>
          <a:ln w="7937">
            <a:solidFill>
              <a:srgbClr val="2A3036"/>
            </a:solidFill>
            <a:prstDash val="solid"/>
          </a:ln>
          <a:effectLst>
            <a:outerShdw sx="100000" sy="100000" kx="0" ky="0" algn="bl" rotWithShape="0" blurRad="666750" dist="285750" dir="5400000">
              <a:srgbClr val="000000">
                <a:alpha val="50000"/>
              </a:srgbClr>
            </a:outerShdw>
          </a:effectLst>
        </p:spPr>
      </p:sp>
      <p:sp>
        <p:nvSpPr>
          <p:cNvPr id="10" name="Shape 8"/>
          <p:cNvSpPr/>
          <p:nvPr/>
        </p:nvSpPr>
        <p:spPr>
          <a:xfrm>
            <a:off x="10771187" y="3485803"/>
            <a:ext cx="6461125" cy="518914"/>
          </a:xfrm>
          <a:prstGeom prst="rect">
            <a:avLst/>
          </a:prstGeom>
          <a:solidFill>
            <a:srgbClr val="1B2025"/>
          </a:solidFill>
          <a:ln/>
        </p:spPr>
      </p:sp>
      <p:sp>
        <p:nvSpPr>
          <p:cNvPr id="11" name="Shape 9"/>
          <p:cNvSpPr/>
          <p:nvPr/>
        </p:nvSpPr>
        <p:spPr>
          <a:xfrm>
            <a:off x="10771187" y="3996779"/>
            <a:ext cx="6461125" cy="9525"/>
          </a:xfrm>
          <a:prstGeom prst="rect">
            <a:avLst/>
          </a:prstGeom>
          <a:solidFill>
            <a:srgbClr val="2A3036"/>
          </a:solidFill>
          <a:ln/>
        </p:spPr>
      </p:sp>
      <p:sp>
        <p:nvSpPr>
          <p:cNvPr id="12" name="Shape 10"/>
          <p:cNvSpPr/>
          <p:nvPr/>
        </p:nvSpPr>
        <p:spPr>
          <a:xfrm>
            <a:off x="10980662" y="3679403"/>
            <a:ext cx="123775" cy="123775"/>
          </a:xfrm>
          <a:prstGeom prst="ellipse">
            <a:avLst/>
          </a:prstGeom>
          <a:solidFill>
            <a:srgbClr val="ED6A5E"/>
          </a:solidFill>
          <a:ln/>
        </p:spPr>
      </p:sp>
      <p:sp>
        <p:nvSpPr>
          <p:cNvPr id="13" name="Shape 11"/>
          <p:cNvSpPr/>
          <p:nvPr/>
        </p:nvSpPr>
        <p:spPr>
          <a:xfrm>
            <a:off x="11190138" y="3679403"/>
            <a:ext cx="123775" cy="123775"/>
          </a:xfrm>
          <a:prstGeom prst="ellipse">
            <a:avLst/>
          </a:prstGeom>
          <a:solidFill>
            <a:srgbClr val="F4BF4F"/>
          </a:solidFill>
          <a:ln/>
        </p:spPr>
      </p:sp>
      <p:sp>
        <p:nvSpPr>
          <p:cNvPr id="14" name="Shape 12"/>
          <p:cNvSpPr/>
          <p:nvPr/>
        </p:nvSpPr>
        <p:spPr>
          <a:xfrm>
            <a:off x="11399613" y="3679403"/>
            <a:ext cx="123775" cy="123775"/>
          </a:xfrm>
          <a:prstGeom prst="ellipse">
            <a:avLst/>
          </a:prstGeom>
          <a:solidFill>
            <a:srgbClr val="61C554"/>
          </a:solidFill>
          <a:ln/>
        </p:spPr>
      </p:sp>
      <p:sp>
        <p:nvSpPr>
          <p:cNvPr id="15" name="Text 13"/>
          <p:cNvSpPr/>
          <p:nvPr/>
        </p:nvSpPr>
        <p:spPr>
          <a:xfrm>
            <a:off x="11723315" y="3638104"/>
            <a:ext cx="350540" cy="244475"/>
          </a:xfrm>
          <a:prstGeom prst="rect">
            <a:avLst/>
          </a:prstGeom>
          <a:noFill/>
          <a:ln/>
        </p:spPr>
        <p:txBody>
          <a:bodyPr wrap="square" lIns="25400" tIns="25400" rIns="25400" bIns="25400" rtlCol="0" anchor="t">
            <a:normAutofit/>
          </a:bodyPr>
          <a:lstStyle/>
          <a:p>
            <a:pPr algn="l" indent="0" marL="0">
              <a:buNone/>
            </a:pPr>
            <a:r>
              <a:rPr lang="en-US" sz="1200" dirty="0">
                <a:solidFill>
                  <a:srgbClr val="7E868C"/>
                </a:solidFill>
                <a:latin typeface="Courier New" pitchFamily="34" charset="0"/>
                <a:ea typeface="Courier New" pitchFamily="34" charset="-122"/>
                <a:cs typeface="Courier New" pitchFamily="34" charset="-120"/>
              </a:rPr>
              <a:t>zsh</a:t>
            </a:r>
            <a:endParaRPr lang="en-US" sz="1200" dirty="0"/>
          </a:p>
        </p:txBody>
      </p:sp>
      <p:sp>
        <p:nvSpPr>
          <p:cNvPr id="16" name="Text 14"/>
          <p:cNvSpPr/>
          <p:nvPr/>
        </p:nvSpPr>
        <p:spPr>
          <a:xfrm>
            <a:off x="11095012" y="4328542"/>
            <a:ext cx="5987878" cy="508645"/>
          </a:xfrm>
          <a:prstGeom prst="rect">
            <a:avLst/>
          </a:prstGeom>
          <a:noFill/>
          <a:ln/>
        </p:spPr>
        <p:txBody>
          <a:bodyPr wrap="square" lIns="25400" tIns="25400" rIns="25400" bIns="25400" rtlCol="0" anchor="t">
            <a:normAutofit/>
          </a:bodyPr>
          <a:lstStyle/>
          <a:p>
            <a:pPr algn="l" indent="0" marL="0">
              <a:lnSpc>
                <a:spcPct val="190000"/>
              </a:lnSpc>
              <a:buNone/>
            </a:pPr>
            <a:r>
              <a:rPr lang="en-US" sz="1950" dirty="0">
                <a:solidFill>
                  <a:srgbClr val="4FB0CE"/>
                </a:solidFill>
                <a:latin typeface="Courier New" pitchFamily="34" charset="0"/>
                <a:ea typeface="Courier New" pitchFamily="34" charset="-122"/>
                <a:cs typeface="Courier New" pitchFamily="34" charset="-120"/>
              </a:rPr>
              <a:t xml:space="preserve">❯ </a:t>
            </a:r>
            <a:pPr algn="l" indent="0" marL="0">
              <a:lnSpc>
                <a:spcPct val="190000"/>
              </a:lnSpc>
              <a:buNone/>
            </a:pPr>
            <a:r>
              <a:rPr lang="en-US" sz="1950" dirty="0">
                <a:solidFill>
                  <a:srgbClr val="E8ECEF"/>
                </a:solidFill>
                <a:latin typeface="Courier New" pitchFamily="34" charset="0"/>
                <a:ea typeface="Courier New" pitchFamily="34" charset="-122"/>
                <a:cs typeface="Courier New" pitchFamily="34" charset="-120"/>
              </a:rPr>
              <a:t>orclaude openrouter/free</a:t>
            </a:r>
            <a:endParaRPr lang="en-US" sz="1950" dirty="0"/>
          </a:p>
        </p:txBody>
      </p:sp>
      <p:sp>
        <p:nvSpPr>
          <p:cNvPr id="17" name="Text 15"/>
          <p:cNvSpPr/>
          <p:nvPr/>
        </p:nvSpPr>
        <p:spPr>
          <a:xfrm>
            <a:off x="11095012" y="4989587"/>
            <a:ext cx="5987878" cy="508645"/>
          </a:xfrm>
          <a:prstGeom prst="rect">
            <a:avLst/>
          </a:prstGeom>
          <a:noFill/>
          <a:ln/>
        </p:spPr>
        <p:txBody>
          <a:bodyPr wrap="square" lIns="25400" tIns="25400" rIns="25400" bIns="25400" rtlCol="0" anchor="t">
            <a:normAutofit/>
          </a:bodyPr>
          <a:lstStyle/>
          <a:p>
            <a:pPr algn="l" indent="0" marL="0">
              <a:lnSpc>
                <a:spcPct val="190000"/>
              </a:lnSpc>
              <a:buNone/>
            </a:pPr>
            <a:r>
              <a:rPr lang="en-US" sz="1950" dirty="0">
                <a:solidFill>
                  <a:srgbClr val="7E868C"/>
                </a:solidFill>
                <a:latin typeface="Courier New" pitchFamily="34" charset="0"/>
                <a:ea typeface="Courier New" pitchFamily="34" charset="-122"/>
                <a:cs typeface="Courier New" pitchFamily="34" charset="-120"/>
              </a:rPr>
              <a:t>model openrouter/free</a:t>
            </a:r>
            <a:endParaRPr lang="en-US" sz="1950" dirty="0"/>
          </a:p>
        </p:txBody>
      </p:sp>
      <p:sp>
        <p:nvSpPr>
          <p:cNvPr id="18" name="Text 16"/>
          <p:cNvSpPr/>
          <p:nvPr/>
        </p:nvSpPr>
        <p:spPr>
          <a:xfrm>
            <a:off x="11095012" y="5460132"/>
            <a:ext cx="5987878" cy="508645"/>
          </a:xfrm>
          <a:prstGeom prst="rect">
            <a:avLst/>
          </a:prstGeom>
          <a:noFill/>
          <a:ln/>
        </p:spPr>
        <p:txBody>
          <a:bodyPr wrap="square" lIns="25400" tIns="25400" rIns="25400" bIns="25400" rtlCol="0" anchor="t">
            <a:normAutofit/>
          </a:bodyPr>
          <a:lstStyle/>
          <a:p>
            <a:pPr algn="l" indent="0" marL="0">
              <a:lnSpc>
                <a:spcPct val="190000"/>
              </a:lnSpc>
              <a:buNone/>
            </a:pPr>
            <a:r>
              <a:rPr lang="en-US" sz="1950" dirty="0">
                <a:solidFill>
                  <a:srgbClr val="61C554"/>
                </a:solidFill>
                <a:latin typeface="Courier New" pitchFamily="34" charset="0"/>
                <a:ea typeface="Courier New" pitchFamily="34" charset="-122"/>
                <a:cs typeface="Courier New" pitchFamily="34" charset="-120"/>
              </a:rPr>
              <a:t>cost $0.00</a:t>
            </a:r>
            <a:endParaRPr lang="en-US" sz="1950" dirty="0"/>
          </a:p>
        </p:txBody>
      </p:sp>
      <p:sp>
        <p:nvSpPr>
          <p:cNvPr id="19" name="Text 17"/>
          <p:cNvSpPr/>
          <p:nvPr/>
        </p:nvSpPr>
        <p:spPr>
          <a:xfrm>
            <a:off x="11095012" y="6078264"/>
            <a:ext cx="225400" cy="363537"/>
          </a:xfrm>
          <a:prstGeom prst="rect">
            <a:avLst/>
          </a:prstGeom>
          <a:noFill/>
          <a:ln/>
        </p:spPr>
        <p:txBody>
          <a:bodyPr wrap="square" lIns="25400" tIns="25400" rIns="25400" bIns="25400" rtlCol="0" anchor="t">
            <a:normAutofit/>
          </a:bodyPr>
          <a:lstStyle/>
          <a:p>
            <a:pPr algn="l" indent="0" marL="0">
              <a:lnSpc>
                <a:spcPct val="190000"/>
              </a:lnSpc>
              <a:buNone/>
            </a:pPr>
            <a:r>
              <a:rPr lang="en-US" sz="1950" dirty="0">
                <a:solidFill>
                  <a:srgbClr val="4FB0CE"/>
                </a:solidFill>
                <a:latin typeface="Courier New" pitchFamily="34" charset="0"/>
                <a:ea typeface="Courier New" pitchFamily="34" charset="-122"/>
                <a:cs typeface="Courier New" pitchFamily="34" charset="-120"/>
              </a:rPr>
              <a:t>❯</a:t>
            </a:r>
            <a:endParaRPr lang="en-US" sz="1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61A"/>
        </a:solidFill>
      </p:bgPr>
    </p:bg>
    <p:spTree>
      <p:nvGrpSpPr>
        <p:cNvPr id="1" name=""/>
        <p:cNvGrpSpPr/>
        <p:nvPr/>
      </p:nvGrpSpPr>
      <p:grpSpPr>
        <a:xfrm>
          <a:off x="0" y="0"/>
          <a:ext cx="0" cy="0"/>
          <a:chOff x="0" y="0"/>
          <a:chExt cx="0" cy="0"/>
        </a:xfrm>
      </p:grpSpPr>
      <p:sp>
        <p:nvSpPr>
          <p:cNvPr id="2" name="Shape 0"/>
          <p:cNvSpPr/>
          <p:nvPr/>
        </p:nvSpPr>
        <p:spPr>
          <a:xfrm>
            <a:off x="952500" y="2530946"/>
            <a:ext cx="323825" cy="28525"/>
          </a:xfrm>
          <a:prstGeom prst="rect">
            <a:avLst/>
          </a:prstGeom>
          <a:solidFill>
            <a:srgbClr val="4FB0CE"/>
          </a:solidFill>
          <a:ln/>
        </p:spPr>
      </p:sp>
      <p:sp>
        <p:nvSpPr>
          <p:cNvPr id="3" name="Text 1"/>
          <p:cNvSpPr/>
          <p:nvPr/>
        </p:nvSpPr>
        <p:spPr>
          <a:xfrm>
            <a:off x="1409650" y="2382490"/>
            <a:ext cx="4554848" cy="363537"/>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6AAEC3"/>
                </a:solidFill>
                <a:latin typeface="Courier New" pitchFamily="34" charset="0"/>
                <a:ea typeface="Courier New" pitchFamily="34" charset="-122"/>
                <a:cs typeface="Courier New" pitchFamily="34" charset="-120"/>
              </a:rPr>
              <a:t>ONE MORE ROUTER FLAVOR</a:t>
            </a:r>
            <a:endParaRPr lang="en-US" sz="1950" dirty="0"/>
          </a:p>
        </p:txBody>
      </p:sp>
      <p:sp>
        <p:nvSpPr>
          <p:cNvPr id="4" name="Text 2"/>
          <p:cNvSpPr/>
          <p:nvPr/>
        </p:nvSpPr>
        <p:spPr>
          <a:xfrm>
            <a:off x="952500" y="2917403"/>
            <a:ext cx="8986672" cy="1147614"/>
          </a:xfrm>
          <a:prstGeom prst="rect">
            <a:avLst/>
          </a:prstGeom>
          <a:noFill/>
          <a:ln/>
        </p:spPr>
        <p:txBody>
          <a:bodyPr wrap="square" lIns="25400" tIns="25400" rIns="25400" bIns="25400" rtlCol="0" anchor="t">
            <a:normAutofit/>
          </a:bodyPr>
          <a:lstStyle/>
          <a:p>
            <a:pPr algn="l" indent="0" marL="0">
              <a:lnSpc>
                <a:spcPct val="104000"/>
              </a:lnSpc>
              <a:buNone/>
            </a:pPr>
            <a:r>
              <a:rPr lang="en-US" sz="4200" b="1" spc="-126" kern="0" dirty="0">
                <a:solidFill>
                  <a:srgbClr val="FFFFFF"/>
                </a:solidFill>
                <a:latin typeface="Arial" pitchFamily="34" charset="0"/>
                <a:ea typeface="Arial" pitchFamily="34" charset="-122"/>
                <a:cs typeface="Arial" pitchFamily="34" charset="-120"/>
              </a:rPr>
              <a:t>Always run the newest version</a:t>
            </a:r>
            <a:endParaRPr lang="en-US" sz="4200" dirty="0"/>
          </a:p>
        </p:txBody>
      </p:sp>
      <p:sp>
        <p:nvSpPr>
          <p:cNvPr id="5" name="Text 3"/>
          <p:cNvSpPr/>
          <p:nvPr/>
        </p:nvSpPr>
        <p:spPr>
          <a:xfrm>
            <a:off x="952500" y="4236393"/>
            <a:ext cx="6867525" cy="1717253"/>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AEB5BB"/>
                </a:solidFill>
                <a:latin typeface="Arial" pitchFamily="34" charset="0"/>
                <a:ea typeface="Arial" pitchFamily="34" charset="-122"/>
                <a:cs typeface="Arial" pitchFamily="34" charset="-120"/>
              </a:rPr>
              <a:t xml:space="preserve">The </a:t>
            </a:r>
            <a:pPr algn="l" indent="0" marL="0">
              <a:lnSpc>
                <a:spcPct val="145000"/>
              </a:lnSpc>
              <a:buNone/>
            </a:pPr>
            <a:r>
              <a:rPr lang="en-US" sz="2250" dirty="0">
                <a:solidFill>
                  <a:srgbClr val="E8ECEF"/>
                </a:solidFill>
                <a:latin typeface="Arial" pitchFamily="34" charset="0"/>
                <a:ea typeface="Arial" pitchFamily="34" charset="-122"/>
                <a:cs typeface="Arial" pitchFamily="34" charset="-120"/>
              </a:rPr>
              <a:t xml:space="preserve">latest-model router </a:t>
            </a:r>
            <a:pPr algn="l" indent="0" marL="0">
              <a:lnSpc>
                <a:spcPct val="145000"/>
              </a:lnSpc>
              <a:buNone/>
            </a:pPr>
            <a:r>
              <a:rPr lang="en-US" sz="2250" dirty="0">
                <a:solidFill>
                  <a:srgbClr val="AEB5BB"/>
                </a:solidFill>
                <a:latin typeface="Arial" pitchFamily="34" charset="0"/>
                <a:ea typeface="Arial" pitchFamily="34" charset="-122"/>
                <a:cs typeface="Arial" pitchFamily="34" charset="-120"/>
              </a:rPr>
              <a:t xml:space="preserve">is the opposite of a mystery. You name the family with a </a:t>
            </a:r>
            <a:pPr algn="l" indent="0" marL="0">
              <a:lnSpc>
                <a:spcPct val="145000"/>
              </a:lnSpc>
              <a:buNone/>
            </a:pPr>
            <a:r>
              <a:rPr lang="en-US" sz="2025" dirty="0">
                <a:solidFill>
                  <a:srgbClr val="4FB0CE"/>
                </a:solidFill>
                <a:latin typeface="Courier New" pitchFamily="34" charset="0"/>
                <a:ea typeface="Courier New" pitchFamily="34" charset="-122"/>
                <a:cs typeface="Courier New" pitchFamily="34" charset="-120"/>
              </a:rPr>
              <a:t xml:space="preserve">~ </a:t>
            </a:r>
            <a:pPr algn="l" indent="0" marL="0">
              <a:lnSpc>
                <a:spcPct val="145000"/>
              </a:lnSpc>
              <a:buNone/>
            </a:pPr>
            <a:r>
              <a:rPr lang="en-US" sz="2250" dirty="0">
                <a:solidFill>
                  <a:srgbClr val="AEB5BB"/>
                </a:solidFill>
                <a:latin typeface="Arial" pitchFamily="34" charset="0"/>
                <a:ea typeface="Arial" pitchFamily="34" charset="-122"/>
                <a:cs typeface="Arial" pitchFamily="34" charset="-120"/>
              </a:rPr>
              <a:t>prefix; OpenRouter resolves it to the newest concrete model in that family.</a:t>
            </a:r>
            <a:endParaRPr lang="en-US" sz="2250" dirty="0"/>
          </a:p>
        </p:txBody>
      </p:sp>
      <p:sp>
        <p:nvSpPr>
          <p:cNvPr id="6" name="Text 4"/>
          <p:cNvSpPr/>
          <p:nvPr/>
        </p:nvSpPr>
        <p:spPr>
          <a:xfrm>
            <a:off x="952500" y="6239371"/>
            <a:ext cx="294605" cy="380901"/>
          </a:xfrm>
          <a:prstGeom prst="rect">
            <a:avLst/>
          </a:prstGeom>
          <a:noFill/>
          <a:ln/>
        </p:spPr>
        <p:txBody>
          <a:bodyPr wrap="square" lIns="25400" tIns="25400" rIns="25400" bIns="25400" rtlCol="0" anchor="t">
            <a:normAutofit/>
          </a:bodyPr>
          <a:lstStyle/>
          <a:p>
            <a:pPr algn="l" indent="0" marL="0">
              <a:lnSpc>
                <a:spcPct val="120000"/>
              </a:lnSpc>
              <a:buNone/>
            </a:pPr>
            <a:r>
              <a:rPr lang="en-US" sz="2250" dirty="0">
                <a:solidFill>
                  <a:srgbClr val="4FB0CE"/>
                </a:solidFill>
                <a:latin typeface="Arial" pitchFamily="34" charset="0"/>
                <a:ea typeface="Arial" pitchFamily="34" charset="-122"/>
                <a:cs typeface="Arial" pitchFamily="34" charset="-120"/>
              </a:rPr>
              <a:t>✓</a:t>
            </a:r>
            <a:endParaRPr lang="en-US" sz="2250" dirty="0"/>
          </a:p>
        </p:txBody>
      </p:sp>
      <p:sp>
        <p:nvSpPr>
          <p:cNvPr id="7" name="Text 5"/>
          <p:cNvSpPr/>
          <p:nvPr/>
        </p:nvSpPr>
        <p:spPr>
          <a:xfrm>
            <a:off x="1342306" y="6239371"/>
            <a:ext cx="8585173" cy="758180"/>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CFD4D8"/>
                </a:solidFill>
                <a:latin typeface="Arial" pitchFamily="34" charset="0"/>
                <a:ea typeface="Arial" pitchFamily="34" charset="-122"/>
                <a:cs typeface="Arial" pitchFamily="34" charset="-120"/>
              </a:rPr>
              <a:t>Never pin a stale version — and never edit a slug when a new release drops.</a:t>
            </a:r>
            <a:endParaRPr lang="en-US" sz="2025" dirty="0"/>
          </a:p>
        </p:txBody>
      </p:sp>
      <p:sp>
        <p:nvSpPr>
          <p:cNvPr id="8" name="Text 6"/>
          <p:cNvSpPr/>
          <p:nvPr/>
        </p:nvSpPr>
        <p:spPr>
          <a:xfrm>
            <a:off x="952500" y="7168926"/>
            <a:ext cx="294605" cy="380901"/>
          </a:xfrm>
          <a:prstGeom prst="rect">
            <a:avLst/>
          </a:prstGeom>
          <a:noFill/>
          <a:ln/>
        </p:spPr>
        <p:txBody>
          <a:bodyPr wrap="square" lIns="25400" tIns="25400" rIns="25400" bIns="25400" rtlCol="0" anchor="t">
            <a:normAutofit/>
          </a:bodyPr>
          <a:lstStyle/>
          <a:p>
            <a:pPr algn="l" indent="0" marL="0">
              <a:lnSpc>
                <a:spcPct val="120000"/>
              </a:lnSpc>
              <a:buNone/>
            </a:pPr>
            <a:r>
              <a:rPr lang="en-US" sz="2250" dirty="0">
                <a:solidFill>
                  <a:srgbClr val="4FB0CE"/>
                </a:solidFill>
                <a:latin typeface="Arial" pitchFamily="34" charset="0"/>
                <a:ea typeface="Arial" pitchFamily="34" charset="-122"/>
                <a:cs typeface="Arial" pitchFamily="34" charset="-120"/>
              </a:rPr>
              <a:t>✓</a:t>
            </a:r>
            <a:endParaRPr lang="en-US" sz="2250" dirty="0"/>
          </a:p>
        </p:txBody>
      </p:sp>
      <p:sp>
        <p:nvSpPr>
          <p:cNvPr id="9" name="Text 7"/>
          <p:cNvSpPr/>
          <p:nvPr/>
        </p:nvSpPr>
        <p:spPr>
          <a:xfrm>
            <a:off x="1342306" y="7168926"/>
            <a:ext cx="8585173" cy="773683"/>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CFD4D8"/>
                </a:solidFill>
                <a:latin typeface="Arial" pitchFamily="34" charset="0"/>
                <a:ea typeface="Arial" pitchFamily="34" charset="-122"/>
                <a:cs typeface="Arial" pitchFamily="34" charset="-120"/>
              </a:rPr>
              <a:t xml:space="preserve">Unlike </a:t>
            </a:r>
            <a:pPr algn="l" indent="0" marL="0">
              <a:lnSpc>
                <a:spcPct val="140000"/>
              </a:lnSpc>
              <a:buNone/>
            </a:pPr>
            <a:r>
              <a:rPr lang="en-US" sz="1800" dirty="0">
                <a:solidFill>
                  <a:srgbClr val="9AA1A7"/>
                </a:solidFill>
                <a:latin typeface="Courier New" pitchFamily="34" charset="0"/>
                <a:ea typeface="Courier New" pitchFamily="34" charset="-122"/>
                <a:cs typeface="Courier New" pitchFamily="34" charset="-120"/>
              </a:rPr>
              <a:t xml:space="preserve">auto </a:t>
            </a:r>
            <a:pPr algn="l" indent="0" marL="0">
              <a:lnSpc>
                <a:spcPct val="140000"/>
              </a:lnSpc>
              <a:buNone/>
            </a:pPr>
            <a:r>
              <a:rPr lang="en-US" sz="2025" dirty="0">
                <a:solidFill>
                  <a:srgbClr val="CFD4D8"/>
                </a:solidFill>
                <a:latin typeface="Arial" pitchFamily="34" charset="0"/>
                <a:ea typeface="Arial" pitchFamily="34" charset="-122"/>
                <a:cs typeface="Arial" pitchFamily="34" charset="-120"/>
              </a:rPr>
              <a:t xml:space="preserve">/ </a:t>
            </a:r>
            <a:pPr algn="l" indent="0" marL="0">
              <a:lnSpc>
                <a:spcPct val="140000"/>
              </a:lnSpc>
              <a:buNone/>
            </a:pPr>
            <a:r>
              <a:rPr lang="en-US" sz="1800" dirty="0">
                <a:solidFill>
                  <a:srgbClr val="9AA1A7"/>
                </a:solidFill>
                <a:latin typeface="Courier New" pitchFamily="34" charset="0"/>
                <a:ea typeface="Courier New" pitchFamily="34" charset="-122"/>
                <a:cs typeface="Courier New" pitchFamily="34" charset="-120"/>
              </a:rPr>
              <a:t>free</a:t>
            </a:r>
            <a:pPr algn="l" indent="0" marL="0">
              <a:lnSpc>
                <a:spcPct val="140000"/>
              </a:lnSpc>
              <a:buNone/>
            </a:pPr>
            <a:r>
              <a:rPr lang="en-US" sz="2025" dirty="0">
                <a:solidFill>
                  <a:srgbClr val="CFD4D8"/>
                </a:solidFill>
                <a:latin typeface="Arial" pitchFamily="34" charset="0"/>
                <a:ea typeface="Arial" pitchFamily="34" charset="-122"/>
                <a:cs typeface="Arial" pitchFamily="34" charset="-120"/>
              </a:rPr>
              <a:t xml:space="preserve">, it’s </a:t>
            </a:r>
            <a:pPr algn="l" indent="0" marL="0">
              <a:lnSpc>
                <a:spcPct val="140000"/>
              </a:lnSpc>
              <a:buNone/>
            </a:pPr>
            <a:r>
              <a:rPr lang="en-US" sz="2025" dirty="0">
                <a:solidFill>
                  <a:srgbClr val="FFFFFF"/>
                </a:solidFill>
                <a:latin typeface="Arial" pitchFamily="34" charset="0"/>
                <a:ea typeface="Arial" pitchFamily="34" charset="-122"/>
                <a:cs typeface="Arial" pitchFamily="34" charset="-120"/>
              </a:rPr>
              <a:t xml:space="preserve">predictable </a:t>
            </a:r>
            <a:pPr algn="l" indent="0" marL="0">
              <a:lnSpc>
                <a:spcPct val="140000"/>
              </a:lnSpc>
              <a:buNone/>
            </a:pPr>
            <a:r>
              <a:rPr lang="en-US" sz="2025" dirty="0">
                <a:solidFill>
                  <a:srgbClr val="CFD4D8"/>
                </a:solidFill>
                <a:latin typeface="Arial" pitchFamily="34" charset="0"/>
                <a:ea typeface="Arial" pitchFamily="34" charset="-122"/>
                <a:cs typeface="Arial" pitchFamily="34" charset="-120"/>
              </a:rPr>
              <a:t>— the response names the exact version it resolved to.</a:t>
            </a:r>
            <a:endParaRPr lang="en-US" sz="2025" dirty="0"/>
          </a:p>
        </p:txBody>
      </p:sp>
      <p:sp>
        <p:nvSpPr>
          <p:cNvPr id="10" name="Shape 8"/>
          <p:cNvSpPr/>
          <p:nvPr/>
        </p:nvSpPr>
        <p:spPr>
          <a:xfrm>
            <a:off x="10287000" y="3592463"/>
            <a:ext cx="7048500" cy="3102074"/>
          </a:xfrm>
          <a:prstGeom prst="roundRect">
            <a:avLst>
              <a:gd name="adj" fmla="val 3685"/>
            </a:avLst>
          </a:prstGeom>
          <a:solidFill>
            <a:srgbClr val="15191D"/>
          </a:solidFill>
          <a:ln w="7937">
            <a:solidFill>
              <a:srgbClr val="2A3036"/>
            </a:solidFill>
            <a:prstDash val="solid"/>
          </a:ln>
          <a:effectLst>
            <a:outerShdw sx="100000" sy="100000" kx="0" ky="0" algn="bl" rotWithShape="0" blurRad="666750" dist="285750" dir="5400000">
              <a:srgbClr val="000000">
                <a:alpha val="50000"/>
              </a:srgbClr>
            </a:outerShdw>
          </a:effectLst>
        </p:spPr>
      </p:sp>
      <p:sp>
        <p:nvSpPr>
          <p:cNvPr id="11" name="Shape 9"/>
          <p:cNvSpPr/>
          <p:nvPr/>
        </p:nvSpPr>
        <p:spPr>
          <a:xfrm>
            <a:off x="10294937" y="3600400"/>
            <a:ext cx="7032625" cy="518914"/>
          </a:xfrm>
          <a:prstGeom prst="rect">
            <a:avLst/>
          </a:prstGeom>
          <a:solidFill>
            <a:srgbClr val="1B2025"/>
          </a:solidFill>
          <a:ln/>
        </p:spPr>
      </p:sp>
      <p:sp>
        <p:nvSpPr>
          <p:cNvPr id="12" name="Shape 10"/>
          <p:cNvSpPr/>
          <p:nvPr/>
        </p:nvSpPr>
        <p:spPr>
          <a:xfrm>
            <a:off x="10294937" y="4111377"/>
            <a:ext cx="7032625" cy="9525"/>
          </a:xfrm>
          <a:prstGeom prst="rect">
            <a:avLst/>
          </a:prstGeom>
          <a:solidFill>
            <a:srgbClr val="2A3036"/>
          </a:solidFill>
          <a:ln/>
        </p:spPr>
      </p:sp>
      <p:sp>
        <p:nvSpPr>
          <p:cNvPr id="13" name="Shape 11"/>
          <p:cNvSpPr/>
          <p:nvPr/>
        </p:nvSpPr>
        <p:spPr>
          <a:xfrm>
            <a:off x="10504412" y="3794001"/>
            <a:ext cx="123775" cy="123775"/>
          </a:xfrm>
          <a:prstGeom prst="ellipse">
            <a:avLst/>
          </a:prstGeom>
          <a:solidFill>
            <a:srgbClr val="ED6A5E"/>
          </a:solidFill>
          <a:ln/>
        </p:spPr>
      </p:sp>
      <p:sp>
        <p:nvSpPr>
          <p:cNvPr id="14" name="Shape 12"/>
          <p:cNvSpPr/>
          <p:nvPr/>
        </p:nvSpPr>
        <p:spPr>
          <a:xfrm>
            <a:off x="10713888" y="3794001"/>
            <a:ext cx="123775" cy="123775"/>
          </a:xfrm>
          <a:prstGeom prst="ellipse">
            <a:avLst/>
          </a:prstGeom>
          <a:solidFill>
            <a:srgbClr val="F4BF4F"/>
          </a:solidFill>
          <a:ln/>
        </p:spPr>
      </p:sp>
      <p:sp>
        <p:nvSpPr>
          <p:cNvPr id="15" name="Shape 13"/>
          <p:cNvSpPr/>
          <p:nvPr/>
        </p:nvSpPr>
        <p:spPr>
          <a:xfrm>
            <a:off x="10923363" y="3794001"/>
            <a:ext cx="123775" cy="123775"/>
          </a:xfrm>
          <a:prstGeom prst="ellipse">
            <a:avLst/>
          </a:prstGeom>
          <a:solidFill>
            <a:srgbClr val="61C554"/>
          </a:solidFill>
          <a:ln/>
        </p:spPr>
      </p:sp>
      <p:sp>
        <p:nvSpPr>
          <p:cNvPr id="16" name="Text 14"/>
          <p:cNvSpPr/>
          <p:nvPr/>
        </p:nvSpPr>
        <p:spPr>
          <a:xfrm>
            <a:off x="11247065" y="3752701"/>
            <a:ext cx="350540" cy="244475"/>
          </a:xfrm>
          <a:prstGeom prst="rect">
            <a:avLst/>
          </a:prstGeom>
          <a:noFill/>
          <a:ln/>
        </p:spPr>
        <p:txBody>
          <a:bodyPr wrap="square" lIns="25400" tIns="25400" rIns="25400" bIns="25400" rtlCol="0" anchor="t">
            <a:normAutofit/>
          </a:bodyPr>
          <a:lstStyle/>
          <a:p>
            <a:pPr algn="l" indent="0" marL="0">
              <a:buNone/>
            </a:pPr>
            <a:r>
              <a:rPr lang="en-US" sz="1200" dirty="0">
                <a:solidFill>
                  <a:srgbClr val="7E868C"/>
                </a:solidFill>
                <a:latin typeface="Courier New" pitchFamily="34" charset="0"/>
                <a:ea typeface="Courier New" pitchFamily="34" charset="-122"/>
                <a:cs typeface="Courier New" pitchFamily="34" charset="-120"/>
              </a:rPr>
              <a:t>zsh</a:t>
            </a:r>
            <a:endParaRPr lang="en-US" sz="1200" dirty="0"/>
          </a:p>
        </p:txBody>
      </p:sp>
      <p:sp>
        <p:nvSpPr>
          <p:cNvPr id="17" name="Text 15"/>
          <p:cNvSpPr/>
          <p:nvPr/>
        </p:nvSpPr>
        <p:spPr>
          <a:xfrm>
            <a:off x="10618762" y="4424040"/>
            <a:ext cx="6576523" cy="460896"/>
          </a:xfrm>
          <a:prstGeom prst="rect">
            <a:avLst/>
          </a:prstGeom>
          <a:noFill/>
          <a:ln/>
        </p:spPr>
        <p:txBody>
          <a:bodyPr wrap="square" lIns="25400" tIns="25400" rIns="25400" bIns="25400" rtlCol="0" anchor="t">
            <a:normAutofit/>
          </a:bodyPr>
          <a:lstStyle/>
          <a:p>
            <a:pPr algn="l" indent="0" marL="0">
              <a:lnSpc>
                <a:spcPct val="185000"/>
              </a:lnSpc>
              <a:buNone/>
            </a:pPr>
            <a:r>
              <a:rPr lang="en-US" sz="1800" dirty="0">
                <a:solidFill>
                  <a:srgbClr val="4FB0CE"/>
                </a:solidFill>
                <a:latin typeface="Courier New" pitchFamily="34" charset="0"/>
                <a:ea typeface="Courier New" pitchFamily="34" charset="-122"/>
                <a:cs typeface="Courier New" pitchFamily="34" charset="-120"/>
              </a:rPr>
              <a:t xml:space="preserve">❯ </a:t>
            </a:r>
            <a:pPr algn="l" indent="0" marL="0">
              <a:lnSpc>
                <a:spcPct val="185000"/>
              </a:lnSpc>
              <a:buNone/>
            </a:pPr>
            <a:r>
              <a:rPr lang="en-US" sz="1800" dirty="0">
                <a:solidFill>
                  <a:srgbClr val="E8ECEF"/>
                </a:solidFill>
                <a:latin typeface="Courier New" pitchFamily="34" charset="0"/>
                <a:ea typeface="Courier New" pitchFamily="34" charset="-122"/>
                <a:cs typeface="Courier New" pitchFamily="34" charset="-120"/>
              </a:rPr>
              <a:t xml:space="preserve">orclaude </a:t>
            </a:r>
            <a:pPr algn="l" indent="0" marL="0">
              <a:lnSpc>
                <a:spcPct val="185000"/>
              </a:lnSpc>
              <a:buNone/>
            </a:pPr>
            <a:r>
              <a:rPr lang="en-US" sz="1800" dirty="0">
                <a:solidFill>
                  <a:srgbClr val="C98A6A"/>
                </a:solidFill>
                <a:latin typeface="Courier New" pitchFamily="34" charset="0"/>
                <a:ea typeface="Courier New" pitchFamily="34" charset="-122"/>
                <a:cs typeface="Courier New" pitchFamily="34" charset="-120"/>
              </a:rPr>
              <a:t>~</a:t>
            </a:r>
            <a:pPr algn="l" indent="0" marL="0">
              <a:lnSpc>
                <a:spcPct val="185000"/>
              </a:lnSpc>
              <a:buNone/>
            </a:pPr>
            <a:r>
              <a:rPr lang="en-US" sz="1800" dirty="0">
                <a:solidFill>
                  <a:srgbClr val="E8ECEF"/>
                </a:solidFill>
                <a:latin typeface="Courier New" pitchFamily="34" charset="0"/>
                <a:ea typeface="Courier New" pitchFamily="34" charset="-122"/>
                <a:cs typeface="Courier New" pitchFamily="34" charset="-120"/>
              </a:rPr>
              <a:t>anthropic/claude-opus-latest</a:t>
            </a:r>
            <a:endParaRPr lang="en-US" sz="1800" dirty="0"/>
          </a:p>
        </p:txBody>
      </p:sp>
      <p:sp>
        <p:nvSpPr>
          <p:cNvPr id="18" name="Text 16"/>
          <p:cNvSpPr/>
          <p:nvPr/>
        </p:nvSpPr>
        <p:spPr>
          <a:xfrm>
            <a:off x="10618762" y="5037336"/>
            <a:ext cx="6576523" cy="460896"/>
          </a:xfrm>
          <a:prstGeom prst="rect">
            <a:avLst/>
          </a:prstGeom>
          <a:noFill/>
          <a:ln/>
        </p:spPr>
        <p:txBody>
          <a:bodyPr wrap="square" lIns="25400" tIns="25400" rIns="25400" bIns="25400" rtlCol="0" anchor="t">
            <a:normAutofit/>
          </a:bodyPr>
          <a:lstStyle/>
          <a:p>
            <a:pPr algn="l" indent="0" marL="0">
              <a:lnSpc>
                <a:spcPct val="185000"/>
              </a:lnSpc>
              <a:buNone/>
            </a:pPr>
            <a:r>
              <a:rPr lang="en-US" sz="1800" dirty="0">
                <a:solidFill>
                  <a:srgbClr val="7E868C"/>
                </a:solidFill>
                <a:latin typeface="Courier New" pitchFamily="34" charset="0"/>
                <a:ea typeface="Courier New" pitchFamily="34" charset="-122"/>
                <a:cs typeface="Courier New" pitchFamily="34" charset="-120"/>
              </a:rPr>
              <a:t xml:space="preserve">asked </a:t>
            </a:r>
            <a:pPr algn="l" indent="0" marL="0">
              <a:lnSpc>
                <a:spcPct val="185000"/>
              </a:lnSpc>
              <a:buNone/>
            </a:pPr>
            <a:r>
              <a:rPr lang="en-US" sz="1800" dirty="0">
                <a:solidFill>
                  <a:srgbClr val="C98A6A"/>
                </a:solidFill>
                <a:latin typeface="Courier New" pitchFamily="34" charset="0"/>
                <a:ea typeface="Courier New" pitchFamily="34" charset="-122"/>
                <a:cs typeface="Courier New" pitchFamily="34" charset="-120"/>
              </a:rPr>
              <a:t>~</a:t>
            </a:r>
            <a:pPr algn="l" indent="0" marL="0">
              <a:lnSpc>
                <a:spcPct val="185000"/>
              </a:lnSpc>
              <a:buNone/>
            </a:pPr>
            <a:r>
              <a:rPr lang="en-US" sz="1800" dirty="0">
                <a:solidFill>
                  <a:srgbClr val="7E868C"/>
                </a:solidFill>
                <a:latin typeface="Courier New" pitchFamily="34" charset="0"/>
                <a:ea typeface="Courier New" pitchFamily="34" charset="-122"/>
                <a:cs typeface="Courier New" pitchFamily="34" charset="-120"/>
              </a:rPr>
              <a:t>anthropic/claude-opus-latest</a:t>
            </a:r>
            <a:endParaRPr lang="en-US" sz="1800" dirty="0"/>
          </a:p>
        </p:txBody>
      </p:sp>
      <p:sp>
        <p:nvSpPr>
          <p:cNvPr id="19" name="Text 17"/>
          <p:cNvSpPr/>
          <p:nvPr/>
        </p:nvSpPr>
        <p:spPr>
          <a:xfrm>
            <a:off x="10618762" y="5460132"/>
            <a:ext cx="6576523" cy="460896"/>
          </a:xfrm>
          <a:prstGeom prst="rect">
            <a:avLst/>
          </a:prstGeom>
          <a:noFill/>
          <a:ln/>
        </p:spPr>
        <p:txBody>
          <a:bodyPr wrap="square" lIns="25400" tIns="25400" rIns="25400" bIns="25400" rtlCol="0" anchor="t">
            <a:normAutofit/>
          </a:bodyPr>
          <a:lstStyle/>
          <a:p>
            <a:pPr algn="l" indent="0" marL="0">
              <a:lnSpc>
                <a:spcPct val="185000"/>
              </a:lnSpc>
              <a:buNone/>
            </a:pPr>
            <a:r>
              <a:rPr lang="en-US" sz="1800" dirty="0">
                <a:solidFill>
                  <a:srgbClr val="61C554"/>
                </a:solidFill>
                <a:latin typeface="Courier New" pitchFamily="34" charset="0"/>
                <a:ea typeface="Courier New" pitchFamily="34" charset="-122"/>
                <a:cs typeface="Courier New" pitchFamily="34" charset="-120"/>
              </a:rPr>
              <a:t xml:space="preserve">served claude-opus-4.5 </a:t>
            </a:r>
            <a:pPr algn="l" indent="0" marL="0">
              <a:lnSpc>
                <a:spcPct val="185000"/>
              </a:lnSpc>
              <a:buNone/>
            </a:pPr>
            <a:r>
              <a:rPr lang="en-US" sz="1800" dirty="0">
                <a:solidFill>
                  <a:srgbClr val="5C656C"/>
                </a:solidFill>
                <a:latin typeface="Courier New" pitchFamily="34" charset="0"/>
                <a:ea typeface="Courier New" pitchFamily="34" charset="-122"/>
                <a:cs typeface="Courier New" pitchFamily="34" charset="-120"/>
              </a:rPr>
              <a:t>← newest</a:t>
            </a:r>
            <a:endParaRPr lang="en-US" sz="1800" dirty="0"/>
          </a:p>
        </p:txBody>
      </p:sp>
      <p:sp>
        <p:nvSpPr>
          <p:cNvPr id="20" name="Text 18"/>
          <p:cNvSpPr/>
          <p:nvPr/>
        </p:nvSpPr>
        <p:spPr>
          <a:xfrm>
            <a:off x="10618762" y="6014640"/>
            <a:ext cx="213866" cy="339725"/>
          </a:xfrm>
          <a:prstGeom prst="rect">
            <a:avLst/>
          </a:prstGeom>
          <a:noFill/>
          <a:ln/>
        </p:spPr>
        <p:txBody>
          <a:bodyPr wrap="square" lIns="25400" tIns="25400" rIns="25400" bIns="25400" rtlCol="0" anchor="t">
            <a:normAutofit/>
          </a:bodyPr>
          <a:lstStyle/>
          <a:p>
            <a:pPr algn="l" indent="0" marL="0">
              <a:lnSpc>
                <a:spcPct val="185000"/>
              </a:lnSpc>
              <a:buNone/>
            </a:pPr>
            <a:r>
              <a:rPr lang="en-US" sz="1800" dirty="0">
                <a:solidFill>
                  <a:srgbClr val="4FB0CE"/>
                </a:solidFill>
                <a:latin typeface="Courier New" pitchFamily="34" charset="0"/>
                <a:ea typeface="Courier New" pitchFamily="34" charset="-122"/>
                <a:cs typeface="Courier New" pitchFamily="34" charset="-120"/>
              </a:rPr>
              <a:t>❯</a:t>
            </a:r>
            <a:endParaRPr lang="en-US" sz="1800" dirty="0"/>
          </a:p>
        </p:txBody>
      </p:sp>
      <p:sp>
        <p:nvSpPr>
          <p:cNvPr id="21" name="Shape 19"/>
          <p:cNvSpPr/>
          <p:nvPr/>
        </p:nvSpPr>
        <p:spPr>
          <a:xfrm>
            <a:off x="10893598" y="6035353"/>
            <a:ext cx="133325" cy="247551"/>
          </a:xfrm>
          <a:prstGeom prst="rect">
            <a:avLst/>
          </a:prstGeom>
          <a:solidFill>
            <a:srgbClr val="4FB0CE"/>
          </a:solid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114"/>
        </a:solidFill>
      </p:bgPr>
    </p:bg>
    <p:spTree>
      <p:nvGrpSpPr>
        <p:cNvPr id="1" name=""/>
        <p:cNvGrpSpPr/>
        <p:nvPr/>
      </p:nvGrpSpPr>
      <p:grpSpPr>
        <a:xfrm>
          <a:off x="0" y="0"/>
          <a:ext cx="0" cy="0"/>
          <a:chOff x="0" y="0"/>
          <a:chExt cx="0" cy="0"/>
        </a:xfrm>
      </p:grpSpPr>
      <p:sp>
        <p:nvSpPr>
          <p:cNvPr id="2" name="Text 0"/>
          <p:cNvSpPr/>
          <p:nvPr/>
        </p:nvSpPr>
        <p:spPr>
          <a:xfrm>
            <a:off x="14001129" y="571500"/>
            <a:ext cx="3772582" cy="2324100"/>
          </a:xfrm>
          <a:prstGeom prst="rect">
            <a:avLst/>
          </a:prstGeom>
          <a:noFill/>
          <a:ln/>
        </p:spPr>
        <p:txBody>
          <a:bodyPr wrap="square" lIns="25400" tIns="25400" rIns="25400" bIns="25400" rtlCol="0" anchor="t">
            <a:normAutofit/>
          </a:bodyPr>
          <a:lstStyle/>
          <a:p>
            <a:pPr algn="l" indent="0" marL="0">
              <a:lnSpc>
                <a:spcPct val="80000"/>
              </a:lnSpc>
              <a:buNone/>
            </a:pPr>
            <a:r>
              <a:rPr lang="en-US" sz="22500" b="1" dirty="0">
                <a:solidFill>
                  <a:srgbClr val="161B20"/>
                </a:solidFill>
                <a:latin typeface="Courier New" pitchFamily="34" charset="0"/>
                <a:ea typeface="Courier New" pitchFamily="34" charset="-122"/>
                <a:cs typeface="Courier New" pitchFamily="34" charset="-120"/>
              </a:rPr>
              <a:t>04</a:t>
            </a:r>
            <a:endParaRPr lang="en-US" sz="22500" dirty="0"/>
          </a:p>
        </p:txBody>
      </p:sp>
      <p:sp>
        <p:nvSpPr>
          <p:cNvPr id="3" name="Shape 1"/>
          <p:cNvSpPr/>
          <p:nvPr/>
        </p:nvSpPr>
        <p:spPr>
          <a:xfrm>
            <a:off x="1047750" y="4091037"/>
            <a:ext cx="323825" cy="28525"/>
          </a:xfrm>
          <a:prstGeom prst="rect">
            <a:avLst/>
          </a:prstGeom>
          <a:solidFill>
            <a:srgbClr val="4FB0CE"/>
          </a:solidFill>
          <a:ln/>
        </p:spPr>
      </p:sp>
      <p:sp>
        <p:nvSpPr>
          <p:cNvPr id="4" name="Text 2"/>
          <p:cNvSpPr/>
          <p:nvPr/>
        </p:nvSpPr>
        <p:spPr>
          <a:xfrm>
            <a:off x="1504900" y="3942581"/>
            <a:ext cx="3726743" cy="363537"/>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6AAEC3"/>
                </a:solidFill>
                <a:latin typeface="Courier New" pitchFamily="34" charset="0"/>
                <a:ea typeface="Courier New" pitchFamily="34" charset="-122"/>
                <a:cs typeface="Courier New" pitchFamily="34" charset="-120"/>
              </a:rPr>
              <a:t>THE HONEST VERDICT</a:t>
            </a:r>
            <a:endParaRPr lang="en-US" sz="1950" dirty="0"/>
          </a:p>
        </p:txBody>
      </p:sp>
      <p:sp>
        <p:nvSpPr>
          <p:cNvPr id="5" name="Text 3"/>
          <p:cNvSpPr/>
          <p:nvPr/>
        </p:nvSpPr>
        <p:spPr>
          <a:xfrm>
            <a:off x="1047750" y="4515569"/>
            <a:ext cx="16678275" cy="186695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52" kern="0" dirty="0">
                <a:solidFill>
                  <a:srgbClr val="FFFFFF"/>
                </a:solidFill>
                <a:latin typeface="Arial" pitchFamily="34" charset="0"/>
                <a:ea typeface="Arial" pitchFamily="34" charset="-122"/>
                <a:cs typeface="Arial" pitchFamily="34" charset="-120"/>
              </a:rPr>
              <a:t>What actually happened</a:t>
            </a:r>
            <a:endParaRPr lang="en-US" sz="7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114"/>
        </a:solidFill>
      </p:bgPr>
    </p:bg>
    <p:spTree>
      <p:nvGrpSpPr>
        <p:cNvPr id="1" name=""/>
        <p:cNvGrpSpPr/>
        <p:nvPr/>
      </p:nvGrpSpPr>
      <p:grpSpPr>
        <a:xfrm>
          <a:off x="0" y="0"/>
          <a:ext cx="0" cy="0"/>
          <a:chOff x="0" y="0"/>
          <a:chExt cx="0" cy="0"/>
        </a:xfrm>
      </p:grpSpPr>
      <p:sp>
        <p:nvSpPr>
          <p:cNvPr id="2" name="Shape 0"/>
          <p:cNvSpPr/>
          <p:nvPr/>
        </p:nvSpPr>
        <p:spPr>
          <a:xfrm>
            <a:off x="1047750" y="3095377"/>
            <a:ext cx="7953375" cy="2803922"/>
          </a:xfrm>
          <a:prstGeom prst="roundRect">
            <a:avLst>
              <a:gd name="adj" fmla="val 4076"/>
            </a:avLst>
          </a:prstGeom>
          <a:solidFill>
            <a:srgbClr val="15191D"/>
          </a:solidFill>
          <a:ln/>
        </p:spPr>
      </p:sp>
      <p:sp>
        <p:nvSpPr>
          <p:cNvPr id="3" name="Shape 1"/>
          <p:cNvSpPr/>
          <p:nvPr/>
        </p:nvSpPr>
        <p:spPr>
          <a:xfrm>
            <a:off x="1047750" y="5891361"/>
            <a:ext cx="7953375" cy="9525"/>
          </a:xfrm>
          <a:prstGeom prst="rect">
            <a:avLst/>
          </a:prstGeom>
          <a:solidFill>
            <a:srgbClr val="242A30"/>
          </a:solidFill>
          <a:ln/>
        </p:spPr>
      </p:sp>
      <p:sp>
        <p:nvSpPr>
          <p:cNvPr id="4" name="Shape 2"/>
          <p:cNvSpPr/>
          <p:nvPr/>
        </p:nvSpPr>
        <p:spPr>
          <a:xfrm>
            <a:off x="1047750" y="3095377"/>
            <a:ext cx="7953375" cy="9525"/>
          </a:xfrm>
          <a:prstGeom prst="rect">
            <a:avLst/>
          </a:prstGeom>
          <a:solidFill>
            <a:srgbClr val="242A30"/>
          </a:solidFill>
          <a:ln/>
        </p:spPr>
      </p:sp>
      <p:sp>
        <p:nvSpPr>
          <p:cNvPr id="5" name="Shape 3"/>
          <p:cNvSpPr/>
          <p:nvPr/>
        </p:nvSpPr>
        <p:spPr>
          <a:xfrm>
            <a:off x="1047750" y="3095377"/>
            <a:ext cx="31750" cy="2803922"/>
          </a:xfrm>
          <a:prstGeom prst="rect">
            <a:avLst/>
          </a:prstGeom>
          <a:solidFill>
            <a:srgbClr val="61C554"/>
          </a:solidFill>
          <a:ln/>
        </p:spPr>
      </p:sp>
      <p:sp>
        <p:nvSpPr>
          <p:cNvPr id="6" name="Shape 4"/>
          <p:cNvSpPr/>
          <p:nvPr/>
        </p:nvSpPr>
        <p:spPr>
          <a:xfrm>
            <a:off x="8993188" y="3095377"/>
            <a:ext cx="9525" cy="2803922"/>
          </a:xfrm>
          <a:prstGeom prst="rect">
            <a:avLst/>
          </a:prstGeom>
          <a:solidFill>
            <a:srgbClr val="242A30"/>
          </a:solidFill>
          <a:ln/>
        </p:spPr>
      </p:sp>
      <p:sp>
        <p:nvSpPr>
          <p:cNvPr id="7" name="Text 5"/>
          <p:cNvSpPr/>
          <p:nvPr/>
        </p:nvSpPr>
        <p:spPr>
          <a:xfrm>
            <a:off x="1460500" y="3503290"/>
            <a:ext cx="7866856" cy="204787"/>
          </a:xfrm>
          <a:prstGeom prst="rect">
            <a:avLst/>
          </a:prstGeom>
          <a:noFill/>
          <a:ln/>
        </p:spPr>
        <p:txBody>
          <a:bodyPr wrap="square" lIns="25400" tIns="25400" rIns="25400" bIns="25400" rtlCol="0" anchor="t">
            <a:normAutofit/>
          </a:bodyPr>
          <a:lstStyle/>
          <a:p>
            <a:pPr algn="l" indent="0" marL="0">
              <a:buNone/>
            </a:pPr>
            <a:r>
              <a:rPr lang="en-US" sz="1125" b="1" spc="158" kern="0" dirty="0">
                <a:solidFill>
                  <a:srgbClr val="61C554"/>
                </a:solidFill>
                <a:latin typeface="Arial" pitchFamily="34" charset="0"/>
                <a:ea typeface="Arial" pitchFamily="34" charset="-122"/>
                <a:cs typeface="Arial" pitchFamily="34" charset="-120"/>
              </a:rPr>
              <a:t>WHAT HELD UP</a:t>
            </a:r>
            <a:endParaRPr lang="en-US" sz="1125" dirty="0"/>
          </a:p>
        </p:txBody>
      </p:sp>
      <p:sp>
        <p:nvSpPr>
          <p:cNvPr id="8" name="Text 6"/>
          <p:cNvSpPr/>
          <p:nvPr/>
        </p:nvSpPr>
        <p:spPr>
          <a:xfrm>
            <a:off x="1460500" y="3822278"/>
            <a:ext cx="7866856" cy="436091"/>
          </a:xfrm>
          <a:prstGeom prst="rect">
            <a:avLst/>
          </a:prstGeom>
          <a:noFill/>
          <a:ln/>
        </p:spPr>
        <p:txBody>
          <a:bodyPr wrap="square" lIns="25400" tIns="25400" rIns="25400" bIns="25400" rtlCol="0" anchor="t">
            <a:normAutofit/>
          </a:bodyPr>
          <a:lstStyle/>
          <a:p>
            <a:pPr algn="l" indent="0" marL="0">
              <a:lnSpc>
                <a:spcPct val="110000"/>
              </a:lnSpc>
              <a:buNone/>
            </a:pPr>
            <a:r>
              <a:rPr lang="en-US" sz="2850" b="1" spc="-57" kern="0" dirty="0">
                <a:solidFill>
                  <a:srgbClr val="FFFFFF"/>
                </a:solidFill>
                <a:latin typeface="Arial" pitchFamily="34" charset="0"/>
                <a:ea typeface="Arial" pitchFamily="34" charset="-122"/>
                <a:cs typeface="Arial" pitchFamily="34" charset="-120"/>
              </a:rPr>
              <a:t>Every model ran inside Claude Code</a:t>
            </a:r>
            <a:endParaRPr lang="en-US" sz="2850" dirty="0"/>
          </a:p>
        </p:txBody>
      </p:sp>
      <p:sp>
        <p:nvSpPr>
          <p:cNvPr id="9" name="Text 7"/>
          <p:cNvSpPr/>
          <p:nvPr/>
        </p:nvSpPr>
        <p:spPr>
          <a:xfrm>
            <a:off x="1460500" y="4372570"/>
            <a:ext cx="7366238" cy="1156915"/>
          </a:xfrm>
          <a:prstGeom prst="rect">
            <a:avLst/>
          </a:prstGeom>
          <a:noFill/>
          <a:ln/>
        </p:spPr>
        <p:txBody>
          <a:bodyPr wrap="square" lIns="25400" tIns="25400" rIns="25400" bIns="25400" rtlCol="0" anchor="t">
            <a:normAutofit/>
          </a:bodyPr>
          <a:lstStyle/>
          <a:p>
            <a:pPr algn="l" indent="0" marL="0">
              <a:lnSpc>
                <a:spcPct val="145000"/>
              </a:lnSpc>
              <a:buNone/>
            </a:pPr>
            <a:r>
              <a:rPr lang="en-US" sz="2025" dirty="0">
                <a:solidFill>
                  <a:srgbClr val="AEB5BB"/>
                </a:solidFill>
                <a:latin typeface="Arial" pitchFamily="34" charset="0"/>
                <a:ea typeface="Arial" pitchFamily="34" charset="-122"/>
                <a:cs typeface="Arial" pitchFamily="34" charset="-120"/>
              </a:rPr>
              <a:t>The file editing, the tool loop, the permissions — that all came from the harness, not the model. That alone is kind of remarkable.</a:t>
            </a:r>
            <a:endParaRPr lang="en-US" sz="2025" dirty="0"/>
          </a:p>
        </p:txBody>
      </p:sp>
      <p:sp>
        <p:nvSpPr>
          <p:cNvPr id="10" name="Shape 8"/>
          <p:cNvSpPr/>
          <p:nvPr/>
        </p:nvSpPr>
        <p:spPr>
          <a:xfrm>
            <a:off x="9286875" y="3095377"/>
            <a:ext cx="7953375" cy="2803922"/>
          </a:xfrm>
          <a:prstGeom prst="roundRect">
            <a:avLst>
              <a:gd name="adj" fmla="val 4076"/>
            </a:avLst>
          </a:prstGeom>
          <a:solidFill>
            <a:srgbClr val="15191D"/>
          </a:solidFill>
          <a:ln/>
        </p:spPr>
      </p:sp>
      <p:sp>
        <p:nvSpPr>
          <p:cNvPr id="11" name="Shape 9"/>
          <p:cNvSpPr/>
          <p:nvPr/>
        </p:nvSpPr>
        <p:spPr>
          <a:xfrm>
            <a:off x="9286875" y="5891361"/>
            <a:ext cx="7953375" cy="9525"/>
          </a:xfrm>
          <a:prstGeom prst="rect">
            <a:avLst/>
          </a:prstGeom>
          <a:solidFill>
            <a:srgbClr val="242A30"/>
          </a:solidFill>
          <a:ln/>
        </p:spPr>
      </p:sp>
      <p:sp>
        <p:nvSpPr>
          <p:cNvPr id="12" name="Shape 10"/>
          <p:cNvSpPr/>
          <p:nvPr/>
        </p:nvSpPr>
        <p:spPr>
          <a:xfrm>
            <a:off x="9286875" y="3095377"/>
            <a:ext cx="7953375" cy="9525"/>
          </a:xfrm>
          <a:prstGeom prst="rect">
            <a:avLst/>
          </a:prstGeom>
          <a:solidFill>
            <a:srgbClr val="242A30"/>
          </a:solidFill>
          <a:ln/>
        </p:spPr>
      </p:sp>
      <p:sp>
        <p:nvSpPr>
          <p:cNvPr id="13" name="Shape 11"/>
          <p:cNvSpPr/>
          <p:nvPr/>
        </p:nvSpPr>
        <p:spPr>
          <a:xfrm>
            <a:off x="9286875" y="3095377"/>
            <a:ext cx="31750" cy="2803922"/>
          </a:xfrm>
          <a:prstGeom prst="rect">
            <a:avLst/>
          </a:prstGeom>
          <a:solidFill>
            <a:srgbClr val="C98A6A"/>
          </a:solidFill>
          <a:ln/>
        </p:spPr>
      </p:sp>
      <p:sp>
        <p:nvSpPr>
          <p:cNvPr id="14" name="Shape 12"/>
          <p:cNvSpPr/>
          <p:nvPr/>
        </p:nvSpPr>
        <p:spPr>
          <a:xfrm>
            <a:off x="17232313" y="3095377"/>
            <a:ext cx="9525" cy="2803922"/>
          </a:xfrm>
          <a:prstGeom prst="rect">
            <a:avLst/>
          </a:prstGeom>
          <a:solidFill>
            <a:srgbClr val="242A30"/>
          </a:solidFill>
          <a:ln/>
        </p:spPr>
      </p:sp>
      <p:sp>
        <p:nvSpPr>
          <p:cNvPr id="15" name="Text 13"/>
          <p:cNvSpPr/>
          <p:nvPr/>
        </p:nvSpPr>
        <p:spPr>
          <a:xfrm>
            <a:off x="9699625" y="3503290"/>
            <a:ext cx="7866856" cy="204787"/>
          </a:xfrm>
          <a:prstGeom prst="rect">
            <a:avLst/>
          </a:prstGeom>
          <a:noFill/>
          <a:ln/>
        </p:spPr>
        <p:txBody>
          <a:bodyPr wrap="square" lIns="25400" tIns="25400" rIns="25400" bIns="25400" rtlCol="0" anchor="t">
            <a:normAutofit/>
          </a:bodyPr>
          <a:lstStyle/>
          <a:p>
            <a:pPr algn="l" indent="0" marL="0">
              <a:buNone/>
            </a:pPr>
            <a:r>
              <a:rPr lang="en-US" sz="1125" b="1" spc="158" kern="0" dirty="0">
                <a:solidFill>
                  <a:srgbClr val="C98A6A"/>
                </a:solidFill>
                <a:latin typeface="Arial" pitchFamily="34" charset="0"/>
                <a:ea typeface="Arial" pitchFamily="34" charset="-122"/>
                <a:cs typeface="Arial" pitchFamily="34" charset="-120"/>
              </a:rPr>
              <a:t>WHERE IT GOT WEIRD</a:t>
            </a:r>
            <a:endParaRPr lang="en-US" sz="1125" dirty="0"/>
          </a:p>
        </p:txBody>
      </p:sp>
      <p:sp>
        <p:nvSpPr>
          <p:cNvPr id="16" name="Text 14"/>
          <p:cNvSpPr/>
          <p:nvPr/>
        </p:nvSpPr>
        <p:spPr>
          <a:xfrm>
            <a:off x="9699625" y="3822278"/>
            <a:ext cx="7866856" cy="436091"/>
          </a:xfrm>
          <a:prstGeom prst="rect">
            <a:avLst/>
          </a:prstGeom>
          <a:noFill/>
          <a:ln/>
        </p:spPr>
        <p:txBody>
          <a:bodyPr wrap="square" lIns="25400" tIns="25400" rIns="25400" bIns="25400" rtlCol="0" anchor="t">
            <a:normAutofit/>
          </a:bodyPr>
          <a:lstStyle/>
          <a:p>
            <a:pPr algn="l" indent="0" marL="0">
              <a:lnSpc>
                <a:spcPct val="110000"/>
              </a:lnSpc>
              <a:buNone/>
            </a:pPr>
            <a:r>
              <a:rPr lang="en-US" sz="2850" b="1" spc="-57" kern="0" dirty="0">
                <a:solidFill>
                  <a:srgbClr val="FFFFFF"/>
                </a:solidFill>
                <a:latin typeface="Arial" pitchFamily="34" charset="0"/>
                <a:ea typeface="Arial" pitchFamily="34" charset="-122"/>
                <a:cs typeface="Arial" pitchFamily="34" charset="-120"/>
              </a:rPr>
              <a:t>The tool use varied</a:t>
            </a:r>
            <a:endParaRPr lang="en-US" sz="2850" dirty="0"/>
          </a:p>
        </p:txBody>
      </p:sp>
      <p:sp>
        <p:nvSpPr>
          <p:cNvPr id="17" name="Text 15"/>
          <p:cNvSpPr/>
          <p:nvPr/>
        </p:nvSpPr>
        <p:spPr>
          <a:xfrm>
            <a:off x="9699625" y="4372570"/>
            <a:ext cx="7366238" cy="783977"/>
          </a:xfrm>
          <a:prstGeom prst="rect">
            <a:avLst/>
          </a:prstGeom>
          <a:noFill/>
          <a:ln/>
        </p:spPr>
        <p:txBody>
          <a:bodyPr wrap="square" lIns="25400" tIns="25400" rIns="25400" bIns="25400" rtlCol="0" anchor="t">
            <a:normAutofit/>
          </a:bodyPr>
          <a:lstStyle/>
          <a:p>
            <a:pPr algn="l" indent="0" marL="0">
              <a:lnSpc>
                <a:spcPct val="145000"/>
              </a:lnSpc>
              <a:buNone/>
            </a:pPr>
            <a:r>
              <a:rPr lang="en-US" sz="2025" dirty="0">
                <a:solidFill>
                  <a:srgbClr val="AEB5BB"/>
                </a:solidFill>
                <a:latin typeface="Arial" pitchFamily="34" charset="0"/>
                <a:ea typeface="Arial" pitchFamily="34" charset="-122"/>
                <a:cs typeface="Arial" pitchFamily="34" charset="-120"/>
              </a:rPr>
              <a:t>Coding-tuned and bigger models drove the tools cleanly. The cheaper and free ones got there — with more wobble.</a:t>
            </a:r>
            <a:endParaRPr lang="en-US" sz="2025" dirty="0"/>
          </a:p>
        </p:txBody>
      </p:sp>
      <p:sp>
        <p:nvSpPr>
          <p:cNvPr id="18" name="Text 16"/>
          <p:cNvSpPr/>
          <p:nvPr/>
        </p:nvSpPr>
        <p:spPr>
          <a:xfrm>
            <a:off x="2570798" y="6280299"/>
            <a:ext cx="13146405" cy="949424"/>
          </a:xfrm>
          <a:prstGeom prst="rect">
            <a:avLst/>
          </a:prstGeom>
          <a:noFill/>
          <a:ln/>
        </p:spPr>
        <p:txBody>
          <a:bodyPr wrap="square" lIns="25400" tIns="25400" rIns="25400" bIns="25400" rtlCol="0" anchor="t">
            <a:normAutofit/>
          </a:bodyPr>
          <a:lstStyle/>
          <a:p>
            <a:pPr algn="ctr" indent="0" marL="0">
              <a:lnSpc>
                <a:spcPct val="145000"/>
              </a:lnSpc>
              <a:buNone/>
            </a:pPr>
            <a:r>
              <a:rPr lang="en-US" sz="2475" dirty="0">
                <a:solidFill>
                  <a:srgbClr val="E8ECEF"/>
                </a:solidFill>
                <a:latin typeface="Arial" pitchFamily="34" charset="0"/>
                <a:ea typeface="Arial" pitchFamily="34" charset="-122"/>
                <a:cs typeface="Arial" pitchFamily="34" charset="-120"/>
              </a:rPr>
              <a:t xml:space="preserve">No ranking from me — the right answer depends on </a:t>
            </a:r>
            <a:pPr algn="ctr" indent="0" marL="0">
              <a:lnSpc>
                <a:spcPct val="145000"/>
              </a:lnSpc>
              <a:buNone/>
            </a:pPr>
            <a:r>
              <a:rPr lang="en-US" sz="2475" dirty="0">
                <a:solidFill>
                  <a:srgbClr val="4FB0CE"/>
                </a:solidFill>
                <a:latin typeface="Arial" pitchFamily="34" charset="0"/>
                <a:ea typeface="Arial" pitchFamily="34" charset="-122"/>
                <a:cs typeface="Arial" pitchFamily="34" charset="-120"/>
              </a:rPr>
              <a:t xml:space="preserve">your </a:t>
            </a:r>
            <a:pPr algn="ctr" indent="0" marL="0">
              <a:lnSpc>
                <a:spcPct val="145000"/>
              </a:lnSpc>
              <a:buNone/>
            </a:pPr>
            <a:r>
              <a:rPr lang="en-US" sz="2475" dirty="0">
                <a:solidFill>
                  <a:srgbClr val="E8ECEF"/>
                </a:solidFill>
                <a:latin typeface="Arial" pitchFamily="34" charset="0"/>
                <a:ea typeface="Arial" pitchFamily="34" charset="-122"/>
                <a:cs typeface="Arial" pitchFamily="34" charset="-120"/>
              </a:rPr>
              <a:t xml:space="preserve">code, </a:t>
            </a:r>
            <a:pPr algn="ctr" indent="0" marL="0">
              <a:lnSpc>
                <a:spcPct val="145000"/>
              </a:lnSpc>
              <a:buNone/>
            </a:pPr>
            <a:r>
              <a:rPr lang="en-US" sz="2475" dirty="0">
                <a:solidFill>
                  <a:srgbClr val="4FB0CE"/>
                </a:solidFill>
                <a:latin typeface="Arial" pitchFamily="34" charset="0"/>
                <a:ea typeface="Arial" pitchFamily="34" charset="-122"/>
                <a:cs typeface="Arial" pitchFamily="34" charset="-120"/>
              </a:rPr>
              <a:t xml:space="preserve">your </a:t>
            </a:r>
            <a:pPr algn="ctr" indent="0" marL="0">
              <a:lnSpc>
                <a:spcPct val="145000"/>
              </a:lnSpc>
              <a:buNone/>
            </a:pPr>
            <a:r>
              <a:rPr lang="en-US" sz="2475" dirty="0">
                <a:solidFill>
                  <a:srgbClr val="E8ECEF"/>
                </a:solidFill>
                <a:latin typeface="Arial" pitchFamily="34" charset="0"/>
                <a:ea typeface="Arial" pitchFamily="34" charset="-122"/>
                <a:cs typeface="Arial" pitchFamily="34" charset="-120"/>
              </a:rPr>
              <a:t xml:space="preserve">budget, and </a:t>
            </a:r>
            <a:pPr algn="ctr" indent="0" marL="0">
              <a:lnSpc>
                <a:spcPct val="145000"/>
              </a:lnSpc>
              <a:buNone/>
            </a:pPr>
            <a:r>
              <a:rPr lang="en-US" sz="2475" dirty="0">
                <a:solidFill>
                  <a:srgbClr val="4FB0CE"/>
                </a:solidFill>
                <a:latin typeface="Arial" pitchFamily="34" charset="0"/>
                <a:ea typeface="Arial" pitchFamily="34" charset="-122"/>
                <a:cs typeface="Arial" pitchFamily="34" charset="-120"/>
              </a:rPr>
              <a:t xml:space="preserve">your </a:t>
            </a:r>
            <a:pPr algn="ctr" indent="0" marL="0">
              <a:lnSpc>
                <a:spcPct val="145000"/>
              </a:lnSpc>
              <a:buNone/>
            </a:pPr>
            <a:r>
              <a:rPr lang="en-US" sz="2475" dirty="0">
                <a:solidFill>
                  <a:srgbClr val="E8ECEF"/>
                </a:solidFill>
                <a:latin typeface="Arial" pitchFamily="34" charset="0"/>
                <a:ea typeface="Arial" pitchFamily="34" charset="-122"/>
                <a:cs typeface="Arial" pitchFamily="34" charset="-120"/>
              </a:rPr>
              <a:t>patience. Now you can run the experiment yourself in about ten seconds per model.</a:t>
            </a:r>
            <a:endParaRPr lang="en-US" sz="24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61A"/>
        </a:solidFill>
      </p:bgPr>
    </p:bg>
    <p:spTree>
      <p:nvGrpSpPr>
        <p:cNvPr id="1" name=""/>
        <p:cNvGrpSpPr/>
        <p:nvPr/>
      </p:nvGrpSpPr>
      <p:grpSpPr>
        <a:xfrm>
          <a:off x="0" y="0"/>
          <a:ext cx="0" cy="0"/>
          <a:chOff x="0" y="0"/>
          <a:chExt cx="0" cy="0"/>
        </a:xfrm>
      </p:grpSpPr>
      <p:sp>
        <p:nvSpPr>
          <p:cNvPr id="2" name="Shape 0"/>
          <p:cNvSpPr/>
          <p:nvPr/>
        </p:nvSpPr>
        <p:spPr>
          <a:xfrm>
            <a:off x="1143000" y="2459137"/>
            <a:ext cx="4095750" cy="5368726"/>
          </a:xfrm>
          <a:prstGeom prst="roundRect">
            <a:avLst>
              <a:gd name="adj" fmla="val 1860"/>
            </a:avLst>
          </a:prstGeom>
          <a:ln/>
          <a:effectLst>
            <a:outerShdw sx="100000" sy="100000" kx="0" ky="0" algn="bl" rotWithShape="0" blurRad="857250" dist="381000" dir="5400000">
              <a:srgbClr val="000000">
                <a:alpha val="60000"/>
              </a:srgbClr>
            </a:outerShdw>
          </a:effectLst>
        </p:spPr>
      </p:sp>
      <p:pic>
        <p:nvPicPr>
          <p:cNvPr id="3" name="Image 0" descr="preencoded.png"/>
          <p:cNvPicPr>
            <a:picLocks noChangeAspect="1"/>
          </p:cNvPicPr>
          <p:nvPr/>
        </p:nvPicPr>
        <p:blipFill>
          <a:blip r:embed="rId1"/>
          <a:stretch>
            <a:fillRect/>
          </a:stretch>
        </p:blipFill>
        <p:spPr>
          <a:xfrm>
            <a:off x="1143000" y="2459137"/>
            <a:ext cx="4095750" cy="5368726"/>
          </a:xfrm>
          <a:prstGeom prst="rect">
            <a:avLst/>
          </a:prstGeom>
        </p:spPr>
      </p:pic>
      <p:sp>
        <p:nvSpPr>
          <p:cNvPr id="4" name="Shape 1"/>
          <p:cNvSpPr/>
          <p:nvPr/>
        </p:nvSpPr>
        <p:spPr>
          <a:xfrm>
            <a:off x="6096000" y="3194100"/>
            <a:ext cx="323825" cy="28525"/>
          </a:xfrm>
          <a:prstGeom prst="rect">
            <a:avLst/>
          </a:prstGeom>
          <a:solidFill>
            <a:srgbClr val="4FB0CE"/>
          </a:solidFill>
          <a:ln/>
        </p:spPr>
      </p:sp>
      <p:sp>
        <p:nvSpPr>
          <p:cNvPr id="5" name="Text 2"/>
          <p:cNvSpPr/>
          <p:nvPr/>
        </p:nvSpPr>
        <p:spPr>
          <a:xfrm>
            <a:off x="6553150" y="3045643"/>
            <a:ext cx="2691544" cy="363537"/>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6AAEC3"/>
                </a:solidFill>
                <a:latin typeface="Courier New" pitchFamily="34" charset="0"/>
                <a:ea typeface="Courier New" pitchFamily="34" charset="-122"/>
                <a:cs typeface="Courier New" pitchFamily="34" charset="-120"/>
              </a:rPr>
              <a:t>FROM THE BOOK</a:t>
            </a:r>
            <a:endParaRPr lang="en-US" sz="1950" dirty="0"/>
          </a:p>
        </p:txBody>
      </p:sp>
      <p:sp>
        <p:nvSpPr>
          <p:cNvPr id="6" name="Text 3"/>
          <p:cNvSpPr/>
          <p:nvPr/>
        </p:nvSpPr>
        <p:spPr>
          <a:xfrm>
            <a:off x="6096000" y="3599656"/>
            <a:ext cx="11380470" cy="1281559"/>
          </a:xfrm>
          <a:prstGeom prst="rect">
            <a:avLst/>
          </a:prstGeom>
          <a:noFill/>
          <a:ln/>
        </p:spPr>
        <p:txBody>
          <a:bodyPr wrap="square" lIns="25400" tIns="25400" rIns="25400" bIns="25400" rtlCol="0" anchor="t">
            <a:normAutofit/>
          </a:bodyPr>
          <a:lstStyle/>
          <a:p>
            <a:pPr algn="l" indent="0" marL="0">
              <a:lnSpc>
                <a:spcPct val="102000"/>
              </a:lnSpc>
              <a:buNone/>
            </a:pPr>
            <a:r>
              <a:rPr lang="en-US" sz="4800" b="1" spc="-144" kern="0" dirty="0">
                <a:solidFill>
                  <a:srgbClr val="FFFFFF"/>
                </a:solidFill>
                <a:latin typeface="Arial" pitchFamily="34" charset="0"/>
                <a:ea typeface="Arial" pitchFamily="34" charset="-122"/>
                <a:cs typeface="Arial" pitchFamily="34" charset="-120"/>
              </a:rPr>
              <a:t>Claude Code: Up and Running</a:t>
            </a:r>
            <a:endParaRPr lang="en-US" sz="4800" dirty="0"/>
          </a:p>
        </p:txBody>
      </p:sp>
      <p:sp>
        <p:nvSpPr>
          <p:cNvPr id="7" name="Text 4"/>
          <p:cNvSpPr/>
          <p:nvPr/>
        </p:nvSpPr>
        <p:spPr>
          <a:xfrm>
            <a:off x="6096000" y="5052590"/>
            <a:ext cx="7456170" cy="1280815"/>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AEB5BB"/>
                </a:solidFill>
                <a:latin typeface="Arial" pitchFamily="34" charset="0"/>
                <a:ea typeface="Arial" pitchFamily="34" charset="-122"/>
                <a:cs typeface="Arial" pitchFamily="34" charset="-120"/>
              </a:rPr>
              <a:t xml:space="preserve">O’Reilly Media — this whole topic lands in </a:t>
            </a:r>
            <a:pPr algn="l" indent="0" marL="0">
              <a:lnSpc>
                <a:spcPct val="145000"/>
              </a:lnSpc>
              <a:buNone/>
            </a:pPr>
            <a:r>
              <a:rPr lang="en-US" sz="2250" dirty="0">
                <a:solidFill>
                  <a:srgbClr val="E8ECEF"/>
                </a:solidFill>
                <a:latin typeface="Arial" pitchFamily="34" charset="0"/>
                <a:ea typeface="Arial" pitchFamily="34" charset="-122"/>
                <a:cs typeface="Arial" pitchFamily="34" charset="-120"/>
              </a:rPr>
              <a:t xml:space="preserve">Chapter 11 </a:t>
            </a:r>
            <a:pPr algn="l" indent="0" marL="0">
              <a:lnSpc>
                <a:spcPct val="145000"/>
              </a:lnSpc>
              <a:buNone/>
            </a:pPr>
            <a:r>
              <a:rPr lang="en-US" sz="2250" dirty="0">
                <a:solidFill>
                  <a:srgbClr val="AEB5BB"/>
                </a:solidFill>
                <a:latin typeface="Arial" pitchFamily="34" charset="0"/>
                <a:ea typeface="Arial" pitchFamily="34" charset="-122"/>
                <a:cs typeface="Arial" pitchFamily="34" charset="-120"/>
              </a:rPr>
              <a:t>, coming to the early release a little later. Consider this an early preview.</a:t>
            </a:r>
            <a:endParaRPr lang="en-US" sz="2250" dirty="0"/>
          </a:p>
        </p:txBody>
      </p:sp>
      <p:sp>
        <p:nvSpPr>
          <p:cNvPr id="8" name="Shape 5"/>
          <p:cNvSpPr/>
          <p:nvPr/>
        </p:nvSpPr>
        <p:spPr>
          <a:xfrm>
            <a:off x="6096000" y="6581055"/>
            <a:ext cx="6671840" cy="660301"/>
          </a:xfrm>
          <a:prstGeom prst="roundRect">
            <a:avLst>
              <a:gd name="adj" fmla="val 14425"/>
            </a:avLst>
          </a:prstGeom>
          <a:solidFill>
            <a:srgbClr val="15191D"/>
          </a:solidFill>
          <a:ln w="7937">
            <a:solidFill>
              <a:srgbClr val="2E8BA8"/>
            </a:solidFill>
            <a:prstDash val="solid"/>
          </a:ln>
        </p:spPr>
      </p:sp>
      <p:sp>
        <p:nvSpPr>
          <p:cNvPr id="9" name="Text 6"/>
          <p:cNvSpPr/>
          <p:nvPr/>
        </p:nvSpPr>
        <p:spPr>
          <a:xfrm>
            <a:off x="6351488" y="6760393"/>
            <a:ext cx="213866" cy="339725"/>
          </a:xfrm>
          <a:prstGeom prst="rect">
            <a:avLst/>
          </a:prstGeom>
          <a:noFill/>
          <a:ln/>
        </p:spPr>
        <p:txBody>
          <a:bodyPr wrap="square" lIns="25400" tIns="25400" rIns="25400" bIns="25400" rtlCol="0" anchor="t">
            <a:normAutofit/>
          </a:bodyPr>
          <a:lstStyle/>
          <a:p>
            <a:pPr algn="l" indent="0" marL="0">
              <a:buNone/>
            </a:pPr>
            <a:r>
              <a:rPr lang="en-US" sz="1800" dirty="0">
                <a:solidFill>
                  <a:srgbClr val="4FB0CE"/>
                </a:solidFill>
                <a:latin typeface="Courier New" pitchFamily="34" charset="0"/>
                <a:ea typeface="Courier New" pitchFamily="34" charset="-122"/>
                <a:cs typeface="Courier New" pitchFamily="34" charset="-120"/>
              </a:rPr>
              <a:t>❯</a:t>
            </a:r>
            <a:endParaRPr lang="en-US" sz="1800" dirty="0"/>
          </a:p>
        </p:txBody>
      </p:sp>
      <p:sp>
        <p:nvSpPr>
          <p:cNvPr id="10" name="Text 7"/>
          <p:cNvSpPr/>
          <p:nvPr/>
        </p:nvSpPr>
        <p:spPr>
          <a:xfrm>
            <a:off x="6622479" y="6760393"/>
            <a:ext cx="1173559" cy="339725"/>
          </a:xfrm>
          <a:prstGeom prst="rect">
            <a:avLst/>
          </a:prstGeom>
          <a:noFill/>
          <a:ln/>
        </p:spPr>
        <p:txBody>
          <a:bodyPr wrap="square" lIns="25400" tIns="25400" rIns="25400" bIns="25400" rtlCol="0" anchor="t">
            <a:normAutofit/>
          </a:bodyPr>
          <a:lstStyle/>
          <a:p>
            <a:pPr algn="l" indent="0" marL="0">
              <a:buNone/>
            </a:pPr>
            <a:r>
              <a:rPr lang="en-US" sz="1800" dirty="0">
                <a:solidFill>
                  <a:srgbClr val="E8ECEF"/>
                </a:solidFill>
                <a:latin typeface="Courier New" pitchFamily="34" charset="0"/>
                <a:ea typeface="Courier New" pitchFamily="34" charset="-122"/>
                <a:cs typeface="Courier New" pitchFamily="34" charset="-120"/>
              </a:rPr>
              <a:t>orclaude</a:t>
            </a:r>
            <a:endParaRPr lang="en-US" sz="1800" dirty="0"/>
          </a:p>
        </p:txBody>
      </p:sp>
      <p:sp>
        <p:nvSpPr>
          <p:cNvPr id="11" name="Text 8"/>
          <p:cNvSpPr/>
          <p:nvPr/>
        </p:nvSpPr>
        <p:spPr>
          <a:xfrm>
            <a:off x="7853164" y="6780237"/>
            <a:ext cx="5125107" cy="300038"/>
          </a:xfrm>
          <a:prstGeom prst="rect">
            <a:avLst/>
          </a:prstGeom>
          <a:noFill/>
          <a:ln/>
        </p:spPr>
        <p:txBody>
          <a:bodyPr wrap="square" lIns="25400" tIns="25400" rIns="25400" bIns="25400" rtlCol="0" anchor="t">
            <a:normAutofit/>
          </a:bodyPr>
          <a:lstStyle/>
          <a:p>
            <a:pPr algn="l" indent="0" marL="0">
              <a:buNone/>
            </a:pPr>
            <a:r>
              <a:rPr lang="en-US" sz="1800" dirty="0">
                <a:solidFill>
                  <a:srgbClr val="9AA1A7"/>
                </a:solidFill>
                <a:latin typeface="Arial" pitchFamily="34" charset="0"/>
                <a:ea typeface="Arial" pitchFamily="34" charset="-122"/>
                <a:cs typeface="Arial" pitchFamily="34" charset="-120"/>
              </a:rPr>
              <a:t>lives in the book’s example repo — link below.</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114"/>
        </a:solidFill>
      </p:bgPr>
    </p:bg>
    <p:spTree>
      <p:nvGrpSpPr>
        <p:cNvPr id="1" name=""/>
        <p:cNvGrpSpPr/>
        <p:nvPr/>
      </p:nvGrpSpPr>
      <p:grpSpPr>
        <a:xfrm>
          <a:off x="0" y="0"/>
          <a:ext cx="0" cy="0"/>
          <a:chOff x="0" y="0"/>
          <a:chExt cx="0" cy="0"/>
        </a:xfrm>
      </p:grpSpPr>
      <p:sp>
        <p:nvSpPr>
          <p:cNvPr id="2" name="Text 0"/>
          <p:cNvSpPr/>
          <p:nvPr/>
        </p:nvSpPr>
        <p:spPr>
          <a:xfrm>
            <a:off x="1047750" y="1989956"/>
            <a:ext cx="13735050" cy="1475780"/>
          </a:xfrm>
          <a:prstGeom prst="rect">
            <a:avLst/>
          </a:prstGeom>
          <a:noFill/>
          <a:ln/>
        </p:spPr>
        <p:txBody>
          <a:bodyPr wrap="square" lIns="25400" tIns="25400" rIns="25400" bIns="25400" rtlCol="0" anchor="t">
            <a:normAutofit/>
          </a:bodyPr>
          <a:lstStyle/>
          <a:p>
            <a:pPr algn="l" indent="0" marL="0">
              <a:lnSpc>
                <a:spcPct val="102000"/>
              </a:lnSpc>
              <a:buNone/>
            </a:pPr>
            <a:r>
              <a:rPr lang="en-US" sz="5550" b="1" spc="-194" kern="0" dirty="0">
                <a:solidFill>
                  <a:srgbClr val="FFFFFF"/>
                </a:solidFill>
                <a:latin typeface="Arial" pitchFamily="34" charset="0"/>
                <a:ea typeface="Arial" pitchFamily="34" charset="-122"/>
                <a:cs typeface="Arial" pitchFamily="34" charset="-120"/>
              </a:rPr>
              <a:t>Point it at any model — and tell me which one surprised you</a:t>
            </a:r>
            <a:endParaRPr lang="en-US" sz="5550" dirty="0"/>
          </a:p>
        </p:txBody>
      </p:sp>
      <p:sp>
        <p:nvSpPr>
          <p:cNvPr id="3" name="Text 1"/>
          <p:cNvSpPr/>
          <p:nvPr/>
        </p:nvSpPr>
        <p:spPr>
          <a:xfrm>
            <a:off x="1047750" y="3618136"/>
            <a:ext cx="10791825" cy="936154"/>
          </a:xfrm>
          <a:prstGeom prst="rect">
            <a:avLst/>
          </a:prstGeom>
          <a:noFill/>
          <a:ln/>
        </p:spPr>
        <p:txBody>
          <a:bodyPr wrap="square" lIns="25400" tIns="25400" rIns="25400" bIns="25400" rtlCol="0" anchor="t">
            <a:normAutofit/>
          </a:bodyPr>
          <a:lstStyle/>
          <a:p>
            <a:pPr algn="l" indent="0" marL="0">
              <a:lnSpc>
                <a:spcPct val="145000"/>
              </a:lnSpc>
              <a:buNone/>
            </a:pPr>
            <a:r>
              <a:rPr lang="en-US" sz="2400" dirty="0">
                <a:solidFill>
                  <a:srgbClr val="AEB5BB"/>
                </a:solidFill>
                <a:latin typeface="Arial" pitchFamily="34" charset="0"/>
                <a:ea typeface="Arial" pitchFamily="34" charset="-122"/>
                <a:cs typeface="Arial" pitchFamily="34" charset="-120"/>
              </a:rPr>
              <a:t xml:space="preserve">Grab </a:t>
            </a:r>
            <a:pPr algn="l" indent="0" marL="0">
              <a:lnSpc>
                <a:spcPct val="145000"/>
              </a:lnSpc>
              <a:buNone/>
            </a:pPr>
            <a:r>
              <a:rPr lang="en-US" sz="2175" dirty="0">
                <a:solidFill>
                  <a:srgbClr val="4FB0CE"/>
                </a:solidFill>
                <a:latin typeface="Courier New" pitchFamily="34" charset="0"/>
                <a:ea typeface="Courier New" pitchFamily="34" charset="-122"/>
                <a:cs typeface="Courier New" pitchFamily="34" charset="-120"/>
              </a:rPr>
              <a:t xml:space="preserve">orclaude </a:t>
            </a:r>
            <a:pPr algn="l" indent="0" marL="0">
              <a:lnSpc>
                <a:spcPct val="145000"/>
              </a:lnSpc>
              <a:buNone/>
            </a:pPr>
            <a:r>
              <a:rPr lang="en-US" sz="2400" dirty="0">
                <a:solidFill>
                  <a:srgbClr val="AEB5BB"/>
                </a:solidFill>
                <a:latin typeface="Arial" pitchFamily="34" charset="0"/>
                <a:ea typeface="Arial" pitchFamily="34" charset="-122"/>
                <a:cs typeface="Arial" pitchFamily="34" charset="-120"/>
              </a:rPr>
              <a:t>from the example repo, run the experiment yourself, and drop a comment.</a:t>
            </a:r>
            <a:endParaRPr lang="en-US" sz="2400" dirty="0"/>
          </a:p>
        </p:txBody>
      </p:sp>
      <p:sp>
        <p:nvSpPr>
          <p:cNvPr id="4" name="Shape 2"/>
          <p:cNvSpPr/>
          <p:nvPr/>
        </p:nvSpPr>
        <p:spPr>
          <a:xfrm>
            <a:off x="1047750" y="5030514"/>
            <a:ext cx="7972474" cy="2156767"/>
          </a:xfrm>
          <a:prstGeom prst="roundRect">
            <a:avLst>
              <a:gd name="adj" fmla="val 5300"/>
            </a:avLst>
          </a:prstGeom>
          <a:solidFill>
            <a:srgbClr val="15191D"/>
          </a:solidFill>
          <a:ln w="7937">
            <a:solidFill>
              <a:srgbClr val="242A30"/>
            </a:solidFill>
            <a:prstDash val="solid"/>
          </a:ln>
        </p:spPr>
      </p:sp>
      <p:sp>
        <p:nvSpPr>
          <p:cNvPr id="5" name="Text 3"/>
          <p:cNvSpPr/>
          <p:nvPr/>
        </p:nvSpPr>
        <p:spPr>
          <a:xfrm>
            <a:off x="1398488" y="5381253"/>
            <a:ext cx="7998098" cy="204787"/>
          </a:xfrm>
          <a:prstGeom prst="rect">
            <a:avLst/>
          </a:prstGeom>
          <a:noFill/>
          <a:ln/>
        </p:spPr>
        <p:txBody>
          <a:bodyPr wrap="square" lIns="25400" tIns="25400" rIns="25400" bIns="25400" rtlCol="0" anchor="t">
            <a:normAutofit/>
          </a:bodyPr>
          <a:lstStyle/>
          <a:p>
            <a:pPr algn="l" indent="0" marL="0">
              <a:buNone/>
            </a:pPr>
            <a:r>
              <a:rPr lang="en-US" sz="1125" b="1" spc="158" kern="0" dirty="0">
                <a:solidFill>
                  <a:srgbClr val="6AAEC3"/>
                </a:solidFill>
                <a:latin typeface="Arial" pitchFamily="34" charset="0"/>
                <a:ea typeface="Arial" pitchFamily="34" charset="-122"/>
                <a:cs typeface="Arial" pitchFamily="34" charset="-120"/>
              </a:rPr>
              <a:t>WATCH NEXT</a:t>
            </a:r>
            <a:endParaRPr lang="en-US" sz="1125" dirty="0"/>
          </a:p>
        </p:txBody>
      </p:sp>
      <p:sp>
        <p:nvSpPr>
          <p:cNvPr id="6" name="Text 4"/>
          <p:cNvSpPr/>
          <p:nvPr/>
        </p:nvSpPr>
        <p:spPr>
          <a:xfrm>
            <a:off x="1398488" y="5681265"/>
            <a:ext cx="7998098"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spc="-48" kern="0" dirty="0">
                <a:solidFill>
                  <a:srgbClr val="FFFFFF"/>
                </a:solidFill>
                <a:latin typeface="Arial" pitchFamily="34" charset="0"/>
                <a:ea typeface="Arial" pitchFamily="34" charset="-122"/>
                <a:cs typeface="Arial" pitchFamily="34" charset="-120"/>
              </a:rPr>
              <a:t>The same models, from Java</a:t>
            </a:r>
            <a:endParaRPr lang="en-US" sz="2400" dirty="0"/>
          </a:p>
        </p:txBody>
      </p:sp>
      <p:sp>
        <p:nvSpPr>
          <p:cNvPr id="7" name="Text 5"/>
          <p:cNvSpPr/>
          <p:nvPr/>
        </p:nvSpPr>
        <p:spPr>
          <a:xfrm>
            <a:off x="1398488" y="6145981"/>
            <a:ext cx="7489128" cy="728663"/>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AEB5BB"/>
                </a:solidFill>
                <a:latin typeface="Arial" pitchFamily="34" charset="0"/>
                <a:ea typeface="Arial" pitchFamily="34" charset="-122"/>
                <a:cs typeface="Arial" pitchFamily="34" charset="-120"/>
              </a:rPr>
              <a:t xml:space="preserve">Spring AI 2.0 — where you </a:t>
            </a:r>
            <a:pPr algn="l" indent="0" marL="0">
              <a:lnSpc>
                <a:spcPct val="145000"/>
              </a:lnSpc>
              <a:buNone/>
            </a:pPr>
            <a:r>
              <a:rPr lang="en-US" sz="1875" dirty="0">
                <a:solidFill>
                  <a:srgbClr val="E8ECEF"/>
                </a:solidFill>
                <a:latin typeface="Arial" pitchFamily="34" charset="0"/>
                <a:ea typeface="Arial" pitchFamily="34" charset="-122"/>
                <a:cs typeface="Arial" pitchFamily="34" charset="-120"/>
              </a:rPr>
              <a:t xml:space="preserve">can </a:t>
            </a:r>
            <a:pPr algn="l" indent="0" marL="0">
              <a:lnSpc>
                <a:spcPct val="145000"/>
              </a:lnSpc>
              <a:buNone/>
            </a:pPr>
            <a:r>
              <a:rPr lang="en-US" sz="1875" dirty="0">
                <a:solidFill>
                  <a:srgbClr val="AEB5BB"/>
                </a:solidFill>
                <a:latin typeface="Arial" pitchFamily="34" charset="0"/>
                <a:ea typeface="Arial" pitchFamily="34" charset="-122"/>
                <a:cs typeface="Arial" pitchFamily="34" charset="-120"/>
              </a:rPr>
              <a:t>get the router to name the model it picked.</a:t>
            </a:r>
            <a:endParaRPr lang="en-US" sz="1875" dirty="0"/>
          </a:p>
        </p:txBody>
      </p:sp>
      <p:sp>
        <p:nvSpPr>
          <p:cNvPr id="8" name="Shape 6"/>
          <p:cNvSpPr/>
          <p:nvPr/>
        </p:nvSpPr>
        <p:spPr>
          <a:xfrm>
            <a:off x="9267775" y="5030514"/>
            <a:ext cx="7972474" cy="2156767"/>
          </a:xfrm>
          <a:prstGeom prst="roundRect">
            <a:avLst>
              <a:gd name="adj" fmla="val 5300"/>
            </a:avLst>
          </a:prstGeom>
          <a:solidFill>
            <a:srgbClr val="15191D"/>
          </a:solidFill>
          <a:ln w="7937">
            <a:solidFill>
              <a:srgbClr val="242A30"/>
            </a:solidFill>
            <a:prstDash val="solid"/>
          </a:ln>
        </p:spPr>
      </p:sp>
      <p:sp>
        <p:nvSpPr>
          <p:cNvPr id="9" name="Text 7"/>
          <p:cNvSpPr/>
          <p:nvPr/>
        </p:nvSpPr>
        <p:spPr>
          <a:xfrm>
            <a:off x="9618513" y="5381253"/>
            <a:ext cx="7998098" cy="204787"/>
          </a:xfrm>
          <a:prstGeom prst="rect">
            <a:avLst/>
          </a:prstGeom>
          <a:noFill/>
          <a:ln/>
        </p:spPr>
        <p:txBody>
          <a:bodyPr wrap="square" lIns="25400" tIns="25400" rIns="25400" bIns="25400" rtlCol="0" anchor="t">
            <a:normAutofit/>
          </a:bodyPr>
          <a:lstStyle/>
          <a:p>
            <a:pPr algn="l" indent="0" marL="0">
              <a:buNone/>
            </a:pPr>
            <a:r>
              <a:rPr lang="en-US" sz="1125" b="1" spc="158" kern="0" dirty="0">
                <a:solidFill>
                  <a:srgbClr val="6AAEC3"/>
                </a:solidFill>
                <a:latin typeface="Arial" pitchFamily="34" charset="0"/>
                <a:ea typeface="Arial" pitchFamily="34" charset="-122"/>
                <a:cs typeface="Arial" pitchFamily="34" charset="-120"/>
              </a:rPr>
              <a:t>LINKS IN DESCRIPTION</a:t>
            </a:r>
            <a:endParaRPr lang="en-US" sz="1125" dirty="0"/>
          </a:p>
        </p:txBody>
      </p:sp>
      <p:sp>
        <p:nvSpPr>
          <p:cNvPr id="10" name="Text 8"/>
          <p:cNvSpPr/>
          <p:nvPr/>
        </p:nvSpPr>
        <p:spPr>
          <a:xfrm>
            <a:off x="9618513" y="5681265"/>
            <a:ext cx="7998098"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spc="-48" kern="0" dirty="0">
                <a:solidFill>
                  <a:srgbClr val="FFFFFF"/>
                </a:solidFill>
                <a:latin typeface="Arial" pitchFamily="34" charset="0"/>
                <a:ea typeface="Arial" pitchFamily="34" charset="-122"/>
                <a:cs typeface="Arial" pitchFamily="34" charset="-120"/>
              </a:rPr>
              <a:t>Script + the book</a:t>
            </a:r>
            <a:endParaRPr lang="en-US" sz="2400" dirty="0"/>
          </a:p>
        </p:txBody>
      </p:sp>
      <p:sp>
        <p:nvSpPr>
          <p:cNvPr id="11" name="Text 9"/>
          <p:cNvSpPr/>
          <p:nvPr/>
        </p:nvSpPr>
        <p:spPr>
          <a:xfrm>
            <a:off x="9618513" y="6145981"/>
            <a:ext cx="7998098" cy="383381"/>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AEB5BB"/>
                </a:solidFill>
                <a:latin typeface="Arial" pitchFamily="34" charset="0"/>
                <a:ea typeface="Arial" pitchFamily="34" charset="-122"/>
                <a:cs typeface="Arial" pitchFamily="34" charset="-120"/>
              </a:rPr>
              <a:t xml:space="preserve">The example repo and </a:t>
            </a:r>
            <a:pPr algn="l" indent="0" marL="0">
              <a:lnSpc>
                <a:spcPct val="145000"/>
              </a:lnSpc>
              <a:buNone/>
            </a:pPr>
            <a:r>
              <a:rPr lang="en-US" sz="1875" dirty="0">
                <a:solidFill>
                  <a:srgbClr val="E8ECEF"/>
                </a:solidFill>
                <a:latin typeface="Arial" pitchFamily="34" charset="0"/>
                <a:ea typeface="Arial" pitchFamily="34" charset="-122"/>
                <a:cs typeface="Arial" pitchFamily="34" charset="-120"/>
              </a:rPr>
              <a:t xml:space="preserve">Claude Code: Up and Running </a:t>
            </a:r>
            <a:pPr algn="l" indent="0" marL="0">
              <a:lnSpc>
                <a:spcPct val="145000"/>
              </a:lnSpc>
              <a:buNone/>
            </a:pPr>
            <a:r>
              <a:rPr lang="en-US" sz="1875" dirty="0">
                <a:solidFill>
                  <a:srgbClr val="AEB5BB"/>
                </a:solidFill>
                <a:latin typeface="Arial" pitchFamily="34" charset="0"/>
                <a:ea typeface="Arial" pitchFamily="34" charset="-122"/>
                <a:cs typeface="Arial" pitchFamily="34" charset="-120"/>
              </a:rPr>
              <a:t>early release.</a:t>
            </a:r>
            <a:endParaRPr lang="en-US" sz="1875" dirty="0"/>
          </a:p>
        </p:txBody>
      </p:sp>
      <p:sp>
        <p:nvSpPr>
          <p:cNvPr id="12" name="Shape 10"/>
          <p:cNvSpPr/>
          <p:nvPr/>
        </p:nvSpPr>
        <p:spPr>
          <a:xfrm>
            <a:off x="1047750" y="7663532"/>
            <a:ext cx="16192500" cy="9525"/>
          </a:xfrm>
          <a:prstGeom prst="rect">
            <a:avLst/>
          </a:prstGeom>
          <a:solidFill>
            <a:srgbClr val="242A30"/>
          </a:solidFill>
          <a:ln/>
        </p:spPr>
      </p:sp>
      <p:sp>
        <p:nvSpPr>
          <p:cNvPr id="13" name="Text 11"/>
          <p:cNvSpPr/>
          <p:nvPr/>
        </p:nvSpPr>
        <p:spPr>
          <a:xfrm>
            <a:off x="1047750" y="8007201"/>
            <a:ext cx="3817193" cy="315912"/>
          </a:xfrm>
          <a:prstGeom prst="rect">
            <a:avLst/>
          </a:prstGeom>
          <a:noFill/>
          <a:ln/>
        </p:spPr>
        <p:txBody>
          <a:bodyPr wrap="square" lIns="25400" tIns="25400" rIns="25400" bIns="25400" rtlCol="0" anchor="t">
            <a:normAutofit/>
          </a:bodyPr>
          <a:lstStyle/>
          <a:p>
            <a:pPr algn="l" indent="0" marL="0">
              <a:buNone/>
            </a:pPr>
            <a:r>
              <a:rPr lang="en-US" sz="1650" spc="198" kern="0" dirty="0">
                <a:solidFill>
                  <a:srgbClr val="6AAEC3"/>
                </a:solidFill>
                <a:latin typeface="Courier New" pitchFamily="34" charset="0"/>
                <a:ea typeface="Courier New" pitchFamily="34" charset="-122"/>
                <a:cs typeface="Courier New" pitchFamily="34" charset="-120"/>
              </a:rPr>
              <a:t>TALES FROM THE JAR SIDE</a:t>
            </a:r>
            <a:endParaRPr lang="en-US" sz="1650" dirty="0"/>
          </a:p>
        </p:txBody>
      </p:sp>
      <p:sp>
        <p:nvSpPr>
          <p:cNvPr id="14" name="Text 12"/>
          <p:cNvSpPr/>
          <p:nvPr/>
        </p:nvSpPr>
        <p:spPr>
          <a:xfrm>
            <a:off x="12345541" y="7995295"/>
            <a:ext cx="5384180" cy="339725"/>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 xml:space="preserve">Subscribe — I’ll see you in the next one </a:t>
            </a:r>
            <a:pPr algn="l" indent="0" marL="0">
              <a:buNone/>
            </a:pPr>
            <a:r>
              <a:rPr lang="en-US" sz="2100" b="1" dirty="0">
                <a:solidFill>
                  <a:srgbClr val="4FB0CE"/>
                </a:solidFill>
                <a:latin typeface="Arial" pitchFamily="34" charset="0"/>
                <a:ea typeface="Arial" pitchFamily="34" charset="-122"/>
                <a:cs typeface="Arial" pitchFamily="34" charset="-120"/>
              </a:rPr>
              <a:t>❯</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2026-06-29T17:50:08Z</dcterms:created>
  <dcterms:modified xsi:type="dcterms:W3CDTF">2026-06-29T17:50:08Z</dcterms:modified>
</cp:coreProperties>
</file>